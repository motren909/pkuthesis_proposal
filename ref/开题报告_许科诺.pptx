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8"/>
  </p:notesMasterIdLst>
  <p:sldIdLst>
    <p:sldId id="416" r:id="rId2"/>
    <p:sldId id="417" r:id="rId3"/>
    <p:sldId id="439" r:id="rId4"/>
    <p:sldId id="440" r:id="rId5"/>
    <p:sldId id="441" r:id="rId6"/>
    <p:sldId id="443" r:id="rId7"/>
    <p:sldId id="444" r:id="rId8"/>
    <p:sldId id="445" r:id="rId9"/>
    <p:sldId id="446" r:id="rId10"/>
    <p:sldId id="447" r:id="rId11"/>
    <p:sldId id="448" r:id="rId12"/>
    <p:sldId id="449" r:id="rId13"/>
    <p:sldId id="451" r:id="rId14"/>
    <p:sldId id="453" r:id="rId15"/>
    <p:sldId id="454" r:id="rId16"/>
    <p:sldId id="456" r:id="rId17"/>
    <p:sldId id="457" r:id="rId18"/>
    <p:sldId id="458" r:id="rId19"/>
    <p:sldId id="464" r:id="rId20"/>
    <p:sldId id="462" r:id="rId21"/>
    <p:sldId id="463" r:id="rId22"/>
    <p:sldId id="465" r:id="rId23"/>
    <p:sldId id="466" r:id="rId24"/>
    <p:sldId id="450" r:id="rId25"/>
    <p:sldId id="467" r:id="rId26"/>
    <p:sldId id="468" r:id="rId27"/>
  </p:sldIdLst>
  <p:sldSz cx="9001125" cy="5040313"/>
  <p:notesSz cx="6858000" cy="9144000"/>
  <p:custDataLst>
    <p:tags r:id="rId29"/>
  </p:custDataLst>
  <p:defaultTextStyle>
    <a:defPPr>
      <a:defRPr lang="zh-CN"/>
    </a:defPPr>
    <a:lvl1pPr marL="0" algn="l" defTabSz="80229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1147" algn="l" defTabSz="80229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02295" algn="l" defTabSz="80229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03442" algn="l" defTabSz="80229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04589" algn="l" defTabSz="80229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05736" algn="l" defTabSz="80229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06884" algn="l" defTabSz="80229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08031" algn="l" defTabSz="80229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09178" algn="l" defTabSz="80229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8">
          <p15:clr>
            <a:srgbClr val="A4A3A4"/>
          </p15:clr>
        </p15:guide>
        <p15:guide id="2" pos="2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0000"/>
    <a:srgbClr val="8B0012"/>
    <a:srgbClr val="FFFFFF"/>
    <a:srgbClr val="C00000"/>
    <a:srgbClr val="17375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54" autoAdjust="0"/>
    <p:restoredTop sz="84905" autoAdjust="0"/>
  </p:normalViewPr>
  <p:slideViewPr>
    <p:cSldViewPr>
      <p:cViewPr>
        <p:scale>
          <a:sx n="125" d="100"/>
          <a:sy n="125" d="100"/>
        </p:scale>
        <p:origin x="444" y="219"/>
      </p:cViewPr>
      <p:guideLst>
        <p:guide orient="horz" pos="1588"/>
        <p:guide pos="283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0" d="100"/>
        <a:sy n="1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A5EAB1-25CC-4F72-A2FC-3BABBE5A9D32}" type="datetimeFigureOut">
              <a:rPr lang="zh-CN" altLang="en-US" smtClean="0"/>
              <a:t>2024/7/3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74688" y="1143000"/>
            <a:ext cx="5508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8BA23-BD00-4857-B603-DD487FFC39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91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Shrimp: a robust underwater visible light communication system</a:t>
            </a:r>
          </a:p>
          <a:p>
            <a:r>
              <a:rPr lang="en-US" altLang="zh-CN" dirty="0" err="1"/>
              <a:t>SpiderWeb</a:t>
            </a:r>
            <a:r>
              <a:rPr lang="en-US" altLang="zh-CN" dirty="0"/>
              <a:t>: Enabling Through-Screen Visible Light Communication</a:t>
            </a:r>
          </a:p>
          <a:p>
            <a:r>
              <a:rPr lang="en-US" altLang="zh-CN" dirty="0" err="1"/>
              <a:t>DenseVLC</a:t>
            </a:r>
            <a:r>
              <a:rPr lang="en-US" altLang="zh-CN" dirty="0"/>
              <a:t>: A Cell-Free Massive MIMO System with Distributed LEDs</a:t>
            </a:r>
          </a:p>
          <a:p>
            <a:r>
              <a:rPr lang="en-US" altLang="zh-CN" dirty="0" err="1"/>
              <a:t>SmartVLC</a:t>
            </a:r>
            <a:r>
              <a:rPr lang="en-US" altLang="zh-CN" dirty="0"/>
              <a:t>: When Smart Lighting Meets VLC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8BA23-BD00-4857-B603-DD487FFC396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283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DigiScatter</a:t>
            </a:r>
            <a:r>
              <a:rPr lang="en-US" altLang="zh-CN" dirty="0"/>
              <a:t>: Efficiently Prototyping Large-Scale OFDMA Backscatter Networks</a:t>
            </a:r>
          </a:p>
          <a:p>
            <a:r>
              <a:rPr lang="en-US" altLang="zh-CN" dirty="0" err="1"/>
              <a:t>NetScatter</a:t>
            </a:r>
            <a:r>
              <a:rPr lang="en-US" altLang="zh-CN" dirty="0"/>
              <a:t>: Enabling Large-Scale Backscatter Networks</a:t>
            </a:r>
          </a:p>
          <a:p>
            <a:r>
              <a:rPr lang="en-US" altLang="zh-CN" dirty="0" err="1"/>
              <a:t>FlipTracer</a:t>
            </a:r>
            <a:r>
              <a:rPr lang="en-US" altLang="zh-CN" dirty="0"/>
              <a:t>: Practical Parallel Decoding for Backscatter Communication</a:t>
            </a:r>
          </a:p>
          <a:p>
            <a:r>
              <a:rPr lang="en-US" altLang="zh-CN" dirty="0"/>
              <a:t>Come and Be Served: Parallel Decoding for COTS RFID Tags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8BA23-BD00-4857-B603-DD487FFC396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598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8BA23-BD00-4857-B603-DD487FFC396E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516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alphaModFix amt="8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75084" y="1437554"/>
            <a:ext cx="7650956" cy="1080400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8C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0168" y="3105270"/>
            <a:ext cx="6300788" cy="97515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011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02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34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5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6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80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08E1585-C546-4D70-8386-1A4F2AFA46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192" y="4464372"/>
            <a:ext cx="2938848" cy="4788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0056" y="201846"/>
            <a:ext cx="8101013" cy="51811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8C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056" y="791964"/>
            <a:ext cx="8101013" cy="3710483"/>
          </a:xfrm>
        </p:spPr>
        <p:txBody>
          <a:bodyPr/>
          <a:lstStyle>
            <a:lvl1pPr>
              <a:buClr>
                <a:srgbClr val="8B0012"/>
              </a:buCl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027" y="3238868"/>
            <a:ext cx="7650956" cy="1001062"/>
          </a:xfrm>
        </p:spPr>
        <p:txBody>
          <a:bodyPr anchor="t"/>
          <a:lstStyle>
            <a:lvl1pPr algn="l">
              <a:defRPr sz="3500" b="1" cap="all">
                <a:solidFill>
                  <a:srgbClr val="8C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1027" y="2136300"/>
            <a:ext cx="7650956" cy="1102568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0114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0229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0344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0458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0573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0688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080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0917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C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0056" y="791964"/>
            <a:ext cx="3975497" cy="3710483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572" y="791964"/>
            <a:ext cx="3975497" cy="3710483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C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0057" y="200679"/>
            <a:ext cx="2961308" cy="854053"/>
          </a:xfrm>
        </p:spPr>
        <p:txBody>
          <a:bodyPr anchor="b"/>
          <a:lstStyle>
            <a:lvl1pPr algn="l">
              <a:defRPr sz="1800" b="1">
                <a:solidFill>
                  <a:srgbClr val="8C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19190" y="200679"/>
            <a:ext cx="5031879" cy="4301768"/>
          </a:xfrm>
        </p:spPr>
        <p:txBody>
          <a:bodyPr/>
          <a:lstStyle>
            <a:lvl1pPr>
              <a:defRPr sz="28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0057" y="1054733"/>
            <a:ext cx="2961308" cy="3447714"/>
          </a:xfrm>
        </p:spPr>
        <p:txBody>
          <a:bodyPr/>
          <a:lstStyle>
            <a:lvl1pPr marL="0" indent="0">
              <a:buNone/>
              <a:defRPr sz="1200"/>
            </a:lvl1pPr>
            <a:lvl2pPr marL="401147" indent="0">
              <a:buNone/>
              <a:defRPr sz="1100"/>
            </a:lvl2pPr>
            <a:lvl3pPr marL="802295" indent="0">
              <a:buNone/>
              <a:defRPr sz="900"/>
            </a:lvl3pPr>
            <a:lvl4pPr marL="1203442" indent="0">
              <a:buNone/>
              <a:defRPr sz="800"/>
            </a:lvl4pPr>
            <a:lvl5pPr marL="1604589" indent="0">
              <a:buNone/>
              <a:defRPr sz="800"/>
            </a:lvl5pPr>
            <a:lvl6pPr marL="2005736" indent="0">
              <a:buNone/>
              <a:defRPr sz="800"/>
            </a:lvl6pPr>
            <a:lvl7pPr marL="2406884" indent="0">
              <a:buNone/>
              <a:defRPr sz="800"/>
            </a:lvl7pPr>
            <a:lvl8pPr marL="2808031" indent="0">
              <a:buNone/>
              <a:defRPr sz="800"/>
            </a:lvl8pPr>
            <a:lvl9pPr marL="3209178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4284" y="3528219"/>
            <a:ext cx="5400675" cy="416526"/>
          </a:xfrm>
        </p:spPr>
        <p:txBody>
          <a:bodyPr anchor="b"/>
          <a:lstStyle>
            <a:lvl1pPr algn="l">
              <a:defRPr sz="1800" b="1">
                <a:solidFill>
                  <a:srgbClr val="8C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64284" y="450361"/>
            <a:ext cx="5400675" cy="3024188"/>
          </a:xfrm>
        </p:spPr>
        <p:txBody>
          <a:bodyPr/>
          <a:lstStyle>
            <a:lvl1pPr marL="0" indent="0">
              <a:buNone/>
              <a:defRPr sz="2800"/>
            </a:lvl1pPr>
            <a:lvl2pPr marL="401147" indent="0">
              <a:buNone/>
              <a:defRPr sz="2500"/>
            </a:lvl2pPr>
            <a:lvl3pPr marL="802295" indent="0">
              <a:buNone/>
              <a:defRPr sz="2100"/>
            </a:lvl3pPr>
            <a:lvl4pPr marL="1203442" indent="0">
              <a:buNone/>
              <a:defRPr sz="1800"/>
            </a:lvl4pPr>
            <a:lvl5pPr marL="1604589" indent="0">
              <a:buNone/>
              <a:defRPr sz="1800"/>
            </a:lvl5pPr>
            <a:lvl6pPr marL="2005736" indent="0">
              <a:buNone/>
              <a:defRPr sz="1800"/>
            </a:lvl6pPr>
            <a:lvl7pPr marL="2406884" indent="0">
              <a:buNone/>
              <a:defRPr sz="1800"/>
            </a:lvl7pPr>
            <a:lvl8pPr marL="2808031" indent="0">
              <a:buNone/>
              <a:defRPr sz="1800"/>
            </a:lvl8pPr>
            <a:lvl9pPr marL="3209178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64284" y="3944746"/>
            <a:ext cx="5400675" cy="591536"/>
          </a:xfrm>
        </p:spPr>
        <p:txBody>
          <a:bodyPr/>
          <a:lstStyle>
            <a:lvl1pPr marL="0" indent="0">
              <a:buNone/>
              <a:defRPr sz="1200"/>
            </a:lvl1pPr>
            <a:lvl2pPr marL="401147" indent="0">
              <a:buNone/>
              <a:defRPr sz="1100"/>
            </a:lvl2pPr>
            <a:lvl3pPr marL="802295" indent="0">
              <a:buNone/>
              <a:defRPr sz="900"/>
            </a:lvl3pPr>
            <a:lvl4pPr marL="1203442" indent="0">
              <a:buNone/>
              <a:defRPr sz="800"/>
            </a:lvl4pPr>
            <a:lvl5pPr marL="1604589" indent="0">
              <a:buNone/>
              <a:defRPr sz="800"/>
            </a:lvl5pPr>
            <a:lvl6pPr marL="2005736" indent="0">
              <a:buNone/>
              <a:defRPr sz="800"/>
            </a:lvl6pPr>
            <a:lvl7pPr marL="2406884" indent="0">
              <a:buNone/>
              <a:defRPr sz="800"/>
            </a:lvl7pPr>
            <a:lvl8pPr marL="2808031" indent="0">
              <a:buNone/>
              <a:defRPr sz="800"/>
            </a:lvl8pPr>
            <a:lvl9pPr marL="3209178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C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5816" y="201847"/>
            <a:ext cx="2025253" cy="4300600"/>
          </a:xfrm>
        </p:spPr>
        <p:txBody>
          <a:bodyPr vert="eaVert"/>
          <a:lstStyle>
            <a:lvl1pPr>
              <a:defRPr>
                <a:solidFill>
                  <a:srgbClr val="8C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0056" y="201847"/>
            <a:ext cx="5925741" cy="4300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0056" y="201846"/>
            <a:ext cx="8101013" cy="518110"/>
          </a:xfrm>
          <a:prstGeom prst="rect">
            <a:avLst/>
          </a:prstGeom>
        </p:spPr>
        <p:txBody>
          <a:bodyPr vert="horz" lIns="80229" tIns="40115" rIns="80229" bIns="40115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0056" y="791964"/>
            <a:ext cx="8101013" cy="3710483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0056" y="4671624"/>
            <a:ext cx="2100263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2024/7/3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75385" y="4671624"/>
            <a:ext cx="2850356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0806" y="4671624"/>
            <a:ext cx="2100263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802295" rtl="0" eaLnBrk="1" latinLnBrk="0" hangingPunct="1">
        <a:spcBef>
          <a:spcPct val="0"/>
        </a:spcBef>
        <a:buNone/>
        <a:defRPr sz="2400" b="1" kern="1200" baseline="0">
          <a:solidFill>
            <a:srgbClr val="8C0000"/>
          </a:solidFill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00860" indent="-300860" algn="l" defTabSz="802295" rtl="0" eaLnBrk="1" latinLnBrk="0" hangingPunct="1">
        <a:spcBef>
          <a:spcPct val="20000"/>
        </a:spcBef>
        <a:buClr>
          <a:srgbClr val="8C0000"/>
        </a:buClr>
        <a:buFont typeface="Arial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651864" indent="-250717" algn="l" defTabSz="802295" rtl="0" eaLnBrk="1" latinLnBrk="0" hangingPunct="1">
        <a:spcBef>
          <a:spcPct val="20000"/>
        </a:spcBef>
        <a:buClr>
          <a:srgbClr val="8C0000"/>
        </a:buClr>
        <a:buFont typeface="Arial" pitchFamily="34" charset="0"/>
        <a:buChar char="–"/>
        <a:defRPr sz="2000" kern="1200" baseline="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1002868" indent="-200574" algn="l" defTabSz="802295" rtl="0" eaLnBrk="1" latinLnBrk="0" hangingPunct="1">
        <a:spcBef>
          <a:spcPct val="20000"/>
        </a:spcBef>
        <a:buClr>
          <a:srgbClr val="8C0000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3pPr>
      <a:lvl4pPr marL="1404015" indent="-200574" algn="l" defTabSz="802295" rtl="0" eaLnBrk="1" latinLnBrk="0" hangingPunct="1">
        <a:spcBef>
          <a:spcPct val="20000"/>
        </a:spcBef>
        <a:buClr>
          <a:srgbClr val="8C0000"/>
        </a:buClr>
        <a:buFont typeface="Arial" pitchFamily="34" charset="0"/>
        <a:buChar char="–"/>
        <a:defRPr sz="1600" kern="1200" baseline="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4pPr>
      <a:lvl5pPr marL="1805163" indent="-200574" algn="l" defTabSz="802295" rtl="0" eaLnBrk="1" latinLnBrk="0" hangingPunct="1">
        <a:spcBef>
          <a:spcPct val="20000"/>
        </a:spcBef>
        <a:buClr>
          <a:srgbClr val="8C0000"/>
        </a:buClr>
        <a:buFont typeface="Arial" pitchFamily="34" charset="0"/>
        <a:buChar char="»"/>
        <a:defRPr sz="1600" kern="1200" baseline="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5pPr>
      <a:lvl6pPr marL="2206310" indent="-200574" algn="l" defTabSz="802295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07457" indent="-200574" algn="l" defTabSz="802295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08605" indent="-200574" algn="l" defTabSz="802295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09752" indent="-200574" algn="l" defTabSz="802295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1147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2295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3442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589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05736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06884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08031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09178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iff"/><Relationship Id="rId13" Type="http://schemas.openxmlformats.org/officeDocument/2006/relationships/image" Target="../media/image19.png"/><Relationship Id="rId18" Type="http://schemas.openxmlformats.org/officeDocument/2006/relationships/image" Target="../media/image24.tiff"/><Relationship Id="rId26" Type="http://schemas.openxmlformats.org/officeDocument/2006/relationships/image" Target="../media/image32.jpe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tiff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jpe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tiff"/><Relationship Id="rId11" Type="http://schemas.openxmlformats.org/officeDocument/2006/relationships/image" Target="../media/image17.png"/><Relationship Id="rId24" Type="http://schemas.openxmlformats.org/officeDocument/2006/relationships/image" Target="../media/image30.tiff"/><Relationship Id="rId5" Type="http://schemas.openxmlformats.org/officeDocument/2006/relationships/image" Target="../media/image11.tiff"/><Relationship Id="rId15" Type="http://schemas.openxmlformats.org/officeDocument/2006/relationships/image" Target="../media/image21.png"/><Relationship Id="rId23" Type="http://schemas.openxmlformats.org/officeDocument/2006/relationships/image" Target="../media/image29.tiff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tiff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iff"/><Relationship Id="rId13" Type="http://schemas.openxmlformats.org/officeDocument/2006/relationships/image" Target="../media/image19.png"/><Relationship Id="rId18" Type="http://schemas.openxmlformats.org/officeDocument/2006/relationships/image" Target="../media/image24.tiff"/><Relationship Id="rId26" Type="http://schemas.openxmlformats.org/officeDocument/2006/relationships/image" Target="../media/image32.jpe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tiff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jpe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tiff"/><Relationship Id="rId11" Type="http://schemas.openxmlformats.org/officeDocument/2006/relationships/image" Target="../media/image17.png"/><Relationship Id="rId24" Type="http://schemas.openxmlformats.org/officeDocument/2006/relationships/image" Target="../media/image30.tiff"/><Relationship Id="rId5" Type="http://schemas.openxmlformats.org/officeDocument/2006/relationships/image" Target="../media/image11.tiff"/><Relationship Id="rId15" Type="http://schemas.openxmlformats.org/officeDocument/2006/relationships/image" Target="../media/image21.png"/><Relationship Id="rId23" Type="http://schemas.openxmlformats.org/officeDocument/2006/relationships/image" Target="../media/image29.tiff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tiff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iff"/><Relationship Id="rId13" Type="http://schemas.openxmlformats.org/officeDocument/2006/relationships/image" Target="../media/image19.png"/><Relationship Id="rId18" Type="http://schemas.openxmlformats.org/officeDocument/2006/relationships/image" Target="../media/image24.tiff"/><Relationship Id="rId26" Type="http://schemas.openxmlformats.org/officeDocument/2006/relationships/image" Target="../media/image32.jpe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tiff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jpe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tiff"/><Relationship Id="rId11" Type="http://schemas.openxmlformats.org/officeDocument/2006/relationships/image" Target="../media/image17.png"/><Relationship Id="rId24" Type="http://schemas.openxmlformats.org/officeDocument/2006/relationships/image" Target="../media/image30.tiff"/><Relationship Id="rId5" Type="http://schemas.openxmlformats.org/officeDocument/2006/relationships/image" Target="../media/image11.tiff"/><Relationship Id="rId15" Type="http://schemas.openxmlformats.org/officeDocument/2006/relationships/image" Target="../media/image21.png"/><Relationship Id="rId23" Type="http://schemas.openxmlformats.org/officeDocument/2006/relationships/image" Target="../media/image29.tiff"/><Relationship Id="rId28" Type="http://schemas.openxmlformats.org/officeDocument/2006/relationships/image" Target="../media/image35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tiff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iff"/><Relationship Id="rId13" Type="http://schemas.openxmlformats.org/officeDocument/2006/relationships/image" Target="../media/image19.png"/><Relationship Id="rId18" Type="http://schemas.openxmlformats.org/officeDocument/2006/relationships/image" Target="../media/image24.tiff"/><Relationship Id="rId26" Type="http://schemas.openxmlformats.org/officeDocument/2006/relationships/image" Target="../media/image32.jpe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tiff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jpe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tiff"/><Relationship Id="rId11" Type="http://schemas.openxmlformats.org/officeDocument/2006/relationships/image" Target="../media/image17.png"/><Relationship Id="rId24" Type="http://schemas.openxmlformats.org/officeDocument/2006/relationships/image" Target="../media/image30.tiff"/><Relationship Id="rId5" Type="http://schemas.openxmlformats.org/officeDocument/2006/relationships/image" Target="../media/image11.tiff"/><Relationship Id="rId15" Type="http://schemas.openxmlformats.org/officeDocument/2006/relationships/image" Target="../media/image21.png"/><Relationship Id="rId23" Type="http://schemas.openxmlformats.org/officeDocument/2006/relationships/image" Target="../media/image29.tiff"/><Relationship Id="rId28" Type="http://schemas.openxmlformats.org/officeDocument/2006/relationships/image" Target="../media/image37.jpe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40.jpeg"/><Relationship Id="rId4" Type="http://schemas.openxmlformats.org/officeDocument/2006/relationships/image" Target="../media/image10.png"/><Relationship Id="rId9" Type="http://schemas.openxmlformats.org/officeDocument/2006/relationships/image" Target="../media/image15.tiff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6.png"/><Relationship Id="rId30" Type="http://schemas.openxmlformats.org/officeDocument/2006/relationships/image" Target="../media/image39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iff"/><Relationship Id="rId13" Type="http://schemas.openxmlformats.org/officeDocument/2006/relationships/image" Target="../media/image19.png"/><Relationship Id="rId18" Type="http://schemas.openxmlformats.org/officeDocument/2006/relationships/image" Target="../media/image24.tiff"/><Relationship Id="rId26" Type="http://schemas.openxmlformats.org/officeDocument/2006/relationships/image" Target="../media/image32.jpe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tiff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jpe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tiff"/><Relationship Id="rId11" Type="http://schemas.openxmlformats.org/officeDocument/2006/relationships/image" Target="../media/image17.png"/><Relationship Id="rId24" Type="http://schemas.openxmlformats.org/officeDocument/2006/relationships/image" Target="../media/image30.tiff"/><Relationship Id="rId5" Type="http://schemas.openxmlformats.org/officeDocument/2006/relationships/image" Target="../media/image11.tiff"/><Relationship Id="rId15" Type="http://schemas.openxmlformats.org/officeDocument/2006/relationships/image" Target="../media/image21.png"/><Relationship Id="rId23" Type="http://schemas.openxmlformats.org/officeDocument/2006/relationships/image" Target="../media/image29.tiff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tiff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iff"/><Relationship Id="rId13" Type="http://schemas.openxmlformats.org/officeDocument/2006/relationships/image" Target="../media/image20.png"/><Relationship Id="rId18" Type="http://schemas.openxmlformats.org/officeDocument/2006/relationships/image" Target="../media/image30.tiff"/><Relationship Id="rId26" Type="http://schemas.openxmlformats.org/officeDocument/2006/relationships/image" Target="../media/image46.png"/><Relationship Id="rId3" Type="http://schemas.openxmlformats.org/officeDocument/2006/relationships/image" Target="../media/image9.png"/><Relationship Id="rId21" Type="http://schemas.openxmlformats.org/officeDocument/2006/relationships/image" Target="../media/image41.jpeg"/><Relationship Id="rId7" Type="http://schemas.openxmlformats.org/officeDocument/2006/relationships/image" Target="../media/image13.tiff"/><Relationship Id="rId12" Type="http://schemas.openxmlformats.org/officeDocument/2006/relationships/image" Target="../media/image19.png"/><Relationship Id="rId17" Type="http://schemas.openxmlformats.org/officeDocument/2006/relationships/image" Target="../media/image24.tiff"/><Relationship Id="rId25" Type="http://schemas.openxmlformats.org/officeDocument/2006/relationships/image" Target="../media/image45.tiff"/><Relationship Id="rId2" Type="http://schemas.openxmlformats.org/officeDocument/2006/relationships/image" Target="../media/image8.png"/><Relationship Id="rId16" Type="http://schemas.openxmlformats.org/officeDocument/2006/relationships/image" Target="../media/image23.png"/><Relationship Id="rId20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tiff"/><Relationship Id="rId11" Type="http://schemas.openxmlformats.org/officeDocument/2006/relationships/image" Target="../media/image18.png"/><Relationship Id="rId24" Type="http://schemas.openxmlformats.org/officeDocument/2006/relationships/image" Target="../media/image44.tiff"/><Relationship Id="rId5" Type="http://schemas.openxmlformats.org/officeDocument/2006/relationships/image" Target="../media/image11.tiff"/><Relationship Id="rId15" Type="http://schemas.openxmlformats.org/officeDocument/2006/relationships/image" Target="../media/image22.png"/><Relationship Id="rId23" Type="http://schemas.openxmlformats.org/officeDocument/2006/relationships/image" Target="../media/image43.tiff"/><Relationship Id="rId10" Type="http://schemas.openxmlformats.org/officeDocument/2006/relationships/image" Target="../media/image17.png"/><Relationship Id="rId19" Type="http://schemas.openxmlformats.org/officeDocument/2006/relationships/image" Target="../media/image31.jpeg"/><Relationship Id="rId4" Type="http://schemas.openxmlformats.org/officeDocument/2006/relationships/image" Target="../media/image10.png"/><Relationship Id="rId9" Type="http://schemas.openxmlformats.org/officeDocument/2006/relationships/image" Target="../media/image15.tiff"/><Relationship Id="rId14" Type="http://schemas.openxmlformats.org/officeDocument/2006/relationships/image" Target="../media/image21.png"/><Relationship Id="rId22" Type="http://schemas.openxmlformats.org/officeDocument/2006/relationships/image" Target="../media/image42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tiff"/><Relationship Id="rId2" Type="http://schemas.openxmlformats.org/officeDocument/2006/relationships/image" Target="../media/image50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gif"/><Relationship Id="rId4" Type="http://schemas.openxmlformats.org/officeDocument/2006/relationships/image" Target="../media/image52.tif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iff"/><Relationship Id="rId13" Type="http://schemas.openxmlformats.org/officeDocument/2006/relationships/image" Target="../media/image20.png"/><Relationship Id="rId18" Type="http://schemas.openxmlformats.org/officeDocument/2006/relationships/image" Target="../media/image30.tiff"/><Relationship Id="rId26" Type="http://schemas.openxmlformats.org/officeDocument/2006/relationships/image" Target="../media/image46.png"/><Relationship Id="rId3" Type="http://schemas.openxmlformats.org/officeDocument/2006/relationships/image" Target="../media/image9.png"/><Relationship Id="rId21" Type="http://schemas.openxmlformats.org/officeDocument/2006/relationships/image" Target="../media/image41.jpeg"/><Relationship Id="rId7" Type="http://schemas.openxmlformats.org/officeDocument/2006/relationships/image" Target="../media/image13.tiff"/><Relationship Id="rId12" Type="http://schemas.openxmlformats.org/officeDocument/2006/relationships/image" Target="../media/image19.png"/><Relationship Id="rId17" Type="http://schemas.openxmlformats.org/officeDocument/2006/relationships/image" Target="../media/image24.tiff"/><Relationship Id="rId25" Type="http://schemas.openxmlformats.org/officeDocument/2006/relationships/image" Target="../media/image45.tiff"/><Relationship Id="rId2" Type="http://schemas.openxmlformats.org/officeDocument/2006/relationships/image" Target="../media/image8.png"/><Relationship Id="rId16" Type="http://schemas.openxmlformats.org/officeDocument/2006/relationships/image" Target="../media/image23.png"/><Relationship Id="rId20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tiff"/><Relationship Id="rId11" Type="http://schemas.openxmlformats.org/officeDocument/2006/relationships/image" Target="../media/image18.png"/><Relationship Id="rId24" Type="http://schemas.openxmlformats.org/officeDocument/2006/relationships/image" Target="../media/image44.tiff"/><Relationship Id="rId5" Type="http://schemas.openxmlformats.org/officeDocument/2006/relationships/image" Target="../media/image11.tiff"/><Relationship Id="rId15" Type="http://schemas.openxmlformats.org/officeDocument/2006/relationships/image" Target="../media/image22.png"/><Relationship Id="rId23" Type="http://schemas.openxmlformats.org/officeDocument/2006/relationships/image" Target="../media/image43.tiff"/><Relationship Id="rId10" Type="http://schemas.openxmlformats.org/officeDocument/2006/relationships/image" Target="../media/image17.png"/><Relationship Id="rId19" Type="http://schemas.openxmlformats.org/officeDocument/2006/relationships/image" Target="../media/image31.jpeg"/><Relationship Id="rId4" Type="http://schemas.openxmlformats.org/officeDocument/2006/relationships/image" Target="../media/image10.png"/><Relationship Id="rId9" Type="http://schemas.openxmlformats.org/officeDocument/2006/relationships/image" Target="../media/image15.tiff"/><Relationship Id="rId14" Type="http://schemas.openxmlformats.org/officeDocument/2006/relationships/image" Target="../media/image21.png"/><Relationship Id="rId22" Type="http://schemas.openxmlformats.org/officeDocument/2006/relationships/image" Target="../media/image42.tif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iff"/><Relationship Id="rId3" Type="http://schemas.openxmlformats.org/officeDocument/2006/relationships/image" Target="../media/image9.png"/><Relationship Id="rId7" Type="http://schemas.openxmlformats.org/officeDocument/2006/relationships/image" Target="../media/image13.tiff"/><Relationship Id="rId12" Type="http://schemas.openxmlformats.org/officeDocument/2006/relationships/image" Target="../media/image3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tiff"/><Relationship Id="rId11" Type="http://schemas.openxmlformats.org/officeDocument/2006/relationships/image" Target="../media/image31.jpeg"/><Relationship Id="rId5" Type="http://schemas.openxmlformats.org/officeDocument/2006/relationships/image" Target="../media/image11.tiff"/><Relationship Id="rId10" Type="http://schemas.openxmlformats.org/officeDocument/2006/relationships/image" Target="../media/image30.tiff"/><Relationship Id="rId4" Type="http://schemas.openxmlformats.org/officeDocument/2006/relationships/image" Target="../media/image10.png"/><Relationship Id="rId9" Type="http://schemas.openxmlformats.org/officeDocument/2006/relationships/image" Target="../media/image15.tif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iff"/><Relationship Id="rId13" Type="http://schemas.openxmlformats.org/officeDocument/2006/relationships/image" Target="../media/image63.png"/><Relationship Id="rId3" Type="http://schemas.openxmlformats.org/officeDocument/2006/relationships/image" Target="../media/image9.png"/><Relationship Id="rId7" Type="http://schemas.openxmlformats.org/officeDocument/2006/relationships/image" Target="../media/image13.tiff"/><Relationship Id="rId12" Type="http://schemas.openxmlformats.org/officeDocument/2006/relationships/image" Target="../media/image3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tiff"/><Relationship Id="rId11" Type="http://schemas.openxmlformats.org/officeDocument/2006/relationships/image" Target="../media/image31.jpeg"/><Relationship Id="rId5" Type="http://schemas.openxmlformats.org/officeDocument/2006/relationships/image" Target="../media/image11.tiff"/><Relationship Id="rId10" Type="http://schemas.openxmlformats.org/officeDocument/2006/relationships/image" Target="../media/image30.tiff"/><Relationship Id="rId4" Type="http://schemas.openxmlformats.org/officeDocument/2006/relationships/image" Target="../media/image10.png"/><Relationship Id="rId9" Type="http://schemas.openxmlformats.org/officeDocument/2006/relationships/image" Target="../media/image15.tiff"/><Relationship Id="rId1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iff"/><Relationship Id="rId13" Type="http://schemas.openxmlformats.org/officeDocument/2006/relationships/image" Target="../media/image65.png"/><Relationship Id="rId3" Type="http://schemas.openxmlformats.org/officeDocument/2006/relationships/image" Target="../media/image9.png"/><Relationship Id="rId7" Type="http://schemas.openxmlformats.org/officeDocument/2006/relationships/image" Target="../media/image13.tiff"/><Relationship Id="rId12" Type="http://schemas.openxmlformats.org/officeDocument/2006/relationships/image" Target="../media/image3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tiff"/><Relationship Id="rId11" Type="http://schemas.openxmlformats.org/officeDocument/2006/relationships/image" Target="../media/image31.jpeg"/><Relationship Id="rId5" Type="http://schemas.openxmlformats.org/officeDocument/2006/relationships/image" Target="../media/image11.tiff"/><Relationship Id="rId15" Type="http://schemas.openxmlformats.org/officeDocument/2006/relationships/image" Target="../media/image67.png"/><Relationship Id="rId10" Type="http://schemas.openxmlformats.org/officeDocument/2006/relationships/image" Target="../media/image30.tiff"/><Relationship Id="rId4" Type="http://schemas.openxmlformats.org/officeDocument/2006/relationships/image" Target="../media/image10.png"/><Relationship Id="rId9" Type="http://schemas.openxmlformats.org/officeDocument/2006/relationships/image" Target="../media/image15.tiff"/><Relationship Id="rId14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iff"/><Relationship Id="rId13" Type="http://schemas.openxmlformats.org/officeDocument/2006/relationships/image" Target="../media/image68.png"/><Relationship Id="rId3" Type="http://schemas.openxmlformats.org/officeDocument/2006/relationships/image" Target="../media/image9.png"/><Relationship Id="rId7" Type="http://schemas.openxmlformats.org/officeDocument/2006/relationships/image" Target="../media/image13.tiff"/><Relationship Id="rId12" Type="http://schemas.openxmlformats.org/officeDocument/2006/relationships/image" Target="../media/image32.jpeg"/><Relationship Id="rId2" Type="http://schemas.openxmlformats.org/officeDocument/2006/relationships/image" Target="../media/image8.png"/><Relationship Id="rId16" Type="http://schemas.openxmlformats.org/officeDocument/2006/relationships/image" Target="../media/image7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tiff"/><Relationship Id="rId11" Type="http://schemas.openxmlformats.org/officeDocument/2006/relationships/image" Target="../media/image31.jpeg"/><Relationship Id="rId5" Type="http://schemas.openxmlformats.org/officeDocument/2006/relationships/image" Target="../media/image11.tiff"/><Relationship Id="rId15" Type="http://schemas.openxmlformats.org/officeDocument/2006/relationships/image" Target="../media/image70.gif"/><Relationship Id="rId10" Type="http://schemas.openxmlformats.org/officeDocument/2006/relationships/image" Target="../media/image30.tiff"/><Relationship Id="rId4" Type="http://schemas.openxmlformats.org/officeDocument/2006/relationships/image" Target="../media/image10.png"/><Relationship Id="rId9" Type="http://schemas.openxmlformats.org/officeDocument/2006/relationships/image" Target="../media/image15.tiff"/><Relationship Id="rId14" Type="http://schemas.openxmlformats.org/officeDocument/2006/relationships/image" Target="../media/image6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09E22D-542B-4863-A6E7-061A4567B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084" y="1439756"/>
            <a:ext cx="7650956" cy="1080400"/>
          </a:xfrm>
        </p:spPr>
        <p:txBody>
          <a:bodyPr>
            <a:normAutofit/>
          </a:bodyPr>
          <a:lstStyle/>
          <a:p>
            <a:r>
              <a:rPr lang="zh-CN" altLang="en-US" dirty="0"/>
              <a:t>无源光学无线网络并发传输技术研究</a:t>
            </a:r>
            <a:br>
              <a:rPr lang="en-US" altLang="zh-CN" dirty="0"/>
            </a:br>
            <a:r>
              <a:rPr lang="zh-CN" altLang="en-US" sz="2000" b="0" dirty="0"/>
              <a:t>博士研究生学位论文开题报告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A0A6D2-2382-4865-A85D-EABBFF293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169" y="2808188"/>
            <a:ext cx="6300788" cy="856032"/>
          </a:xfrm>
        </p:spPr>
        <p:txBody>
          <a:bodyPr/>
          <a:lstStyle/>
          <a:p>
            <a:r>
              <a:rPr lang="zh-CN" altLang="en-US" dirty="0"/>
              <a:t>许科诺 </a:t>
            </a:r>
            <a:r>
              <a:rPr lang="en-US" altLang="zh-CN" dirty="0"/>
              <a:t>2001111288</a:t>
            </a:r>
          </a:p>
          <a:p>
            <a:r>
              <a:rPr lang="zh-CN" altLang="en-US" dirty="0"/>
              <a:t>导师：许辰人</a:t>
            </a:r>
          </a:p>
        </p:txBody>
      </p:sp>
    </p:spTree>
    <p:extLst>
      <p:ext uri="{BB962C8B-B14F-4D97-AF65-F5344CB8AC3E}">
        <p14:creationId xmlns:p14="http://schemas.microsoft.com/office/powerpoint/2010/main" val="122127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E0141-70A6-4B4A-8FFD-861A2B3C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33C8C3-D1CB-4AD3-B268-5163ECE57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研究背景与挑战</a:t>
            </a:r>
            <a:endParaRPr lang="en-US" altLang="zh-CN" dirty="0"/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研究现状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本文工作及当前进展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研究计划</a:t>
            </a:r>
          </a:p>
        </p:txBody>
      </p:sp>
    </p:spTree>
    <p:extLst>
      <p:ext uri="{BB962C8B-B14F-4D97-AF65-F5344CB8AC3E}">
        <p14:creationId xmlns:p14="http://schemas.microsoft.com/office/powerpoint/2010/main" val="2268540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3D449D-86B4-45CA-955C-F86BE57EF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万物互联已经成为经济社会的重要引擎</a:t>
            </a:r>
          </a:p>
        </p:txBody>
      </p:sp>
      <p:pic>
        <p:nvPicPr>
          <p:cNvPr id="1030" name="Picture 6" descr="Internet of Things">
            <a:extLst>
              <a:ext uri="{FF2B5EF4-FFF2-40B4-BE49-F238E27FC236}">
                <a16:creationId xmlns:a16="http://schemas.microsoft.com/office/drawing/2014/main" id="{2FEC202A-76CE-4425-9AC7-C35CAA865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168" y="2394832"/>
            <a:ext cx="1573418" cy="1350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oT Explained: What It Is, How It Works, Why It Matters">
            <a:extLst>
              <a:ext uri="{FF2B5EF4-FFF2-40B4-BE49-F238E27FC236}">
                <a16:creationId xmlns:a16="http://schemas.microsoft.com/office/drawing/2014/main" id="{B45FC9E1-BBCF-4846-8B0C-0896974914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/>
        </p:blipFill>
        <p:spPr bwMode="auto">
          <a:xfrm>
            <a:off x="4900108" y="1006773"/>
            <a:ext cx="3650960" cy="2738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9CDEFDC-F139-4C96-930E-000E5D218975}"/>
              </a:ext>
            </a:extLst>
          </p:cNvPr>
          <p:cNvGrpSpPr/>
          <p:nvPr/>
        </p:nvGrpSpPr>
        <p:grpSpPr>
          <a:xfrm>
            <a:off x="0" y="4019497"/>
            <a:ext cx="8994924" cy="588891"/>
            <a:chOff x="0" y="1416396"/>
            <a:chExt cx="8994924" cy="189648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4BDE5CA-4324-42EC-972D-F0B5BA47B743}"/>
                </a:ext>
              </a:extLst>
            </p:cNvPr>
            <p:cNvSpPr/>
            <p:nvPr/>
          </p:nvSpPr>
          <p:spPr>
            <a:xfrm>
              <a:off x="0" y="1416396"/>
              <a:ext cx="8994924" cy="1896483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858" tIns="44929" rIns="89858" bIns="44929" rtlCol="0" anchor="ctr"/>
            <a:lstStyle/>
            <a:p>
              <a:pPr algn="ctr"/>
              <a:endParaRPr lang="zh-CN" altLang="en-US" dirty="0">
                <a:solidFill>
                  <a:srgbClr val="8C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880FBA9-3BFD-4910-BC73-887A4D2EF7CE}"/>
                </a:ext>
              </a:extLst>
            </p:cNvPr>
            <p:cNvSpPr/>
            <p:nvPr/>
          </p:nvSpPr>
          <p:spPr>
            <a:xfrm>
              <a:off x="450055" y="1772505"/>
              <a:ext cx="8101013" cy="1283381"/>
            </a:xfrm>
            <a:prstGeom prst="rect">
              <a:avLst/>
            </a:prstGeom>
          </p:spPr>
          <p:txBody>
            <a:bodyPr wrap="square" lIns="89858" tIns="44929" rIns="89858" bIns="44929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+mj-lt"/>
                  <a:ea typeface="Lantinghei SC Demibold"/>
                </a:rPr>
                <a:t>据统计，当前世界上共有</a:t>
              </a:r>
              <a:r>
                <a:rPr lang="en-US" altLang="zh-CN" sz="2000" b="1" dirty="0">
                  <a:solidFill>
                    <a:schemeClr val="bg1"/>
                  </a:solidFill>
                  <a:latin typeface="+mj-lt"/>
                  <a:ea typeface="Lantinghei SC Demibold"/>
                </a:rPr>
                <a:t>170</a:t>
              </a:r>
              <a:r>
                <a:rPr lang="zh-CN" altLang="en-US" sz="2000" b="1" dirty="0">
                  <a:solidFill>
                    <a:schemeClr val="bg1"/>
                  </a:solidFill>
                  <a:latin typeface="+mj-lt"/>
                  <a:ea typeface="Lantinghei SC Demibold"/>
                </a:rPr>
                <a:t>亿</a:t>
              </a:r>
              <a:r>
                <a:rPr lang="zh-CN" altLang="en-US" sz="2000" dirty="0">
                  <a:solidFill>
                    <a:schemeClr val="bg1"/>
                  </a:solidFill>
                  <a:latin typeface="+mj-lt"/>
                  <a:ea typeface="Lantinghei SC Demibold"/>
                </a:rPr>
                <a:t>物联网设备</a:t>
              </a:r>
              <a:endParaRPr lang="en-US" altLang="zh-CN" sz="2000" dirty="0">
                <a:solidFill>
                  <a:schemeClr val="bg1"/>
                </a:solidFill>
                <a:latin typeface="+mj-lt"/>
                <a:ea typeface="Lantinghei SC Demibold"/>
              </a:endParaRPr>
            </a:p>
          </p:txBody>
        </p:sp>
      </p:grpSp>
      <p:pic>
        <p:nvPicPr>
          <p:cNvPr id="15" name="Picture 2" descr="System brings deep learning to “internet of things” devices | MIT News |  Massachusetts Institute of Technology">
            <a:extLst>
              <a:ext uri="{FF2B5EF4-FFF2-40B4-BE49-F238E27FC236}">
                <a16:creationId xmlns:a16="http://schemas.microsoft.com/office/drawing/2014/main" id="{42E01951-B664-4E5A-9CB8-56D9F6E96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98" y="1006773"/>
            <a:ext cx="1890197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IoT device examples—Real-world examples and capabilities">
            <a:extLst>
              <a:ext uri="{FF2B5EF4-FFF2-40B4-BE49-F238E27FC236}">
                <a16:creationId xmlns:a16="http://schemas.microsoft.com/office/drawing/2014/main" id="{349510D0-1395-4376-99CF-2E9C7E52D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98" y="2394832"/>
            <a:ext cx="2411917" cy="1350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2" descr="8 Top Internet of Things (IoT) Certifications | Datamation">
            <a:extLst>
              <a:ext uri="{FF2B5EF4-FFF2-40B4-BE49-F238E27FC236}">
                <a16:creationId xmlns:a16="http://schemas.microsoft.com/office/drawing/2014/main" id="{9E9E4BE1-CDA8-425E-8638-504343E9E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578" y="1006773"/>
            <a:ext cx="2141008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BA3B2B6A-F4FF-4F2C-8032-5329FEB32514}"/>
              </a:ext>
            </a:extLst>
          </p:cNvPr>
          <p:cNvSpPr txBox="1"/>
          <p:nvPr/>
        </p:nvSpPr>
        <p:spPr>
          <a:xfrm>
            <a:off x="450056" y="4752404"/>
            <a:ext cx="81010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https://explodingtopics.com/blog/number-of-iot-devices</a:t>
            </a:r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278929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0ACE55-C06F-44BE-8C79-24848E433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物联网产业规模：预期与现实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6D10FCC-568C-49E8-984A-874758E47F1D}"/>
              </a:ext>
            </a:extLst>
          </p:cNvPr>
          <p:cNvCxnSpPr/>
          <p:nvPr/>
        </p:nvCxnSpPr>
        <p:spPr>
          <a:xfrm>
            <a:off x="612130" y="3600276"/>
            <a:ext cx="33123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F24D2A1-F931-4592-8EB7-40DA735E35AF}"/>
              </a:ext>
            </a:extLst>
          </p:cNvPr>
          <p:cNvCxnSpPr>
            <a:cxnSpLocks/>
          </p:cNvCxnSpPr>
          <p:nvPr/>
        </p:nvCxnSpPr>
        <p:spPr>
          <a:xfrm flipV="1">
            <a:off x="612130" y="1079996"/>
            <a:ext cx="0" cy="25202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3913F4A-3419-4AD9-9E30-F05EF6224B21}"/>
              </a:ext>
            </a:extLst>
          </p:cNvPr>
          <p:cNvSpPr txBox="1"/>
          <p:nvPr/>
        </p:nvSpPr>
        <p:spPr>
          <a:xfrm>
            <a:off x="612129" y="3940571"/>
            <a:ext cx="331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工业界预测值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5918341-073D-43D8-95EF-D33514BE11E0}"/>
              </a:ext>
            </a:extLst>
          </p:cNvPr>
          <p:cNvSpPr txBox="1"/>
          <p:nvPr/>
        </p:nvSpPr>
        <p:spPr>
          <a:xfrm rot="16200000">
            <a:off x="-801756" y="2186102"/>
            <a:ext cx="25199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全球物联网设备总数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233483-C786-4256-AB5C-550A8D9FB4EB}"/>
              </a:ext>
            </a:extLst>
          </p:cNvPr>
          <p:cNvSpPr txBox="1"/>
          <p:nvPr/>
        </p:nvSpPr>
        <p:spPr>
          <a:xfrm>
            <a:off x="612129" y="3616245"/>
            <a:ext cx="11521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2015</a:t>
            </a:r>
            <a:endParaRPr lang="zh-CN" altLang="en-US" sz="12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9EE078-E746-410A-82A6-BFA3F87C1E22}"/>
              </a:ext>
            </a:extLst>
          </p:cNvPr>
          <p:cNvSpPr txBox="1"/>
          <p:nvPr/>
        </p:nvSpPr>
        <p:spPr>
          <a:xfrm>
            <a:off x="1764259" y="3616245"/>
            <a:ext cx="11521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2020</a:t>
            </a:r>
            <a:endParaRPr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E395B5-B272-40EB-AC27-9C0745F03152}"/>
              </a:ext>
            </a:extLst>
          </p:cNvPr>
          <p:cNvSpPr txBox="1"/>
          <p:nvPr/>
        </p:nvSpPr>
        <p:spPr>
          <a:xfrm>
            <a:off x="2844378" y="3618582"/>
            <a:ext cx="11521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2025</a:t>
            </a:r>
            <a:endParaRPr lang="zh-CN" altLang="en-US" sz="12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DCD92-FF2F-4DBE-A2C3-E0DF8E121384}"/>
              </a:ext>
            </a:extLst>
          </p:cNvPr>
          <p:cNvSpPr/>
          <p:nvPr/>
        </p:nvSpPr>
        <p:spPr>
          <a:xfrm>
            <a:off x="998302" y="791965"/>
            <a:ext cx="379785" cy="2808022"/>
          </a:xfrm>
          <a:prstGeom prst="rect">
            <a:avLst/>
          </a:prstGeom>
          <a:solidFill>
            <a:srgbClr val="8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71495B-EE6A-463C-9F6A-ADA1425D44BB}"/>
              </a:ext>
            </a:extLst>
          </p:cNvPr>
          <p:cNvSpPr txBox="1"/>
          <p:nvPr/>
        </p:nvSpPr>
        <p:spPr>
          <a:xfrm>
            <a:off x="1378087" y="789628"/>
            <a:ext cx="1754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2012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en-US" altLang="zh-CN" sz="1400" dirty="0"/>
              <a:t>2015</a:t>
            </a:r>
            <a:r>
              <a:rPr lang="zh-CN" altLang="en-US" sz="1400" dirty="0"/>
              <a:t>年达到</a:t>
            </a:r>
            <a:r>
              <a:rPr lang="en-US" altLang="zh-CN" sz="1400" dirty="0"/>
              <a:t>1</a:t>
            </a:r>
            <a:r>
              <a:rPr lang="zh-CN" altLang="en-US" sz="1400" dirty="0"/>
              <a:t>万亿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7622392-AD38-4ABF-8C5F-6285DE7135B8}"/>
              </a:ext>
            </a:extLst>
          </p:cNvPr>
          <p:cNvSpPr/>
          <p:nvPr/>
        </p:nvSpPr>
        <p:spPr>
          <a:xfrm>
            <a:off x="2150431" y="2664171"/>
            <a:ext cx="379785" cy="935815"/>
          </a:xfrm>
          <a:prstGeom prst="rect">
            <a:avLst/>
          </a:prstGeom>
          <a:solidFill>
            <a:srgbClr val="8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1490974-FF85-4B88-8BA9-5177C492C3D8}"/>
              </a:ext>
            </a:extLst>
          </p:cNvPr>
          <p:cNvSpPr txBox="1"/>
          <p:nvPr/>
        </p:nvSpPr>
        <p:spPr>
          <a:xfrm>
            <a:off x="1653054" y="2078526"/>
            <a:ext cx="1754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2017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en-US" altLang="zh-CN" sz="1400" dirty="0"/>
              <a:t>2020</a:t>
            </a:r>
            <a:r>
              <a:rPr lang="zh-CN" altLang="en-US" sz="1400" dirty="0"/>
              <a:t>年达到</a:t>
            </a:r>
            <a:r>
              <a:rPr lang="en-US" altLang="zh-CN" sz="1400" dirty="0"/>
              <a:t>500</a:t>
            </a:r>
            <a:r>
              <a:rPr lang="zh-CN" altLang="en-US" sz="1400" dirty="0"/>
              <a:t>亿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5407915-4071-48CE-AD6E-5F679082A256}"/>
              </a:ext>
            </a:extLst>
          </p:cNvPr>
          <p:cNvSpPr/>
          <p:nvPr/>
        </p:nvSpPr>
        <p:spPr>
          <a:xfrm>
            <a:off x="3230550" y="3367424"/>
            <a:ext cx="379785" cy="242005"/>
          </a:xfrm>
          <a:prstGeom prst="rect">
            <a:avLst/>
          </a:prstGeom>
          <a:solidFill>
            <a:srgbClr val="8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D0C921-B1F2-447B-9C62-9FC19699C065}"/>
              </a:ext>
            </a:extLst>
          </p:cNvPr>
          <p:cNvSpPr txBox="1"/>
          <p:nvPr/>
        </p:nvSpPr>
        <p:spPr>
          <a:xfrm>
            <a:off x="2628354" y="2812130"/>
            <a:ext cx="1754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2018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en-US" altLang="zh-CN" sz="1400" dirty="0"/>
              <a:t>2025</a:t>
            </a:r>
            <a:r>
              <a:rPr lang="zh-CN" altLang="en-US" sz="1400" dirty="0"/>
              <a:t>年达到</a:t>
            </a:r>
            <a:r>
              <a:rPr lang="en-US" altLang="zh-CN" sz="1400" dirty="0"/>
              <a:t>250</a:t>
            </a:r>
            <a:r>
              <a:rPr lang="zh-CN" altLang="en-US" sz="1400" dirty="0"/>
              <a:t>亿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F67D65C-355C-449D-B3DD-E48318FD0094}"/>
              </a:ext>
            </a:extLst>
          </p:cNvPr>
          <p:cNvCxnSpPr/>
          <p:nvPr/>
        </p:nvCxnSpPr>
        <p:spPr>
          <a:xfrm>
            <a:off x="4814728" y="3600276"/>
            <a:ext cx="33123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F1E963D-7603-43FF-8F90-BA3E3EDFF715}"/>
              </a:ext>
            </a:extLst>
          </p:cNvPr>
          <p:cNvCxnSpPr>
            <a:cxnSpLocks/>
          </p:cNvCxnSpPr>
          <p:nvPr/>
        </p:nvCxnSpPr>
        <p:spPr>
          <a:xfrm flipV="1">
            <a:off x="4814728" y="1079996"/>
            <a:ext cx="0" cy="25202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B8A5ACE4-1976-440E-AAA0-A641A8969294}"/>
              </a:ext>
            </a:extLst>
          </p:cNvPr>
          <p:cNvSpPr txBox="1"/>
          <p:nvPr/>
        </p:nvSpPr>
        <p:spPr>
          <a:xfrm>
            <a:off x="4814727" y="3940571"/>
            <a:ext cx="331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实际统计数据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AE14675-18E0-4683-AFCB-F1A65BBF74F1}"/>
              </a:ext>
            </a:extLst>
          </p:cNvPr>
          <p:cNvSpPr txBox="1"/>
          <p:nvPr/>
        </p:nvSpPr>
        <p:spPr>
          <a:xfrm rot="16200000">
            <a:off x="3400842" y="2186102"/>
            <a:ext cx="25199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全球物联网设备总数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5E2F6E1-C9D3-4599-9E1F-F80F9C3380AD}"/>
              </a:ext>
            </a:extLst>
          </p:cNvPr>
          <p:cNvSpPr txBox="1"/>
          <p:nvPr/>
        </p:nvSpPr>
        <p:spPr>
          <a:xfrm>
            <a:off x="4814727" y="3616245"/>
            <a:ext cx="11521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2015</a:t>
            </a:r>
            <a:endParaRPr lang="zh-CN" altLang="en-US" sz="12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AE279ED-F935-4176-82A3-F2F4193E8B6D}"/>
              </a:ext>
            </a:extLst>
          </p:cNvPr>
          <p:cNvSpPr txBox="1"/>
          <p:nvPr/>
        </p:nvSpPr>
        <p:spPr>
          <a:xfrm>
            <a:off x="5966857" y="3616245"/>
            <a:ext cx="11521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2020</a:t>
            </a:r>
            <a:endParaRPr lang="zh-CN" altLang="en-US" sz="12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A963591-B357-40A2-A0DA-323540A420FF}"/>
              </a:ext>
            </a:extLst>
          </p:cNvPr>
          <p:cNvSpPr txBox="1"/>
          <p:nvPr/>
        </p:nvSpPr>
        <p:spPr>
          <a:xfrm>
            <a:off x="7046976" y="3618582"/>
            <a:ext cx="11521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8C0000"/>
                </a:solidFill>
              </a:rPr>
              <a:t>2035</a:t>
            </a:r>
            <a:endParaRPr lang="zh-CN" altLang="en-US" sz="1200" b="1" dirty="0">
              <a:solidFill>
                <a:srgbClr val="8C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090211B-362C-49C6-B1E8-D88BCB72AD81}"/>
              </a:ext>
            </a:extLst>
          </p:cNvPr>
          <p:cNvSpPr/>
          <p:nvPr/>
        </p:nvSpPr>
        <p:spPr>
          <a:xfrm>
            <a:off x="5200900" y="3456259"/>
            <a:ext cx="379785" cy="143727"/>
          </a:xfrm>
          <a:prstGeom prst="rect">
            <a:avLst/>
          </a:prstGeom>
          <a:solidFill>
            <a:srgbClr val="8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CAAA200-E976-4756-960C-02F388826231}"/>
              </a:ext>
            </a:extLst>
          </p:cNvPr>
          <p:cNvSpPr txBox="1"/>
          <p:nvPr/>
        </p:nvSpPr>
        <p:spPr>
          <a:xfrm>
            <a:off x="5045105" y="3146305"/>
            <a:ext cx="680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36</a:t>
            </a:r>
            <a:r>
              <a:rPr lang="zh-CN" altLang="en-US" sz="1400" dirty="0"/>
              <a:t>亿</a:t>
            </a:r>
            <a:endParaRPr lang="en-US" altLang="zh-CN" sz="14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772005E-07C7-4165-808B-16A38326E462}"/>
              </a:ext>
            </a:extLst>
          </p:cNvPr>
          <p:cNvSpPr/>
          <p:nvPr/>
        </p:nvSpPr>
        <p:spPr>
          <a:xfrm>
            <a:off x="6353029" y="3076766"/>
            <a:ext cx="379785" cy="523220"/>
          </a:xfrm>
          <a:prstGeom prst="rect">
            <a:avLst/>
          </a:prstGeom>
          <a:solidFill>
            <a:srgbClr val="8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821A9F1-D046-4C32-A6F2-8EB9BC1B4DEE}"/>
              </a:ext>
            </a:extLst>
          </p:cNvPr>
          <p:cNvSpPr txBox="1"/>
          <p:nvPr/>
        </p:nvSpPr>
        <p:spPr>
          <a:xfrm>
            <a:off x="6176350" y="2771550"/>
            <a:ext cx="73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113</a:t>
            </a:r>
            <a:r>
              <a:rPr lang="zh-CN" altLang="en-US" sz="1400" dirty="0"/>
              <a:t>亿</a:t>
            </a:r>
            <a:endParaRPr lang="en-US" altLang="zh-CN" sz="14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0EE8206-105F-4312-A6A9-2BE8E0364A9A}"/>
              </a:ext>
            </a:extLst>
          </p:cNvPr>
          <p:cNvSpPr/>
          <p:nvPr/>
        </p:nvSpPr>
        <p:spPr>
          <a:xfrm>
            <a:off x="7433148" y="789628"/>
            <a:ext cx="379785" cy="2819801"/>
          </a:xfrm>
          <a:prstGeom prst="rect">
            <a:avLst/>
          </a:prstGeom>
          <a:solidFill>
            <a:srgbClr val="8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8670507-4C6D-4315-BDE9-4355ACD5C6B4}"/>
              </a:ext>
            </a:extLst>
          </p:cNvPr>
          <p:cNvSpPr txBox="1"/>
          <p:nvPr/>
        </p:nvSpPr>
        <p:spPr>
          <a:xfrm>
            <a:off x="5790028" y="780475"/>
            <a:ext cx="1754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/>
              <a:t>2035</a:t>
            </a:r>
            <a:r>
              <a:rPr lang="zh-CN" altLang="en-US" sz="1400" dirty="0"/>
              <a:t>年达到</a:t>
            </a:r>
            <a:r>
              <a:rPr lang="en-US" altLang="zh-CN" sz="1400" dirty="0"/>
              <a:t>1</a:t>
            </a:r>
            <a:r>
              <a:rPr lang="zh-CN" altLang="en-US" sz="1400" dirty="0"/>
              <a:t>万亿？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DC696C3-A624-4D90-9699-42039FB27CEB}"/>
              </a:ext>
            </a:extLst>
          </p:cNvPr>
          <p:cNvSpPr txBox="1"/>
          <p:nvPr/>
        </p:nvSpPr>
        <p:spPr>
          <a:xfrm>
            <a:off x="450056" y="4392364"/>
            <a:ext cx="81010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Lopez Research LLC, “An Introduction to the Internet of Things (IoT)” , 2013</a:t>
            </a:r>
          </a:p>
          <a:p>
            <a:r>
              <a:rPr lang="en-US" altLang="zh-CN" sz="900" dirty="0"/>
              <a:t>https://spectrum.ieee.org/popular-internet-of-things-forecast-of-50-billion-devices-by-2020-is-outdated</a:t>
            </a:r>
          </a:p>
          <a:p>
            <a:r>
              <a:rPr lang="en-US" altLang="zh-CN" sz="900" dirty="0"/>
              <a:t>https://iot-analytics.com/number-connected-iot-devices/</a:t>
            </a:r>
          </a:p>
        </p:txBody>
      </p:sp>
    </p:spTree>
    <p:extLst>
      <p:ext uri="{BB962C8B-B14F-4D97-AF65-F5344CB8AC3E}">
        <p14:creationId xmlns:p14="http://schemas.microsoft.com/office/powerpoint/2010/main" val="1366010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2" grpId="0"/>
      <p:bldP spid="23" grpId="0"/>
      <p:bldP spid="24" grpId="0"/>
      <p:bldP spid="25" grpId="0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1E88B-92A3-465D-BC4C-7837EF20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如何连接</a:t>
            </a:r>
            <a:r>
              <a:rPr lang="en-US" altLang="zh-CN" dirty="0"/>
              <a:t>1</a:t>
            </a:r>
            <a:r>
              <a:rPr lang="zh-CN" altLang="en-US" dirty="0"/>
              <a:t>万亿设备？</a:t>
            </a: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CDCD4FA-9E83-4ECF-9F12-92BB4E1ECC9F}"/>
              </a:ext>
            </a:extLst>
          </p:cNvPr>
          <p:cNvGrpSpPr/>
          <p:nvPr/>
        </p:nvGrpSpPr>
        <p:grpSpPr>
          <a:xfrm>
            <a:off x="702196" y="3373213"/>
            <a:ext cx="2212313" cy="1163167"/>
            <a:chOff x="653217" y="3581200"/>
            <a:chExt cx="2212313" cy="1163167"/>
          </a:xfrm>
        </p:grpSpPr>
        <p:sp>
          <p:nvSpPr>
            <p:cNvPr id="73" name="Shape 188">
              <a:extLst>
                <a:ext uri="{FF2B5EF4-FFF2-40B4-BE49-F238E27FC236}">
                  <a16:creationId xmlns:a16="http://schemas.microsoft.com/office/drawing/2014/main" id="{B7C77777-F9A6-4B3D-B571-85CC155BF536}"/>
                </a:ext>
              </a:extLst>
            </p:cNvPr>
            <p:cNvSpPr txBox="1"/>
            <p:nvPr/>
          </p:nvSpPr>
          <p:spPr>
            <a:xfrm>
              <a:off x="653217" y="3877037"/>
              <a:ext cx="858057" cy="60887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物联网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A10DC0A9-C9F0-40BA-A3CC-04A5B68321C9}"/>
                </a:ext>
              </a:extLst>
            </p:cNvPr>
            <p:cNvGrpSpPr/>
            <p:nvPr/>
          </p:nvGrpSpPr>
          <p:grpSpPr>
            <a:xfrm>
              <a:off x="1666064" y="3581200"/>
              <a:ext cx="1199466" cy="1163167"/>
              <a:chOff x="1666064" y="3581200"/>
              <a:chExt cx="1199466" cy="1163167"/>
            </a:xfrm>
          </p:grpSpPr>
          <p:pic>
            <p:nvPicPr>
              <p:cNvPr id="70" name="Shape 155">
                <a:extLst>
                  <a:ext uri="{FF2B5EF4-FFF2-40B4-BE49-F238E27FC236}">
                    <a16:creationId xmlns:a16="http://schemas.microsoft.com/office/drawing/2014/main" id="{5252672F-C2C4-4B3D-8DD7-075B6A16918E}"/>
                  </a:ext>
                </a:extLst>
              </p:cNvPr>
              <p:cNvPicPr preferRelativeResize="0"/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66064" y="4252669"/>
                <a:ext cx="491698" cy="4916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" name="Shape 183">
                <a:extLst>
                  <a:ext uri="{FF2B5EF4-FFF2-40B4-BE49-F238E27FC236}">
                    <a16:creationId xmlns:a16="http://schemas.microsoft.com/office/drawing/2014/main" id="{AEE794D1-32D2-45C7-BD06-C67A31132945}"/>
                  </a:ext>
                </a:extLst>
              </p:cNvPr>
              <p:cNvPicPr preferRelativeResize="0"/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3001" y="4274276"/>
                <a:ext cx="452529" cy="4700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" name="Shape 185">
                <a:extLst>
                  <a:ext uri="{FF2B5EF4-FFF2-40B4-BE49-F238E27FC236}">
                    <a16:creationId xmlns:a16="http://schemas.microsoft.com/office/drawing/2014/main" id="{6541684C-37BF-4216-AF2E-0B358436E906}"/>
                  </a:ext>
                </a:extLst>
              </p:cNvPr>
              <p:cNvPicPr preferRelativeResize="0"/>
              <p:nvPr/>
            </p:nvPicPr>
            <p:blipFill>
              <a:blip r:embed="rId4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96868" y="3581200"/>
                <a:ext cx="425116" cy="5106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" name="Picture 158">
                <a:extLst>
                  <a:ext uri="{FF2B5EF4-FFF2-40B4-BE49-F238E27FC236}">
                    <a16:creationId xmlns:a16="http://schemas.microsoft.com/office/drawing/2014/main" id="{DA9F376E-4B6D-4F2B-83FC-45DC057678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74419" y="3581200"/>
                <a:ext cx="684144" cy="448114"/>
              </a:xfrm>
              <a:prstGeom prst="rect">
                <a:avLst/>
              </a:prstGeom>
            </p:spPr>
          </p:pic>
        </p:grp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C213362-D4C9-4EBD-8AC2-7ADA6ADA4A8D}"/>
              </a:ext>
            </a:extLst>
          </p:cNvPr>
          <p:cNvGrpSpPr/>
          <p:nvPr/>
        </p:nvGrpSpPr>
        <p:grpSpPr>
          <a:xfrm>
            <a:off x="5742756" y="3373213"/>
            <a:ext cx="2268209" cy="1163167"/>
            <a:chOff x="6048777" y="3581200"/>
            <a:chExt cx="2268209" cy="1163167"/>
          </a:xfrm>
        </p:grpSpPr>
        <p:sp>
          <p:nvSpPr>
            <p:cNvPr id="60" name="Shape 190">
              <a:extLst>
                <a:ext uri="{FF2B5EF4-FFF2-40B4-BE49-F238E27FC236}">
                  <a16:creationId xmlns:a16="http://schemas.microsoft.com/office/drawing/2014/main" id="{30F22D1D-79EE-4ABA-A320-C3BD58561E6F}"/>
                </a:ext>
              </a:extLst>
            </p:cNvPr>
            <p:cNvSpPr txBox="1"/>
            <p:nvPr/>
          </p:nvSpPr>
          <p:spPr>
            <a:xfrm>
              <a:off x="6048777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移动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7EC2F674-3C72-49EA-993B-C4BBE8F53B70}"/>
                </a:ext>
              </a:extLst>
            </p:cNvPr>
            <p:cNvGrpSpPr/>
            <p:nvPr/>
          </p:nvGrpSpPr>
          <p:grpSpPr>
            <a:xfrm>
              <a:off x="6920466" y="3581200"/>
              <a:ext cx="1396520" cy="1163167"/>
              <a:chOff x="6920466" y="3581200"/>
              <a:chExt cx="1396520" cy="1163167"/>
            </a:xfrm>
          </p:grpSpPr>
          <p:pic>
            <p:nvPicPr>
              <p:cNvPr id="62" name="Picture 133">
                <a:extLst>
                  <a:ext uri="{FF2B5EF4-FFF2-40B4-BE49-F238E27FC236}">
                    <a16:creationId xmlns:a16="http://schemas.microsoft.com/office/drawing/2014/main" id="{4202EB84-4797-4F47-A239-3C270D23C3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0466" y="3581200"/>
                <a:ext cx="460416" cy="623791"/>
              </a:xfrm>
              <a:prstGeom prst="rect">
                <a:avLst/>
              </a:prstGeom>
            </p:spPr>
          </p:pic>
          <p:pic>
            <p:nvPicPr>
              <p:cNvPr id="63" name="Picture 135">
                <a:extLst>
                  <a:ext uri="{FF2B5EF4-FFF2-40B4-BE49-F238E27FC236}">
                    <a16:creationId xmlns:a16="http://schemas.microsoft.com/office/drawing/2014/main" id="{9ED241D1-5C3A-45E5-BB8E-2497A90C89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865775" y="4215483"/>
                <a:ext cx="432980" cy="528884"/>
              </a:xfrm>
              <a:prstGeom prst="rect">
                <a:avLst/>
              </a:prstGeom>
            </p:spPr>
          </p:pic>
          <p:pic>
            <p:nvPicPr>
              <p:cNvPr id="64" name="Picture 136">
                <a:extLst>
                  <a:ext uri="{FF2B5EF4-FFF2-40B4-BE49-F238E27FC236}">
                    <a16:creationId xmlns:a16="http://schemas.microsoft.com/office/drawing/2014/main" id="{583047E8-0512-430C-881E-B742D23B22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03096" y="3581200"/>
                <a:ext cx="813890" cy="360109"/>
              </a:xfrm>
              <a:prstGeom prst="rect">
                <a:avLst/>
              </a:prstGeom>
            </p:spPr>
          </p:pic>
          <p:pic>
            <p:nvPicPr>
              <p:cNvPr id="65" name="Picture 137">
                <a:extLst>
                  <a:ext uri="{FF2B5EF4-FFF2-40B4-BE49-F238E27FC236}">
                    <a16:creationId xmlns:a16="http://schemas.microsoft.com/office/drawing/2014/main" id="{8FC51046-5E59-4BB0-A79C-9A9C5A5799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5806" y="4237991"/>
                <a:ext cx="712101" cy="506376"/>
              </a:xfrm>
              <a:prstGeom prst="rect">
                <a:avLst/>
              </a:prstGeom>
            </p:spPr>
          </p:pic>
        </p:grp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F645107E-5A1F-43AC-94E0-FAFEFCC5570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372" y="2225091"/>
            <a:ext cx="1641324" cy="885551"/>
          </a:xfrm>
          <a:prstGeom prst="rect">
            <a:avLst/>
          </a:prstGeom>
        </p:spPr>
      </p:pic>
      <p:sp>
        <p:nvSpPr>
          <p:cNvPr id="15" name="Shape 140">
            <a:extLst>
              <a:ext uri="{FF2B5EF4-FFF2-40B4-BE49-F238E27FC236}">
                <a16:creationId xmlns:a16="http://schemas.microsoft.com/office/drawing/2014/main" id="{B76951F3-F700-4731-BAB9-590743B1E632}"/>
              </a:ext>
            </a:extLst>
          </p:cNvPr>
          <p:cNvSpPr txBox="1"/>
          <p:nvPr/>
        </p:nvSpPr>
        <p:spPr>
          <a:xfrm>
            <a:off x="476789" y="1043554"/>
            <a:ext cx="2193505" cy="48330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骨干网与云服务</a:t>
            </a:r>
            <a:endParaRPr lang="en-US" altLang="zh-CN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6" name="Shape 141">
            <a:extLst>
              <a:ext uri="{FF2B5EF4-FFF2-40B4-BE49-F238E27FC236}">
                <a16:creationId xmlns:a16="http://schemas.microsoft.com/office/drawing/2014/main" id="{DF343CA8-3287-4452-A95A-909EFE0127F3}"/>
              </a:ext>
            </a:extLst>
          </p:cNvPr>
          <p:cNvPicPr preferRelativeResize="0"/>
          <p:nvPr/>
        </p:nvPicPr>
        <p:blipFill>
          <a:blip r:embed="rId1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653" y="1787606"/>
            <a:ext cx="411805" cy="274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Shape 142">
            <a:extLst>
              <a:ext uri="{FF2B5EF4-FFF2-40B4-BE49-F238E27FC236}">
                <a16:creationId xmlns:a16="http://schemas.microsoft.com/office/drawing/2014/main" id="{F00B6AA6-C698-4AF4-8172-6CADA4B7B517}"/>
              </a:ext>
            </a:extLst>
          </p:cNvPr>
          <p:cNvPicPr preferRelativeResize="0"/>
          <p:nvPr/>
        </p:nvPicPr>
        <p:blipFill>
          <a:blip r:embed="rId1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704" y="1544261"/>
            <a:ext cx="411805" cy="274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roup 89">
            <a:extLst>
              <a:ext uri="{FF2B5EF4-FFF2-40B4-BE49-F238E27FC236}">
                <a16:creationId xmlns:a16="http://schemas.microsoft.com/office/drawing/2014/main" id="{DBEDCD6A-0DA4-4DB1-82EA-C8AEB211914F}"/>
              </a:ext>
            </a:extLst>
          </p:cNvPr>
          <p:cNvGrpSpPr/>
          <p:nvPr/>
        </p:nvGrpSpPr>
        <p:grpSpPr>
          <a:xfrm>
            <a:off x="1661294" y="1523501"/>
            <a:ext cx="6351357" cy="1762893"/>
            <a:chOff x="1652700" y="1556084"/>
            <a:chExt cx="10173540" cy="2823785"/>
          </a:xfrm>
        </p:grpSpPr>
        <p:grpSp>
          <p:nvGrpSpPr>
            <p:cNvPr id="46" name="Group 90">
              <a:extLst>
                <a:ext uri="{FF2B5EF4-FFF2-40B4-BE49-F238E27FC236}">
                  <a16:creationId xmlns:a16="http://schemas.microsoft.com/office/drawing/2014/main" id="{90A82EDA-2897-4A13-95E7-85470D1E11C5}"/>
                </a:ext>
              </a:extLst>
            </p:cNvPr>
            <p:cNvGrpSpPr/>
            <p:nvPr/>
          </p:nvGrpSpPr>
          <p:grpSpPr>
            <a:xfrm>
              <a:off x="4839980" y="2243052"/>
              <a:ext cx="2974270" cy="2063747"/>
              <a:chOff x="4839980" y="2243052"/>
              <a:chExt cx="2974270" cy="2063747"/>
            </a:xfrm>
          </p:grpSpPr>
          <p:sp>
            <p:nvSpPr>
              <p:cNvPr id="53" name="Shape 139">
                <a:extLst>
                  <a:ext uri="{FF2B5EF4-FFF2-40B4-BE49-F238E27FC236}">
                    <a16:creationId xmlns:a16="http://schemas.microsoft.com/office/drawing/2014/main" id="{81557118-9140-4C73-BDA6-56714DD707C1}"/>
                  </a:ext>
                </a:extLst>
              </p:cNvPr>
              <p:cNvSpPr/>
              <p:nvPr/>
            </p:nvSpPr>
            <p:spPr>
              <a:xfrm>
                <a:off x="4839980" y="2243052"/>
                <a:ext cx="2974270" cy="2063747"/>
              </a:xfrm>
              <a:prstGeom prst="ellipse">
                <a:avLst/>
              </a:pr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endParaRPr sz="110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4" name="Shape 152">
                <a:extLst>
                  <a:ext uri="{FF2B5EF4-FFF2-40B4-BE49-F238E27FC236}">
                    <a16:creationId xmlns:a16="http://schemas.microsoft.com/office/drawing/2014/main" id="{E04FFE8A-6527-4AD9-8BB2-83025354E365}"/>
                  </a:ext>
                </a:extLst>
              </p:cNvPr>
              <p:cNvSpPr txBox="1"/>
              <p:nvPr/>
            </p:nvSpPr>
            <p:spPr>
              <a:xfrm>
                <a:off x="5393656" y="3683856"/>
                <a:ext cx="1953279" cy="5025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algn="ctr"/>
                <a:r>
                  <a:rPr lang="zh-CN" altLang="en-US" sz="1100" b="1" dirty="0">
                    <a:latin typeface="Arial" charset="0"/>
                    <a:ea typeface="Arial" charset="0"/>
                    <a:cs typeface="Arial" charset="0"/>
                  </a:rPr>
                  <a:t>区域网络</a:t>
                </a:r>
                <a:endParaRPr lang="en" sz="1100" b="1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47" name="Group 91">
              <a:extLst>
                <a:ext uri="{FF2B5EF4-FFF2-40B4-BE49-F238E27FC236}">
                  <a16:creationId xmlns:a16="http://schemas.microsoft.com/office/drawing/2014/main" id="{BC16D2D3-C6BA-4D3F-AEC0-86064A9D477C}"/>
                </a:ext>
              </a:extLst>
            </p:cNvPr>
            <p:cNvGrpSpPr/>
            <p:nvPr/>
          </p:nvGrpSpPr>
          <p:grpSpPr>
            <a:xfrm>
              <a:off x="7575080" y="1556084"/>
              <a:ext cx="4251160" cy="2788541"/>
              <a:chOff x="7575080" y="1556084"/>
              <a:chExt cx="4251160" cy="2788541"/>
            </a:xfrm>
          </p:grpSpPr>
          <p:sp>
            <p:nvSpPr>
              <p:cNvPr id="51" name="Shape 145">
                <a:extLst>
                  <a:ext uri="{FF2B5EF4-FFF2-40B4-BE49-F238E27FC236}">
                    <a16:creationId xmlns:a16="http://schemas.microsoft.com/office/drawing/2014/main" id="{8770414C-88D8-44D6-857B-1B5279E4E742}"/>
                  </a:ext>
                </a:extLst>
              </p:cNvPr>
              <p:cNvSpPr/>
              <p:nvPr/>
            </p:nvSpPr>
            <p:spPr>
              <a:xfrm>
                <a:off x="7575080" y="1556084"/>
                <a:ext cx="4251160" cy="2788541"/>
              </a:xfrm>
              <a:prstGeom prst="ellipse">
                <a:avLst/>
              </a:pr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endParaRPr sz="110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2" name="Shape 153">
                <a:extLst>
                  <a:ext uri="{FF2B5EF4-FFF2-40B4-BE49-F238E27FC236}">
                    <a16:creationId xmlns:a16="http://schemas.microsoft.com/office/drawing/2014/main" id="{9AB59A70-4CA3-4D88-A4B2-A60FAB179594}"/>
                  </a:ext>
                </a:extLst>
              </p:cNvPr>
              <p:cNvSpPr txBox="1"/>
              <p:nvPr/>
            </p:nvSpPr>
            <p:spPr>
              <a:xfrm>
                <a:off x="8549501" y="3677441"/>
                <a:ext cx="2371882" cy="4493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algn="ctr"/>
                <a:r>
                  <a:rPr lang="zh-CN" altLang="en-US" sz="1100" b="1" dirty="0">
                    <a:latin typeface="Arial" charset="0"/>
                    <a:ea typeface="Arial" charset="0"/>
                    <a:cs typeface="Arial" charset="0"/>
                  </a:rPr>
                  <a:t>企业网络</a:t>
                </a:r>
                <a:endParaRPr lang="en" sz="1100" b="1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48" name="Group 92">
              <a:extLst>
                <a:ext uri="{FF2B5EF4-FFF2-40B4-BE49-F238E27FC236}">
                  <a16:creationId xmlns:a16="http://schemas.microsoft.com/office/drawing/2014/main" id="{BEEAEFE5-9EC7-4554-9094-AE8122BC5B9A}"/>
                </a:ext>
              </a:extLst>
            </p:cNvPr>
            <p:cNvGrpSpPr/>
            <p:nvPr/>
          </p:nvGrpSpPr>
          <p:grpSpPr>
            <a:xfrm>
              <a:off x="1652700" y="1779900"/>
              <a:ext cx="3094759" cy="2599969"/>
              <a:chOff x="1652700" y="1779900"/>
              <a:chExt cx="3094759" cy="2599969"/>
            </a:xfrm>
          </p:grpSpPr>
          <p:sp>
            <p:nvSpPr>
              <p:cNvPr id="49" name="Shape 148">
                <a:extLst>
                  <a:ext uri="{FF2B5EF4-FFF2-40B4-BE49-F238E27FC236}">
                    <a16:creationId xmlns:a16="http://schemas.microsoft.com/office/drawing/2014/main" id="{B78D63A3-E952-4BE0-BEA8-C7201A2FE700}"/>
                  </a:ext>
                </a:extLst>
              </p:cNvPr>
              <p:cNvSpPr/>
              <p:nvPr/>
            </p:nvSpPr>
            <p:spPr>
              <a:xfrm>
                <a:off x="1652700" y="1779900"/>
                <a:ext cx="3094759" cy="2599969"/>
              </a:xfrm>
              <a:prstGeom prst="ellipse">
                <a:avLst/>
              </a:pr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endParaRPr sz="110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0" name="Shape 154">
                <a:extLst>
                  <a:ext uri="{FF2B5EF4-FFF2-40B4-BE49-F238E27FC236}">
                    <a16:creationId xmlns:a16="http://schemas.microsoft.com/office/drawing/2014/main" id="{CD2B3B02-D775-4C1B-BD3B-1788CD2884D5}"/>
                  </a:ext>
                </a:extLst>
              </p:cNvPr>
              <p:cNvSpPr txBox="1"/>
              <p:nvPr/>
            </p:nvSpPr>
            <p:spPr>
              <a:xfrm>
                <a:off x="2174475" y="3698269"/>
                <a:ext cx="2160100" cy="445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algn="ctr"/>
                <a:r>
                  <a:rPr lang="zh-CN" altLang="en-US" sz="1100" b="1" dirty="0">
                    <a:latin typeface="Arial" charset="0"/>
                    <a:ea typeface="Arial" charset="0"/>
                    <a:cs typeface="Arial" charset="0"/>
                  </a:rPr>
                  <a:t>移动网络</a:t>
                </a:r>
                <a:endParaRPr lang="en" sz="1100" b="1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pic>
        <p:nvPicPr>
          <p:cNvPr id="19" name="Shape 176">
            <a:extLst>
              <a:ext uri="{FF2B5EF4-FFF2-40B4-BE49-F238E27FC236}">
                <a16:creationId xmlns:a16="http://schemas.microsoft.com/office/drawing/2014/main" id="{A6F843B5-C4AB-4DC8-A85E-F35EFE621FB2}"/>
              </a:ext>
            </a:extLst>
          </p:cNvPr>
          <p:cNvPicPr preferRelativeResize="0"/>
          <p:nvPr/>
        </p:nvPicPr>
        <p:blipFill>
          <a:blip r:embed="rId1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239" y="1825608"/>
            <a:ext cx="411805" cy="274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roup 100">
            <a:extLst>
              <a:ext uri="{FF2B5EF4-FFF2-40B4-BE49-F238E27FC236}">
                <a16:creationId xmlns:a16="http://schemas.microsoft.com/office/drawing/2014/main" id="{A61C677A-179C-48E4-843C-CE5E82862AA1}"/>
              </a:ext>
            </a:extLst>
          </p:cNvPr>
          <p:cNvGrpSpPr/>
          <p:nvPr/>
        </p:nvGrpSpPr>
        <p:grpSpPr>
          <a:xfrm>
            <a:off x="1945370" y="1826494"/>
            <a:ext cx="1366538" cy="604632"/>
            <a:chOff x="2148370" y="2041416"/>
            <a:chExt cx="2188906" cy="968494"/>
          </a:xfrm>
        </p:grpSpPr>
        <p:pic>
          <p:nvPicPr>
            <p:cNvPr id="43" name="Shape 150">
              <a:extLst>
                <a:ext uri="{FF2B5EF4-FFF2-40B4-BE49-F238E27FC236}">
                  <a16:creationId xmlns:a16="http://schemas.microsoft.com/office/drawing/2014/main" id="{F9678AB8-6507-4F58-AB82-DD0185D72C19}"/>
                </a:ext>
              </a:extLst>
            </p:cNvPr>
            <p:cNvPicPr preferRelativeResize="0"/>
            <p:nvPr/>
          </p:nvPicPr>
          <p:blipFill>
            <a:blip r:embed="rId12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9186" y="2398843"/>
              <a:ext cx="578090" cy="578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Shape 179">
              <a:extLst>
                <a:ext uri="{FF2B5EF4-FFF2-40B4-BE49-F238E27FC236}">
                  <a16:creationId xmlns:a16="http://schemas.microsoft.com/office/drawing/2014/main" id="{A24860F7-8306-4E24-AA92-BCCD6FE58D17}"/>
                </a:ext>
              </a:extLst>
            </p:cNvPr>
            <p:cNvPicPr preferRelativeResize="0"/>
            <p:nvPr/>
          </p:nvPicPr>
          <p:blipFill>
            <a:blip r:embed="rId1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370" y="2357914"/>
              <a:ext cx="542844" cy="6519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Shape 187">
              <a:extLst>
                <a:ext uri="{FF2B5EF4-FFF2-40B4-BE49-F238E27FC236}">
                  <a16:creationId xmlns:a16="http://schemas.microsoft.com/office/drawing/2014/main" id="{448725D4-B1BA-40B7-B919-9EC9855DD741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7405" y="2041416"/>
              <a:ext cx="874459" cy="8744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" name="Group 109">
            <a:extLst>
              <a:ext uri="{FF2B5EF4-FFF2-40B4-BE49-F238E27FC236}">
                <a16:creationId xmlns:a16="http://schemas.microsoft.com/office/drawing/2014/main" id="{14D53379-6A81-49F7-BDC4-9F94E26034D2}"/>
              </a:ext>
            </a:extLst>
          </p:cNvPr>
          <p:cNvGrpSpPr/>
          <p:nvPr/>
        </p:nvGrpSpPr>
        <p:grpSpPr>
          <a:xfrm>
            <a:off x="4006213" y="2003489"/>
            <a:ext cx="1168952" cy="468274"/>
            <a:chOff x="5449408" y="2324924"/>
            <a:chExt cx="1872415" cy="750077"/>
          </a:xfrm>
        </p:grpSpPr>
        <p:pic>
          <p:nvPicPr>
            <p:cNvPr id="40" name="Shape 157">
              <a:extLst>
                <a:ext uri="{FF2B5EF4-FFF2-40B4-BE49-F238E27FC236}">
                  <a16:creationId xmlns:a16="http://schemas.microsoft.com/office/drawing/2014/main" id="{1C98C0F8-6824-43C9-BC0C-DEF28E2C249A}"/>
                </a:ext>
              </a:extLst>
            </p:cNvPr>
            <p:cNvPicPr preferRelativeResize="0"/>
            <p:nvPr/>
          </p:nvPicPr>
          <p:blipFill>
            <a:blip r:embed="rId15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9408" y="2533311"/>
              <a:ext cx="403699" cy="484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Shape 160">
              <a:extLst>
                <a:ext uri="{FF2B5EF4-FFF2-40B4-BE49-F238E27FC236}">
                  <a16:creationId xmlns:a16="http://schemas.microsoft.com/office/drawing/2014/main" id="{F2C968CF-CED2-4AD2-AD3C-D0EDF196F569}"/>
                </a:ext>
              </a:extLst>
            </p:cNvPr>
            <p:cNvPicPr preferRelativeResize="0"/>
            <p:nvPr/>
          </p:nvPicPr>
          <p:blipFill>
            <a:blip r:embed="rId16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8124" y="2548019"/>
              <a:ext cx="403699" cy="403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Shape 186">
              <a:extLst>
                <a:ext uri="{FF2B5EF4-FFF2-40B4-BE49-F238E27FC236}">
                  <a16:creationId xmlns:a16="http://schemas.microsoft.com/office/drawing/2014/main" id="{55DF1082-C3E4-444F-9F51-41DDC61A12AD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1537" y="2324924"/>
              <a:ext cx="750077" cy="7500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" name="Group 125">
            <a:extLst>
              <a:ext uri="{FF2B5EF4-FFF2-40B4-BE49-F238E27FC236}">
                <a16:creationId xmlns:a16="http://schemas.microsoft.com/office/drawing/2014/main" id="{2351C1F1-8CFE-4676-8D74-5FABE5BF33C8}"/>
              </a:ext>
            </a:extLst>
          </p:cNvPr>
          <p:cNvGrpSpPr/>
          <p:nvPr/>
        </p:nvGrpSpPr>
        <p:grpSpPr>
          <a:xfrm>
            <a:off x="5807035" y="1652051"/>
            <a:ext cx="1669125" cy="699420"/>
            <a:chOff x="8333946" y="1761994"/>
            <a:chExt cx="2673588" cy="1120324"/>
          </a:xfrm>
        </p:grpSpPr>
        <p:pic>
          <p:nvPicPr>
            <p:cNvPr id="37" name="Shape 150">
              <a:extLst>
                <a:ext uri="{FF2B5EF4-FFF2-40B4-BE49-F238E27FC236}">
                  <a16:creationId xmlns:a16="http://schemas.microsoft.com/office/drawing/2014/main" id="{3E0AD489-220A-4920-B1EB-AE68144DA302}"/>
                </a:ext>
              </a:extLst>
            </p:cNvPr>
            <p:cNvPicPr preferRelativeResize="0"/>
            <p:nvPr/>
          </p:nvPicPr>
          <p:blipFill>
            <a:blip r:embed="rId12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7133" y="2143949"/>
              <a:ext cx="660401" cy="6604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Shape 179">
              <a:extLst>
                <a:ext uri="{FF2B5EF4-FFF2-40B4-BE49-F238E27FC236}">
                  <a16:creationId xmlns:a16="http://schemas.microsoft.com/office/drawing/2014/main" id="{599B15A5-4263-41BD-B4DE-28F20D6C304D}"/>
                </a:ext>
              </a:extLst>
            </p:cNvPr>
            <p:cNvPicPr preferRelativeResize="0"/>
            <p:nvPr/>
          </p:nvPicPr>
          <p:blipFill>
            <a:blip r:embed="rId17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3946" y="2104366"/>
              <a:ext cx="647712" cy="7779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Shape 187">
              <a:extLst>
                <a:ext uri="{FF2B5EF4-FFF2-40B4-BE49-F238E27FC236}">
                  <a16:creationId xmlns:a16="http://schemas.microsoft.com/office/drawing/2014/main" id="{7376EB1C-914D-4252-9AA7-1F74348046E2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6776" y="1761994"/>
              <a:ext cx="1021145" cy="10211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" name="Shape 140">
            <a:extLst>
              <a:ext uri="{FF2B5EF4-FFF2-40B4-BE49-F238E27FC236}">
                <a16:creationId xmlns:a16="http://schemas.microsoft.com/office/drawing/2014/main" id="{6874FDA1-6751-43A9-9691-CBD4EAAC26F8}"/>
              </a:ext>
            </a:extLst>
          </p:cNvPr>
          <p:cNvSpPr txBox="1"/>
          <p:nvPr/>
        </p:nvSpPr>
        <p:spPr>
          <a:xfrm>
            <a:off x="180082" y="2223013"/>
            <a:ext cx="1720252" cy="59723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接入网络</a:t>
            </a:r>
            <a:endParaRPr lang="en-US" altLang="zh-CN" dirty="0"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50DC9D1-442D-48C4-9D2E-10F819A72458}"/>
              </a:ext>
            </a:extLst>
          </p:cNvPr>
          <p:cNvGrpSpPr/>
          <p:nvPr/>
        </p:nvGrpSpPr>
        <p:grpSpPr>
          <a:xfrm>
            <a:off x="2769042" y="755610"/>
            <a:ext cx="3064546" cy="1142476"/>
            <a:chOff x="3202077" y="226664"/>
            <a:chExt cx="5352459" cy="1995420"/>
          </a:xfrm>
        </p:grpSpPr>
        <p:pic>
          <p:nvPicPr>
            <p:cNvPr id="32" name="Picture 85">
              <a:extLst>
                <a:ext uri="{FF2B5EF4-FFF2-40B4-BE49-F238E27FC236}">
                  <a16:creationId xmlns:a16="http://schemas.microsoft.com/office/drawing/2014/main" id="{1DD552B6-2A4D-4CAC-8335-E6D7BB47E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2077" y="226664"/>
              <a:ext cx="5352459" cy="1995420"/>
            </a:xfrm>
            <a:prstGeom prst="rect">
              <a:avLst/>
            </a:prstGeom>
          </p:spPr>
        </p:pic>
        <p:pic>
          <p:nvPicPr>
            <p:cNvPr id="33" name="Shape 187">
              <a:extLst>
                <a:ext uri="{FF2B5EF4-FFF2-40B4-BE49-F238E27FC236}">
                  <a16:creationId xmlns:a16="http://schemas.microsoft.com/office/drawing/2014/main" id="{AD495759-A85F-49B9-BA76-88C276E6B2CA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7788" y="492365"/>
              <a:ext cx="980470" cy="9804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Shape 187">
              <a:extLst>
                <a:ext uri="{FF2B5EF4-FFF2-40B4-BE49-F238E27FC236}">
                  <a16:creationId xmlns:a16="http://schemas.microsoft.com/office/drawing/2014/main" id="{9402E246-3A73-4F1F-9F66-12A36BB889BB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4632" y="795330"/>
              <a:ext cx="829988" cy="8299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Shape 187">
              <a:extLst>
                <a:ext uri="{FF2B5EF4-FFF2-40B4-BE49-F238E27FC236}">
                  <a16:creationId xmlns:a16="http://schemas.microsoft.com/office/drawing/2014/main" id="{1F071EFC-8E58-4D39-9DBF-235848D89D0E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1995" y="438857"/>
              <a:ext cx="833874" cy="833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Shape 187">
              <a:extLst>
                <a:ext uri="{FF2B5EF4-FFF2-40B4-BE49-F238E27FC236}">
                  <a16:creationId xmlns:a16="http://schemas.microsoft.com/office/drawing/2014/main" id="{43D6FC23-AF20-4D8A-9C03-841E885B461A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7587" y="722807"/>
              <a:ext cx="827585" cy="82758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650C9C39-55E4-4991-A255-72A5C0FD4D30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916" y="2362471"/>
            <a:ext cx="1163004" cy="62748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479F461-64C4-40E3-80B2-0365E0ED15DA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610" y="2153625"/>
            <a:ext cx="1916896" cy="1034233"/>
          </a:xfrm>
          <a:prstGeom prst="rect">
            <a:avLst/>
          </a:prstGeom>
        </p:spPr>
      </p:pic>
      <p:pic>
        <p:nvPicPr>
          <p:cNvPr id="27" name="Shape 164">
            <a:extLst>
              <a:ext uri="{FF2B5EF4-FFF2-40B4-BE49-F238E27FC236}">
                <a16:creationId xmlns:a16="http://schemas.microsoft.com/office/drawing/2014/main" id="{9E09FB8A-E7B1-4031-8F01-EF2B87120EA3}"/>
              </a:ext>
            </a:extLst>
          </p:cNvPr>
          <p:cNvPicPr preferRelativeResize="0"/>
          <p:nvPr/>
        </p:nvPicPr>
        <p:blipFill>
          <a:blip r:embed="rId2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098" y="2471763"/>
            <a:ext cx="311577" cy="356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roup 14">
            <a:extLst>
              <a:ext uri="{FF2B5EF4-FFF2-40B4-BE49-F238E27FC236}">
                <a16:creationId xmlns:a16="http://schemas.microsoft.com/office/drawing/2014/main" id="{ED038A78-612E-46E1-98CA-B94ACBB05E55}"/>
              </a:ext>
            </a:extLst>
          </p:cNvPr>
          <p:cNvGrpSpPr/>
          <p:nvPr/>
        </p:nvGrpSpPr>
        <p:grpSpPr>
          <a:xfrm>
            <a:off x="1838189" y="2364247"/>
            <a:ext cx="1622547" cy="653185"/>
            <a:chOff x="2439684" y="2950908"/>
            <a:chExt cx="2598979" cy="1046266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4CB1B9C5-EAEE-4761-A2E2-225A6D9EF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9684" y="2950908"/>
              <a:ext cx="1939199" cy="1046266"/>
            </a:xfrm>
            <a:prstGeom prst="rect">
              <a:avLst/>
            </a:prstGeom>
          </p:spPr>
        </p:pic>
        <p:pic>
          <p:nvPicPr>
            <p:cNvPr id="31" name="Picture 13">
              <a:extLst>
                <a:ext uri="{FF2B5EF4-FFF2-40B4-BE49-F238E27FC236}">
                  <a16:creationId xmlns:a16="http://schemas.microsoft.com/office/drawing/2014/main" id="{5F871663-0DD5-4E94-9AE5-570606C16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0546" y="3238736"/>
              <a:ext cx="758117" cy="457397"/>
            </a:xfrm>
            <a:prstGeom prst="rect">
              <a:avLst/>
            </a:prstGeom>
          </p:spPr>
        </p:pic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DC6CFA3-6AD4-4C1E-B657-F1BA31189135}"/>
              </a:ext>
            </a:extLst>
          </p:cNvPr>
          <p:cNvGrpSpPr/>
          <p:nvPr/>
        </p:nvGrpSpPr>
        <p:grpSpPr>
          <a:xfrm>
            <a:off x="3124828" y="3373213"/>
            <a:ext cx="2407608" cy="1163167"/>
            <a:chOff x="3413302" y="3581200"/>
            <a:chExt cx="2407608" cy="1163167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FB28A1E6-44AF-4754-9681-A71266DAE77F}"/>
                </a:ext>
              </a:extLst>
            </p:cNvPr>
            <p:cNvGrpSpPr/>
            <p:nvPr/>
          </p:nvGrpSpPr>
          <p:grpSpPr>
            <a:xfrm>
              <a:off x="4356137" y="3581200"/>
              <a:ext cx="1464773" cy="1163167"/>
              <a:chOff x="4356137" y="3581200"/>
              <a:chExt cx="1464773" cy="1163167"/>
            </a:xfrm>
          </p:grpSpPr>
          <p:pic>
            <p:nvPicPr>
              <p:cNvPr id="67" name="Picture 166">
                <a:extLst>
                  <a:ext uri="{FF2B5EF4-FFF2-40B4-BE49-F238E27FC236}">
                    <a16:creationId xmlns:a16="http://schemas.microsoft.com/office/drawing/2014/main" id="{255890DD-BF3C-4453-848F-D818761B1F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56137" y="3581200"/>
                <a:ext cx="929705" cy="562326"/>
              </a:xfrm>
              <a:prstGeom prst="rect">
                <a:avLst/>
              </a:prstGeom>
            </p:spPr>
          </p:pic>
          <p:pic>
            <p:nvPicPr>
              <p:cNvPr id="2050" name="Picture 2" descr="Traffic signal on a white background Royalty Free Vector">
                <a:extLst>
                  <a:ext uri="{FF2B5EF4-FFF2-40B4-BE49-F238E27FC236}">
                    <a16:creationId xmlns:a16="http://schemas.microsoft.com/office/drawing/2014/main" id="{BAB6426F-F138-451F-A233-F8BA4413FF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384" t="11427" r="33835" b="9849"/>
              <a:stretch/>
            </p:blipFill>
            <p:spPr bwMode="auto">
              <a:xfrm>
                <a:off x="5399776" y="3581200"/>
                <a:ext cx="421134" cy="1163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2" name="Picture 4" descr="Premium Vector | Set of blank road signs on white background">
                <a:extLst>
                  <a:ext uri="{FF2B5EF4-FFF2-40B4-BE49-F238E27FC236}">
                    <a16:creationId xmlns:a16="http://schemas.microsoft.com/office/drawing/2014/main" id="{1500A6E2-FC09-41BA-8C3F-1DA3AD1252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56546" y="4209636"/>
                <a:ext cx="929837" cy="5347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0" name="Shape 190">
              <a:extLst>
                <a:ext uri="{FF2B5EF4-FFF2-40B4-BE49-F238E27FC236}">
                  <a16:creationId xmlns:a16="http://schemas.microsoft.com/office/drawing/2014/main" id="{DEE0364B-DF7D-4903-8255-53BEEEFE86F9}"/>
                </a:ext>
              </a:extLst>
            </p:cNvPr>
            <p:cNvSpPr txBox="1"/>
            <p:nvPr/>
          </p:nvSpPr>
          <p:spPr>
            <a:xfrm>
              <a:off x="3413302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道路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设施</a:t>
              </a:r>
              <a:endParaRPr lang="en-US" altLang="zh-CN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006FEC12-75A0-4D0A-8B35-390CB0D11F3E}"/>
              </a:ext>
            </a:extLst>
          </p:cNvPr>
          <p:cNvSpPr txBox="1"/>
          <p:nvPr/>
        </p:nvSpPr>
        <p:spPr>
          <a:xfrm>
            <a:off x="8179240" y="2304132"/>
            <a:ext cx="713810" cy="646331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</a:rPr>
              <a:t>射频</a:t>
            </a:r>
            <a:br>
              <a:rPr lang="en-US" altLang="zh-CN" sz="1800" b="1" dirty="0">
                <a:solidFill>
                  <a:schemeClr val="bg1"/>
                </a:solidFill>
              </a:rPr>
            </a:br>
            <a:r>
              <a:rPr lang="zh-CN" altLang="en-US" sz="1800" b="1" dirty="0">
                <a:solidFill>
                  <a:schemeClr val="bg1"/>
                </a:solidFill>
              </a:rPr>
              <a:t>技术</a:t>
            </a:r>
          </a:p>
        </p:txBody>
      </p:sp>
    </p:spTree>
    <p:extLst>
      <p:ext uri="{BB962C8B-B14F-4D97-AF65-F5344CB8AC3E}">
        <p14:creationId xmlns:p14="http://schemas.microsoft.com/office/powerpoint/2010/main" val="1696907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8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1E88B-92A3-465D-BC4C-7837EF20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如何连接</a:t>
            </a:r>
            <a:r>
              <a:rPr lang="en-US" altLang="zh-CN" dirty="0"/>
              <a:t>1</a:t>
            </a:r>
            <a:r>
              <a:rPr lang="zh-CN" altLang="en-US" dirty="0"/>
              <a:t>万亿设备？</a:t>
            </a: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CDCD4FA-9E83-4ECF-9F12-92BB4E1ECC9F}"/>
              </a:ext>
            </a:extLst>
          </p:cNvPr>
          <p:cNvGrpSpPr/>
          <p:nvPr/>
        </p:nvGrpSpPr>
        <p:grpSpPr>
          <a:xfrm>
            <a:off x="702196" y="3373213"/>
            <a:ext cx="2212313" cy="1163167"/>
            <a:chOff x="653217" y="3581200"/>
            <a:chExt cx="2212313" cy="1163167"/>
          </a:xfrm>
        </p:grpSpPr>
        <p:sp>
          <p:nvSpPr>
            <p:cNvPr id="73" name="Shape 188">
              <a:extLst>
                <a:ext uri="{FF2B5EF4-FFF2-40B4-BE49-F238E27FC236}">
                  <a16:creationId xmlns:a16="http://schemas.microsoft.com/office/drawing/2014/main" id="{B7C77777-F9A6-4B3D-B571-85CC155BF536}"/>
                </a:ext>
              </a:extLst>
            </p:cNvPr>
            <p:cNvSpPr txBox="1"/>
            <p:nvPr/>
          </p:nvSpPr>
          <p:spPr>
            <a:xfrm>
              <a:off x="653217" y="3877037"/>
              <a:ext cx="858057" cy="60887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物联网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A10DC0A9-C9F0-40BA-A3CC-04A5B68321C9}"/>
                </a:ext>
              </a:extLst>
            </p:cNvPr>
            <p:cNvGrpSpPr/>
            <p:nvPr/>
          </p:nvGrpSpPr>
          <p:grpSpPr>
            <a:xfrm>
              <a:off x="1666064" y="3581200"/>
              <a:ext cx="1199466" cy="1163167"/>
              <a:chOff x="1666064" y="3581200"/>
              <a:chExt cx="1199466" cy="1163167"/>
            </a:xfrm>
          </p:grpSpPr>
          <p:pic>
            <p:nvPicPr>
              <p:cNvPr id="70" name="Shape 155">
                <a:extLst>
                  <a:ext uri="{FF2B5EF4-FFF2-40B4-BE49-F238E27FC236}">
                    <a16:creationId xmlns:a16="http://schemas.microsoft.com/office/drawing/2014/main" id="{5252672F-C2C4-4B3D-8DD7-075B6A16918E}"/>
                  </a:ext>
                </a:extLst>
              </p:cNvPr>
              <p:cNvPicPr preferRelativeResize="0"/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66064" y="4252669"/>
                <a:ext cx="491698" cy="4916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" name="Shape 183">
                <a:extLst>
                  <a:ext uri="{FF2B5EF4-FFF2-40B4-BE49-F238E27FC236}">
                    <a16:creationId xmlns:a16="http://schemas.microsoft.com/office/drawing/2014/main" id="{AEE794D1-32D2-45C7-BD06-C67A31132945}"/>
                  </a:ext>
                </a:extLst>
              </p:cNvPr>
              <p:cNvPicPr preferRelativeResize="0"/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3001" y="4274276"/>
                <a:ext cx="452529" cy="4700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" name="Shape 185">
                <a:extLst>
                  <a:ext uri="{FF2B5EF4-FFF2-40B4-BE49-F238E27FC236}">
                    <a16:creationId xmlns:a16="http://schemas.microsoft.com/office/drawing/2014/main" id="{6541684C-37BF-4216-AF2E-0B358436E906}"/>
                  </a:ext>
                </a:extLst>
              </p:cNvPr>
              <p:cNvPicPr preferRelativeResize="0"/>
              <p:nvPr/>
            </p:nvPicPr>
            <p:blipFill>
              <a:blip r:embed="rId4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96868" y="3581200"/>
                <a:ext cx="425116" cy="5106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" name="Picture 158">
                <a:extLst>
                  <a:ext uri="{FF2B5EF4-FFF2-40B4-BE49-F238E27FC236}">
                    <a16:creationId xmlns:a16="http://schemas.microsoft.com/office/drawing/2014/main" id="{DA9F376E-4B6D-4F2B-83FC-45DC057678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74419" y="3581200"/>
                <a:ext cx="684144" cy="448114"/>
              </a:xfrm>
              <a:prstGeom prst="rect">
                <a:avLst/>
              </a:prstGeom>
            </p:spPr>
          </p:pic>
        </p:grp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C213362-D4C9-4EBD-8AC2-7ADA6ADA4A8D}"/>
              </a:ext>
            </a:extLst>
          </p:cNvPr>
          <p:cNvGrpSpPr/>
          <p:nvPr/>
        </p:nvGrpSpPr>
        <p:grpSpPr>
          <a:xfrm>
            <a:off x="5742756" y="3373213"/>
            <a:ext cx="2268209" cy="1163167"/>
            <a:chOff x="6048777" y="3581200"/>
            <a:chExt cx="2268209" cy="1163167"/>
          </a:xfrm>
        </p:grpSpPr>
        <p:sp>
          <p:nvSpPr>
            <p:cNvPr id="60" name="Shape 190">
              <a:extLst>
                <a:ext uri="{FF2B5EF4-FFF2-40B4-BE49-F238E27FC236}">
                  <a16:creationId xmlns:a16="http://schemas.microsoft.com/office/drawing/2014/main" id="{30F22D1D-79EE-4ABA-A320-C3BD58561E6F}"/>
                </a:ext>
              </a:extLst>
            </p:cNvPr>
            <p:cNvSpPr txBox="1"/>
            <p:nvPr/>
          </p:nvSpPr>
          <p:spPr>
            <a:xfrm>
              <a:off x="6048777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移动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7EC2F674-3C72-49EA-993B-C4BBE8F53B70}"/>
                </a:ext>
              </a:extLst>
            </p:cNvPr>
            <p:cNvGrpSpPr/>
            <p:nvPr/>
          </p:nvGrpSpPr>
          <p:grpSpPr>
            <a:xfrm>
              <a:off x="6920466" y="3581200"/>
              <a:ext cx="1396520" cy="1163167"/>
              <a:chOff x="6920466" y="3581200"/>
              <a:chExt cx="1396520" cy="1163167"/>
            </a:xfrm>
          </p:grpSpPr>
          <p:pic>
            <p:nvPicPr>
              <p:cNvPr id="62" name="Picture 133">
                <a:extLst>
                  <a:ext uri="{FF2B5EF4-FFF2-40B4-BE49-F238E27FC236}">
                    <a16:creationId xmlns:a16="http://schemas.microsoft.com/office/drawing/2014/main" id="{4202EB84-4797-4F47-A239-3C270D23C3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0466" y="3581200"/>
                <a:ext cx="460416" cy="623791"/>
              </a:xfrm>
              <a:prstGeom prst="rect">
                <a:avLst/>
              </a:prstGeom>
            </p:spPr>
          </p:pic>
          <p:pic>
            <p:nvPicPr>
              <p:cNvPr id="63" name="Picture 135">
                <a:extLst>
                  <a:ext uri="{FF2B5EF4-FFF2-40B4-BE49-F238E27FC236}">
                    <a16:creationId xmlns:a16="http://schemas.microsoft.com/office/drawing/2014/main" id="{9ED241D1-5C3A-45E5-BB8E-2497A90C89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865775" y="4215483"/>
                <a:ext cx="432980" cy="528884"/>
              </a:xfrm>
              <a:prstGeom prst="rect">
                <a:avLst/>
              </a:prstGeom>
            </p:spPr>
          </p:pic>
          <p:pic>
            <p:nvPicPr>
              <p:cNvPr id="64" name="Picture 136">
                <a:extLst>
                  <a:ext uri="{FF2B5EF4-FFF2-40B4-BE49-F238E27FC236}">
                    <a16:creationId xmlns:a16="http://schemas.microsoft.com/office/drawing/2014/main" id="{583047E8-0512-430C-881E-B742D23B22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03096" y="3581200"/>
                <a:ext cx="813890" cy="360109"/>
              </a:xfrm>
              <a:prstGeom prst="rect">
                <a:avLst/>
              </a:prstGeom>
            </p:spPr>
          </p:pic>
          <p:pic>
            <p:nvPicPr>
              <p:cNvPr id="65" name="Picture 137">
                <a:extLst>
                  <a:ext uri="{FF2B5EF4-FFF2-40B4-BE49-F238E27FC236}">
                    <a16:creationId xmlns:a16="http://schemas.microsoft.com/office/drawing/2014/main" id="{8FC51046-5E59-4BB0-A79C-9A9C5A5799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5806" y="4237991"/>
                <a:ext cx="712101" cy="506376"/>
              </a:xfrm>
              <a:prstGeom prst="rect">
                <a:avLst/>
              </a:prstGeom>
            </p:spPr>
          </p:pic>
        </p:grp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F645107E-5A1F-43AC-94E0-FAFEFCC5570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372" y="2225091"/>
            <a:ext cx="1641324" cy="885551"/>
          </a:xfrm>
          <a:prstGeom prst="rect">
            <a:avLst/>
          </a:prstGeom>
        </p:spPr>
      </p:pic>
      <p:sp>
        <p:nvSpPr>
          <p:cNvPr id="15" name="Shape 140">
            <a:extLst>
              <a:ext uri="{FF2B5EF4-FFF2-40B4-BE49-F238E27FC236}">
                <a16:creationId xmlns:a16="http://schemas.microsoft.com/office/drawing/2014/main" id="{B76951F3-F700-4731-BAB9-590743B1E632}"/>
              </a:ext>
            </a:extLst>
          </p:cNvPr>
          <p:cNvSpPr txBox="1"/>
          <p:nvPr/>
        </p:nvSpPr>
        <p:spPr>
          <a:xfrm>
            <a:off x="476789" y="1043554"/>
            <a:ext cx="2193505" cy="48330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骨干网与云服务</a:t>
            </a:r>
            <a:endParaRPr lang="en-US" altLang="zh-CN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6" name="Shape 141">
            <a:extLst>
              <a:ext uri="{FF2B5EF4-FFF2-40B4-BE49-F238E27FC236}">
                <a16:creationId xmlns:a16="http://schemas.microsoft.com/office/drawing/2014/main" id="{DF343CA8-3287-4452-A95A-909EFE0127F3}"/>
              </a:ext>
            </a:extLst>
          </p:cNvPr>
          <p:cNvPicPr preferRelativeResize="0"/>
          <p:nvPr/>
        </p:nvPicPr>
        <p:blipFill>
          <a:blip r:embed="rId1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653" y="1787606"/>
            <a:ext cx="411805" cy="274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Shape 142">
            <a:extLst>
              <a:ext uri="{FF2B5EF4-FFF2-40B4-BE49-F238E27FC236}">
                <a16:creationId xmlns:a16="http://schemas.microsoft.com/office/drawing/2014/main" id="{F00B6AA6-C698-4AF4-8172-6CADA4B7B517}"/>
              </a:ext>
            </a:extLst>
          </p:cNvPr>
          <p:cNvPicPr preferRelativeResize="0"/>
          <p:nvPr/>
        </p:nvPicPr>
        <p:blipFill>
          <a:blip r:embed="rId1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704" y="1544261"/>
            <a:ext cx="411805" cy="274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roup 89">
            <a:extLst>
              <a:ext uri="{FF2B5EF4-FFF2-40B4-BE49-F238E27FC236}">
                <a16:creationId xmlns:a16="http://schemas.microsoft.com/office/drawing/2014/main" id="{DBEDCD6A-0DA4-4DB1-82EA-C8AEB211914F}"/>
              </a:ext>
            </a:extLst>
          </p:cNvPr>
          <p:cNvGrpSpPr/>
          <p:nvPr/>
        </p:nvGrpSpPr>
        <p:grpSpPr>
          <a:xfrm>
            <a:off x="1661294" y="1523501"/>
            <a:ext cx="6351357" cy="1762893"/>
            <a:chOff x="1652700" y="1556084"/>
            <a:chExt cx="10173540" cy="2823785"/>
          </a:xfrm>
        </p:grpSpPr>
        <p:grpSp>
          <p:nvGrpSpPr>
            <p:cNvPr id="46" name="Group 90">
              <a:extLst>
                <a:ext uri="{FF2B5EF4-FFF2-40B4-BE49-F238E27FC236}">
                  <a16:creationId xmlns:a16="http://schemas.microsoft.com/office/drawing/2014/main" id="{90A82EDA-2897-4A13-95E7-85470D1E11C5}"/>
                </a:ext>
              </a:extLst>
            </p:cNvPr>
            <p:cNvGrpSpPr/>
            <p:nvPr/>
          </p:nvGrpSpPr>
          <p:grpSpPr>
            <a:xfrm>
              <a:off x="4839980" y="2243052"/>
              <a:ext cx="2974270" cy="2063747"/>
              <a:chOff x="4839980" y="2243052"/>
              <a:chExt cx="2974270" cy="2063747"/>
            </a:xfrm>
          </p:grpSpPr>
          <p:sp>
            <p:nvSpPr>
              <p:cNvPr id="53" name="Shape 139">
                <a:extLst>
                  <a:ext uri="{FF2B5EF4-FFF2-40B4-BE49-F238E27FC236}">
                    <a16:creationId xmlns:a16="http://schemas.microsoft.com/office/drawing/2014/main" id="{81557118-9140-4C73-BDA6-56714DD707C1}"/>
                  </a:ext>
                </a:extLst>
              </p:cNvPr>
              <p:cNvSpPr/>
              <p:nvPr/>
            </p:nvSpPr>
            <p:spPr>
              <a:xfrm>
                <a:off x="4839980" y="2243052"/>
                <a:ext cx="2974270" cy="2063747"/>
              </a:xfrm>
              <a:prstGeom prst="ellipse">
                <a:avLst/>
              </a:pr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endParaRPr sz="110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4" name="Shape 152">
                <a:extLst>
                  <a:ext uri="{FF2B5EF4-FFF2-40B4-BE49-F238E27FC236}">
                    <a16:creationId xmlns:a16="http://schemas.microsoft.com/office/drawing/2014/main" id="{E04FFE8A-6527-4AD9-8BB2-83025354E365}"/>
                  </a:ext>
                </a:extLst>
              </p:cNvPr>
              <p:cNvSpPr txBox="1"/>
              <p:nvPr/>
            </p:nvSpPr>
            <p:spPr>
              <a:xfrm>
                <a:off x="5393656" y="3683856"/>
                <a:ext cx="1953279" cy="5025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algn="ctr"/>
                <a:r>
                  <a:rPr lang="zh-CN" altLang="en-US" sz="1100" b="1" dirty="0">
                    <a:latin typeface="Arial" charset="0"/>
                    <a:ea typeface="Arial" charset="0"/>
                    <a:cs typeface="Arial" charset="0"/>
                  </a:rPr>
                  <a:t>区域网络</a:t>
                </a:r>
                <a:endParaRPr lang="en" sz="1100" b="1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47" name="Group 91">
              <a:extLst>
                <a:ext uri="{FF2B5EF4-FFF2-40B4-BE49-F238E27FC236}">
                  <a16:creationId xmlns:a16="http://schemas.microsoft.com/office/drawing/2014/main" id="{BC16D2D3-C6BA-4D3F-AEC0-86064A9D477C}"/>
                </a:ext>
              </a:extLst>
            </p:cNvPr>
            <p:cNvGrpSpPr/>
            <p:nvPr/>
          </p:nvGrpSpPr>
          <p:grpSpPr>
            <a:xfrm>
              <a:off x="7575080" y="1556084"/>
              <a:ext cx="4251160" cy="2788541"/>
              <a:chOff x="7575080" y="1556084"/>
              <a:chExt cx="4251160" cy="2788541"/>
            </a:xfrm>
          </p:grpSpPr>
          <p:sp>
            <p:nvSpPr>
              <p:cNvPr id="51" name="Shape 145">
                <a:extLst>
                  <a:ext uri="{FF2B5EF4-FFF2-40B4-BE49-F238E27FC236}">
                    <a16:creationId xmlns:a16="http://schemas.microsoft.com/office/drawing/2014/main" id="{8770414C-88D8-44D6-857B-1B5279E4E742}"/>
                  </a:ext>
                </a:extLst>
              </p:cNvPr>
              <p:cNvSpPr/>
              <p:nvPr/>
            </p:nvSpPr>
            <p:spPr>
              <a:xfrm>
                <a:off x="7575080" y="1556084"/>
                <a:ext cx="4251160" cy="2788541"/>
              </a:xfrm>
              <a:prstGeom prst="ellipse">
                <a:avLst/>
              </a:pr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endParaRPr sz="110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2" name="Shape 153">
                <a:extLst>
                  <a:ext uri="{FF2B5EF4-FFF2-40B4-BE49-F238E27FC236}">
                    <a16:creationId xmlns:a16="http://schemas.microsoft.com/office/drawing/2014/main" id="{9AB59A70-4CA3-4D88-A4B2-A60FAB179594}"/>
                  </a:ext>
                </a:extLst>
              </p:cNvPr>
              <p:cNvSpPr txBox="1"/>
              <p:nvPr/>
            </p:nvSpPr>
            <p:spPr>
              <a:xfrm>
                <a:off x="8549501" y="3677441"/>
                <a:ext cx="2371882" cy="4493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algn="ctr"/>
                <a:r>
                  <a:rPr lang="zh-CN" altLang="en-US" sz="1100" b="1" dirty="0">
                    <a:latin typeface="Arial" charset="0"/>
                    <a:ea typeface="Arial" charset="0"/>
                    <a:cs typeface="Arial" charset="0"/>
                  </a:rPr>
                  <a:t>企业网络</a:t>
                </a:r>
                <a:endParaRPr lang="en" sz="1100" b="1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48" name="Group 92">
              <a:extLst>
                <a:ext uri="{FF2B5EF4-FFF2-40B4-BE49-F238E27FC236}">
                  <a16:creationId xmlns:a16="http://schemas.microsoft.com/office/drawing/2014/main" id="{BEEAEFE5-9EC7-4554-9094-AE8122BC5B9A}"/>
                </a:ext>
              </a:extLst>
            </p:cNvPr>
            <p:cNvGrpSpPr/>
            <p:nvPr/>
          </p:nvGrpSpPr>
          <p:grpSpPr>
            <a:xfrm>
              <a:off x="1652700" y="1779900"/>
              <a:ext cx="3094759" cy="2599969"/>
              <a:chOff x="1652700" y="1779900"/>
              <a:chExt cx="3094759" cy="2599969"/>
            </a:xfrm>
          </p:grpSpPr>
          <p:sp>
            <p:nvSpPr>
              <p:cNvPr id="49" name="Shape 148">
                <a:extLst>
                  <a:ext uri="{FF2B5EF4-FFF2-40B4-BE49-F238E27FC236}">
                    <a16:creationId xmlns:a16="http://schemas.microsoft.com/office/drawing/2014/main" id="{B78D63A3-E952-4BE0-BEA8-C7201A2FE700}"/>
                  </a:ext>
                </a:extLst>
              </p:cNvPr>
              <p:cNvSpPr/>
              <p:nvPr/>
            </p:nvSpPr>
            <p:spPr>
              <a:xfrm>
                <a:off x="1652700" y="1779900"/>
                <a:ext cx="3094759" cy="2599969"/>
              </a:xfrm>
              <a:prstGeom prst="ellipse">
                <a:avLst/>
              </a:pr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endParaRPr sz="110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0" name="Shape 154">
                <a:extLst>
                  <a:ext uri="{FF2B5EF4-FFF2-40B4-BE49-F238E27FC236}">
                    <a16:creationId xmlns:a16="http://schemas.microsoft.com/office/drawing/2014/main" id="{CD2B3B02-D775-4C1B-BD3B-1788CD2884D5}"/>
                  </a:ext>
                </a:extLst>
              </p:cNvPr>
              <p:cNvSpPr txBox="1"/>
              <p:nvPr/>
            </p:nvSpPr>
            <p:spPr>
              <a:xfrm>
                <a:off x="2174475" y="3698269"/>
                <a:ext cx="2160100" cy="445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algn="ctr"/>
                <a:r>
                  <a:rPr lang="zh-CN" altLang="en-US" sz="1100" b="1" dirty="0">
                    <a:latin typeface="Arial" charset="0"/>
                    <a:ea typeface="Arial" charset="0"/>
                    <a:cs typeface="Arial" charset="0"/>
                  </a:rPr>
                  <a:t>移动网络</a:t>
                </a:r>
                <a:endParaRPr lang="en" sz="1100" b="1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pic>
        <p:nvPicPr>
          <p:cNvPr id="19" name="Shape 176">
            <a:extLst>
              <a:ext uri="{FF2B5EF4-FFF2-40B4-BE49-F238E27FC236}">
                <a16:creationId xmlns:a16="http://schemas.microsoft.com/office/drawing/2014/main" id="{A6F843B5-C4AB-4DC8-A85E-F35EFE621FB2}"/>
              </a:ext>
            </a:extLst>
          </p:cNvPr>
          <p:cNvPicPr preferRelativeResize="0"/>
          <p:nvPr/>
        </p:nvPicPr>
        <p:blipFill>
          <a:blip r:embed="rId1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239" y="1825608"/>
            <a:ext cx="411805" cy="274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roup 100">
            <a:extLst>
              <a:ext uri="{FF2B5EF4-FFF2-40B4-BE49-F238E27FC236}">
                <a16:creationId xmlns:a16="http://schemas.microsoft.com/office/drawing/2014/main" id="{A61C677A-179C-48E4-843C-CE5E82862AA1}"/>
              </a:ext>
            </a:extLst>
          </p:cNvPr>
          <p:cNvGrpSpPr/>
          <p:nvPr/>
        </p:nvGrpSpPr>
        <p:grpSpPr>
          <a:xfrm>
            <a:off x="1945370" y="1826494"/>
            <a:ext cx="1366538" cy="604632"/>
            <a:chOff x="2148370" y="2041416"/>
            <a:chExt cx="2188906" cy="968494"/>
          </a:xfrm>
        </p:grpSpPr>
        <p:pic>
          <p:nvPicPr>
            <p:cNvPr id="43" name="Shape 150">
              <a:extLst>
                <a:ext uri="{FF2B5EF4-FFF2-40B4-BE49-F238E27FC236}">
                  <a16:creationId xmlns:a16="http://schemas.microsoft.com/office/drawing/2014/main" id="{F9678AB8-6507-4F58-AB82-DD0185D72C19}"/>
                </a:ext>
              </a:extLst>
            </p:cNvPr>
            <p:cNvPicPr preferRelativeResize="0"/>
            <p:nvPr/>
          </p:nvPicPr>
          <p:blipFill>
            <a:blip r:embed="rId12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9186" y="2398843"/>
              <a:ext cx="578090" cy="578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Shape 179">
              <a:extLst>
                <a:ext uri="{FF2B5EF4-FFF2-40B4-BE49-F238E27FC236}">
                  <a16:creationId xmlns:a16="http://schemas.microsoft.com/office/drawing/2014/main" id="{A24860F7-8306-4E24-AA92-BCCD6FE58D17}"/>
                </a:ext>
              </a:extLst>
            </p:cNvPr>
            <p:cNvPicPr preferRelativeResize="0"/>
            <p:nvPr/>
          </p:nvPicPr>
          <p:blipFill>
            <a:blip r:embed="rId1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370" y="2357914"/>
              <a:ext cx="542844" cy="6519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Shape 187">
              <a:extLst>
                <a:ext uri="{FF2B5EF4-FFF2-40B4-BE49-F238E27FC236}">
                  <a16:creationId xmlns:a16="http://schemas.microsoft.com/office/drawing/2014/main" id="{448725D4-B1BA-40B7-B919-9EC9855DD741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7405" y="2041416"/>
              <a:ext cx="874459" cy="8744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" name="Group 109">
            <a:extLst>
              <a:ext uri="{FF2B5EF4-FFF2-40B4-BE49-F238E27FC236}">
                <a16:creationId xmlns:a16="http://schemas.microsoft.com/office/drawing/2014/main" id="{14D53379-6A81-49F7-BDC4-9F94E26034D2}"/>
              </a:ext>
            </a:extLst>
          </p:cNvPr>
          <p:cNvGrpSpPr/>
          <p:nvPr/>
        </p:nvGrpSpPr>
        <p:grpSpPr>
          <a:xfrm>
            <a:off x="4006213" y="2003489"/>
            <a:ext cx="1168952" cy="468274"/>
            <a:chOff x="5449408" y="2324924"/>
            <a:chExt cx="1872415" cy="750077"/>
          </a:xfrm>
        </p:grpSpPr>
        <p:pic>
          <p:nvPicPr>
            <p:cNvPr id="40" name="Shape 157">
              <a:extLst>
                <a:ext uri="{FF2B5EF4-FFF2-40B4-BE49-F238E27FC236}">
                  <a16:creationId xmlns:a16="http://schemas.microsoft.com/office/drawing/2014/main" id="{1C98C0F8-6824-43C9-BC0C-DEF28E2C249A}"/>
                </a:ext>
              </a:extLst>
            </p:cNvPr>
            <p:cNvPicPr preferRelativeResize="0"/>
            <p:nvPr/>
          </p:nvPicPr>
          <p:blipFill>
            <a:blip r:embed="rId15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9408" y="2533311"/>
              <a:ext cx="403699" cy="484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Shape 160">
              <a:extLst>
                <a:ext uri="{FF2B5EF4-FFF2-40B4-BE49-F238E27FC236}">
                  <a16:creationId xmlns:a16="http://schemas.microsoft.com/office/drawing/2014/main" id="{F2C968CF-CED2-4AD2-AD3C-D0EDF196F569}"/>
                </a:ext>
              </a:extLst>
            </p:cNvPr>
            <p:cNvPicPr preferRelativeResize="0"/>
            <p:nvPr/>
          </p:nvPicPr>
          <p:blipFill>
            <a:blip r:embed="rId16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8124" y="2548019"/>
              <a:ext cx="403699" cy="403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Shape 186">
              <a:extLst>
                <a:ext uri="{FF2B5EF4-FFF2-40B4-BE49-F238E27FC236}">
                  <a16:creationId xmlns:a16="http://schemas.microsoft.com/office/drawing/2014/main" id="{55DF1082-C3E4-444F-9F51-41DDC61A12AD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1537" y="2324924"/>
              <a:ext cx="750077" cy="7500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" name="Group 125">
            <a:extLst>
              <a:ext uri="{FF2B5EF4-FFF2-40B4-BE49-F238E27FC236}">
                <a16:creationId xmlns:a16="http://schemas.microsoft.com/office/drawing/2014/main" id="{2351C1F1-8CFE-4676-8D74-5FABE5BF33C8}"/>
              </a:ext>
            </a:extLst>
          </p:cNvPr>
          <p:cNvGrpSpPr/>
          <p:nvPr/>
        </p:nvGrpSpPr>
        <p:grpSpPr>
          <a:xfrm>
            <a:off x="5807035" y="1652051"/>
            <a:ext cx="1669125" cy="699420"/>
            <a:chOff x="8333946" y="1761994"/>
            <a:chExt cx="2673588" cy="1120324"/>
          </a:xfrm>
        </p:grpSpPr>
        <p:pic>
          <p:nvPicPr>
            <p:cNvPr id="37" name="Shape 150">
              <a:extLst>
                <a:ext uri="{FF2B5EF4-FFF2-40B4-BE49-F238E27FC236}">
                  <a16:creationId xmlns:a16="http://schemas.microsoft.com/office/drawing/2014/main" id="{3E0AD489-220A-4920-B1EB-AE68144DA302}"/>
                </a:ext>
              </a:extLst>
            </p:cNvPr>
            <p:cNvPicPr preferRelativeResize="0"/>
            <p:nvPr/>
          </p:nvPicPr>
          <p:blipFill>
            <a:blip r:embed="rId12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7133" y="2143949"/>
              <a:ext cx="660401" cy="6604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Shape 179">
              <a:extLst>
                <a:ext uri="{FF2B5EF4-FFF2-40B4-BE49-F238E27FC236}">
                  <a16:creationId xmlns:a16="http://schemas.microsoft.com/office/drawing/2014/main" id="{599B15A5-4263-41BD-B4DE-28F20D6C304D}"/>
                </a:ext>
              </a:extLst>
            </p:cNvPr>
            <p:cNvPicPr preferRelativeResize="0"/>
            <p:nvPr/>
          </p:nvPicPr>
          <p:blipFill>
            <a:blip r:embed="rId17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3946" y="2104366"/>
              <a:ext cx="647712" cy="7779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Shape 187">
              <a:extLst>
                <a:ext uri="{FF2B5EF4-FFF2-40B4-BE49-F238E27FC236}">
                  <a16:creationId xmlns:a16="http://schemas.microsoft.com/office/drawing/2014/main" id="{7376EB1C-914D-4252-9AA7-1F74348046E2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6776" y="1761994"/>
              <a:ext cx="1021145" cy="10211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" name="Shape 140">
            <a:extLst>
              <a:ext uri="{FF2B5EF4-FFF2-40B4-BE49-F238E27FC236}">
                <a16:creationId xmlns:a16="http://schemas.microsoft.com/office/drawing/2014/main" id="{6874FDA1-6751-43A9-9691-CBD4EAAC26F8}"/>
              </a:ext>
            </a:extLst>
          </p:cNvPr>
          <p:cNvSpPr txBox="1"/>
          <p:nvPr/>
        </p:nvSpPr>
        <p:spPr>
          <a:xfrm>
            <a:off x="180082" y="2223013"/>
            <a:ext cx="1720252" cy="59723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接入网络</a:t>
            </a:r>
            <a:endParaRPr lang="en-US" altLang="zh-CN" dirty="0"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50DC9D1-442D-48C4-9D2E-10F819A72458}"/>
              </a:ext>
            </a:extLst>
          </p:cNvPr>
          <p:cNvGrpSpPr/>
          <p:nvPr/>
        </p:nvGrpSpPr>
        <p:grpSpPr>
          <a:xfrm>
            <a:off x="2769042" y="755610"/>
            <a:ext cx="3064546" cy="1142476"/>
            <a:chOff x="3202077" y="226664"/>
            <a:chExt cx="5352459" cy="1995420"/>
          </a:xfrm>
        </p:grpSpPr>
        <p:pic>
          <p:nvPicPr>
            <p:cNvPr id="32" name="Picture 85">
              <a:extLst>
                <a:ext uri="{FF2B5EF4-FFF2-40B4-BE49-F238E27FC236}">
                  <a16:creationId xmlns:a16="http://schemas.microsoft.com/office/drawing/2014/main" id="{1DD552B6-2A4D-4CAC-8335-E6D7BB47E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2077" y="226664"/>
              <a:ext cx="5352459" cy="1995420"/>
            </a:xfrm>
            <a:prstGeom prst="rect">
              <a:avLst/>
            </a:prstGeom>
          </p:spPr>
        </p:pic>
        <p:pic>
          <p:nvPicPr>
            <p:cNvPr id="33" name="Shape 187">
              <a:extLst>
                <a:ext uri="{FF2B5EF4-FFF2-40B4-BE49-F238E27FC236}">
                  <a16:creationId xmlns:a16="http://schemas.microsoft.com/office/drawing/2014/main" id="{AD495759-A85F-49B9-BA76-88C276E6B2CA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7788" y="492365"/>
              <a:ext cx="980470" cy="9804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Shape 187">
              <a:extLst>
                <a:ext uri="{FF2B5EF4-FFF2-40B4-BE49-F238E27FC236}">
                  <a16:creationId xmlns:a16="http://schemas.microsoft.com/office/drawing/2014/main" id="{9402E246-3A73-4F1F-9F66-12A36BB889BB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4632" y="795330"/>
              <a:ext cx="829988" cy="8299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Shape 187">
              <a:extLst>
                <a:ext uri="{FF2B5EF4-FFF2-40B4-BE49-F238E27FC236}">
                  <a16:creationId xmlns:a16="http://schemas.microsoft.com/office/drawing/2014/main" id="{1F071EFC-8E58-4D39-9DBF-235848D89D0E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1995" y="438857"/>
              <a:ext cx="833874" cy="833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Shape 187">
              <a:extLst>
                <a:ext uri="{FF2B5EF4-FFF2-40B4-BE49-F238E27FC236}">
                  <a16:creationId xmlns:a16="http://schemas.microsoft.com/office/drawing/2014/main" id="{43D6FC23-AF20-4D8A-9C03-841E885B461A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7587" y="722807"/>
              <a:ext cx="827585" cy="82758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650C9C39-55E4-4991-A255-72A5C0FD4D30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916" y="2362471"/>
            <a:ext cx="1163004" cy="62748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479F461-64C4-40E3-80B2-0365E0ED15DA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610" y="2153625"/>
            <a:ext cx="1916896" cy="1034233"/>
          </a:xfrm>
          <a:prstGeom prst="rect">
            <a:avLst/>
          </a:prstGeom>
        </p:spPr>
      </p:pic>
      <p:pic>
        <p:nvPicPr>
          <p:cNvPr id="27" name="Shape 164">
            <a:extLst>
              <a:ext uri="{FF2B5EF4-FFF2-40B4-BE49-F238E27FC236}">
                <a16:creationId xmlns:a16="http://schemas.microsoft.com/office/drawing/2014/main" id="{9E09FB8A-E7B1-4031-8F01-EF2B87120EA3}"/>
              </a:ext>
            </a:extLst>
          </p:cNvPr>
          <p:cNvPicPr preferRelativeResize="0"/>
          <p:nvPr/>
        </p:nvPicPr>
        <p:blipFill>
          <a:blip r:embed="rId2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098" y="2471763"/>
            <a:ext cx="311577" cy="356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roup 14">
            <a:extLst>
              <a:ext uri="{FF2B5EF4-FFF2-40B4-BE49-F238E27FC236}">
                <a16:creationId xmlns:a16="http://schemas.microsoft.com/office/drawing/2014/main" id="{ED038A78-612E-46E1-98CA-B94ACBB05E55}"/>
              </a:ext>
            </a:extLst>
          </p:cNvPr>
          <p:cNvGrpSpPr/>
          <p:nvPr/>
        </p:nvGrpSpPr>
        <p:grpSpPr>
          <a:xfrm>
            <a:off x="1838189" y="2364247"/>
            <a:ext cx="1622547" cy="653185"/>
            <a:chOff x="2439684" y="2950908"/>
            <a:chExt cx="2598979" cy="1046266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4CB1B9C5-EAEE-4761-A2E2-225A6D9EF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9684" y="2950908"/>
              <a:ext cx="1939199" cy="1046266"/>
            </a:xfrm>
            <a:prstGeom prst="rect">
              <a:avLst/>
            </a:prstGeom>
          </p:spPr>
        </p:pic>
        <p:pic>
          <p:nvPicPr>
            <p:cNvPr id="31" name="Picture 13">
              <a:extLst>
                <a:ext uri="{FF2B5EF4-FFF2-40B4-BE49-F238E27FC236}">
                  <a16:creationId xmlns:a16="http://schemas.microsoft.com/office/drawing/2014/main" id="{5F871663-0DD5-4E94-9AE5-570606C16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0546" y="3238736"/>
              <a:ext cx="758117" cy="457397"/>
            </a:xfrm>
            <a:prstGeom prst="rect">
              <a:avLst/>
            </a:prstGeom>
          </p:spPr>
        </p:pic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DC6CFA3-6AD4-4C1E-B657-F1BA31189135}"/>
              </a:ext>
            </a:extLst>
          </p:cNvPr>
          <p:cNvGrpSpPr/>
          <p:nvPr/>
        </p:nvGrpSpPr>
        <p:grpSpPr>
          <a:xfrm>
            <a:off x="3124828" y="3373213"/>
            <a:ext cx="2407608" cy="1163167"/>
            <a:chOff x="3413302" y="3581200"/>
            <a:chExt cx="2407608" cy="1163167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FB28A1E6-44AF-4754-9681-A71266DAE77F}"/>
                </a:ext>
              </a:extLst>
            </p:cNvPr>
            <p:cNvGrpSpPr/>
            <p:nvPr/>
          </p:nvGrpSpPr>
          <p:grpSpPr>
            <a:xfrm>
              <a:off x="4356137" y="3581200"/>
              <a:ext cx="1464773" cy="1163167"/>
              <a:chOff x="4356137" y="3581200"/>
              <a:chExt cx="1464773" cy="1163167"/>
            </a:xfrm>
          </p:grpSpPr>
          <p:pic>
            <p:nvPicPr>
              <p:cNvPr id="67" name="Picture 166">
                <a:extLst>
                  <a:ext uri="{FF2B5EF4-FFF2-40B4-BE49-F238E27FC236}">
                    <a16:creationId xmlns:a16="http://schemas.microsoft.com/office/drawing/2014/main" id="{255890DD-BF3C-4453-848F-D818761B1F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56137" y="3581200"/>
                <a:ext cx="929705" cy="562326"/>
              </a:xfrm>
              <a:prstGeom prst="rect">
                <a:avLst/>
              </a:prstGeom>
            </p:spPr>
          </p:pic>
          <p:pic>
            <p:nvPicPr>
              <p:cNvPr id="2050" name="Picture 2" descr="Traffic signal on a white background Royalty Free Vector">
                <a:extLst>
                  <a:ext uri="{FF2B5EF4-FFF2-40B4-BE49-F238E27FC236}">
                    <a16:creationId xmlns:a16="http://schemas.microsoft.com/office/drawing/2014/main" id="{BAB6426F-F138-451F-A233-F8BA4413FF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384" t="11427" r="33835" b="9849"/>
              <a:stretch/>
            </p:blipFill>
            <p:spPr bwMode="auto">
              <a:xfrm>
                <a:off x="5399776" y="3581200"/>
                <a:ext cx="421134" cy="1163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2" name="Picture 4" descr="Premium Vector | Set of blank road signs on white background">
                <a:extLst>
                  <a:ext uri="{FF2B5EF4-FFF2-40B4-BE49-F238E27FC236}">
                    <a16:creationId xmlns:a16="http://schemas.microsoft.com/office/drawing/2014/main" id="{1500A6E2-FC09-41BA-8C3F-1DA3AD1252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56546" y="4209636"/>
                <a:ext cx="929837" cy="5347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0" name="Shape 190">
              <a:extLst>
                <a:ext uri="{FF2B5EF4-FFF2-40B4-BE49-F238E27FC236}">
                  <a16:creationId xmlns:a16="http://schemas.microsoft.com/office/drawing/2014/main" id="{DEE0364B-DF7D-4903-8255-53BEEEFE86F9}"/>
                </a:ext>
              </a:extLst>
            </p:cNvPr>
            <p:cNvSpPr txBox="1"/>
            <p:nvPr/>
          </p:nvSpPr>
          <p:spPr>
            <a:xfrm>
              <a:off x="3413302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道路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设施</a:t>
              </a:r>
              <a:endParaRPr lang="en-US" altLang="zh-CN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006FEC12-75A0-4D0A-8B35-390CB0D11F3E}"/>
              </a:ext>
            </a:extLst>
          </p:cNvPr>
          <p:cNvSpPr txBox="1"/>
          <p:nvPr/>
        </p:nvSpPr>
        <p:spPr>
          <a:xfrm>
            <a:off x="8179240" y="2304132"/>
            <a:ext cx="713810" cy="646331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</a:rPr>
              <a:t>射频</a:t>
            </a:r>
            <a:br>
              <a:rPr lang="en-US" altLang="zh-CN" sz="1800" b="1" dirty="0">
                <a:solidFill>
                  <a:schemeClr val="bg1"/>
                </a:solidFill>
              </a:rPr>
            </a:br>
            <a:r>
              <a:rPr lang="zh-CN" altLang="en-US" sz="1800" b="1" dirty="0">
                <a:solidFill>
                  <a:schemeClr val="bg1"/>
                </a:solidFill>
              </a:rPr>
              <a:t>技术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80529A-1080-462C-881B-E3C0F519D30B}"/>
              </a:ext>
            </a:extLst>
          </p:cNvPr>
          <p:cNvSpPr/>
          <p:nvPr/>
        </p:nvSpPr>
        <p:spPr>
          <a:xfrm>
            <a:off x="450056" y="719956"/>
            <a:ext cx="7650906" cy="396044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 descr="https://static-beesseek.oss-cn-hangzhou.aliyuncs.com/forum/202307/18/172117d1ytg2yuytr0toa5.jpg">
            <a:extLst>
              <a:ext uri="{FF2B5EF4-FFF2-40B4-BE49-F238E27FC236}">
                <a16:creationId xmlns:a16="http://schemas.microsoft.com/office/drawing/2014/main" id="{20AB1D11-28A7-4868-BF90-6010A85A2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13" y="1139434"/>
            <a:ext cx="4196008" cy="2975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内容占位符 2">
            <a:extLst>
              <a:ext uri="{FF2B5EF4-FFF2-40B4-BE49-F238E27FC236}">
                <a16:creationId xmlns:a16="http://schemas.microsoft.com/office/drawing/2014/main" id="{52F0F7F8-9442-4108-A7B0-0E4F8D4D6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466" y="791964"/>
            <a:ext cx="3498774" cy="3710483"/>
          </a:xfrm>
        </p:spPr>
        <p:txBody>
          <a:bodyPr>
            <a:normAutofit/>
          </a:bodyPr>
          <a:lstStyle/>
          <a:p>
            <a:r>
              <a:rPr lang="zh-CN" altLang="en-US" sz="1800" dirty="0">
                <a:cs typeface="Arial" panose="020B0604020202020204" pitchFamily="34" charset="0"/>
              </a:rPr>
              <a:t>更多的接入设备通常需要更宽的无线电频谱</a:t>
            </a:r>
            <a:endParaRPr lang="en-US" altLang="zh-CN" sz="1800" dirty="0">
              <a:cs typeface="Arial" panose="020B0604020202020204" pitchFamily="34" charset="0"/>
            </a:endParaRPr>
          </a:p>
          <a:p>
            <a:pPr lvl="1"/>
            <a:r>
              <a:rPr lang="zh-CN" altLang="en-US" sz="1400" dirty="0">
                <a:cs typeface="Arial" panose="020B0604020202020204" pitchFamily="34" charset="0"/>
              </a:rPr>
              <a:t>多址接入技术（如频分复用、码分多址）等通常需要更宽的频谱以支持更多用户接入</a:t>
            </a:r>
            <a:endParaRPr lang="en-US" altLang="zh-CN" sz="1400" dirty="0">
              <a:cs typeface="Arial" panose="020B0604020202020204" pitchFamily="34" charset="0"/>
            </a:endParaRPr>
          </a:p>
          <a:p>
            <a:pPr lvl="1"/>
            <a:endParaRPr lang="en-US" altLang="zh-CN" sz="1400" dirty="0">
              <a:cs typeface="Arial" panose="020B0604020202020204" pitchFamily="34" charset="0"/>
            </a:endParaRP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19403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1E88B-92A3-465D-BC4C-7837EF20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如何连接</a:t>
            </a:r>
            <a:r>
              <a:rPr lang="en-US" altLang="zh-CN" dirty="0"/>
              <a:t>1</a:t>
            </a:r>
            <a:r>
              <a:rPr lang="zh-CN" altLang="en-US" dirty="0"/>
              <a:t>万亿设备？</a:t>
            </a: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CDCD4FA-9E83-4ECF-9F12-92BB4E1ECC9F}"/>
              </a:ext>
            </a:extLst>
          </p:cNvPr>
          <p:cNvGrpSpPr/>
          <p:nvPr/>
        </p:nvGrpSpPr>
        <p:grpSpPr>
          <a:xfrm>
            <a:off x="702196" y="3373213"/>
            <a:ext cx="2212313" cy="1163167"/>
            <a:chOff x="653217" y="3581200"/>
            <a:chExt cx="2212313" cy="1163167"/>
          </a:xfrm>
        </p:grpSpPr>
        <p:sp>
          <p:nvSpPr>
            <p:cNvPr id="73" name="Shape 188">
              <a:extLst>
                <a:ext uri="{FF2B5EF4-FFF2-40B4-BE49-F238E27FC236}">
                  <a16:creationId xmlns:a16="http://schemas.microsoft.com/office/drawing/2014/main" id="{B7C77777-F9A6-4B3D-B571-85CC155BF536}"/>
                </a:ext>
              </a:extLst>
            </p:cNvPr>
            <p:cNvSpPr txBox="1"/>
            <p:nvPr/>
          </p:nvSpPr>
          <p:spPr>
            <a:xfrm>
              <a:off x="653217" y="3877037"/>
              <a:ext cx="858057" cy="60887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物联网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A10DC0A9-C9F0-40BA-A3CC-04A5B68321C9}"/>
                </a:ext>
              </a:extLst>
            </p:cNvPr>
            <p:cNvGrpSpPr/>
            <p:nvPr/>
          </p:nvGrpSpPr>
          <p:grpSpPr>
            <a:xfrm>
              <a:off x="1666064" y="3581200"/>
              <a:ext cx="1199466" cy="1163167"/>
              <a:chOff x="1666064" y="3581200"/>
              <a:chExt cx="1199466" cy="1163167"/>
            </a:xfrm>
          </p:grpSpPr>
          <p:pic>
            <p:nvPicPr>
              <p:cNvPr id="70" name="Shape 155">
                <a:extLst>
                  <a:ext uri="{FF2B5EF4-FFF2-40B4-BE49-F238E27FC236}">
                    <a16:creationId xmlns:a16="http://schemas.microsoft.com/office/drawing/2014/main" id="{5252672F-C2C4-4B3D-8DD7-075B6A16918E}"/>
                  </a:ext>
                </a:extLst>
              </p:cNvPr>
              <p:cNvPicPr preferRelativeResize="0"/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66064" y="4252669"/>
                <a:ext cx="491698" cy="4916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" name="Shape 183">
                <a:extLst>
                  <a:ext uri="{FF2B5EF4-FFF2-40B4-BE49-F238E27FC236}">
                    <a16:creationId xmlns:a16="http://schemas.microsoft.com/office/drawing/2014/main" id="{AEE794D1-32D2-45C7-BD06-C67A31132945}"/>
                  </a:ext>
                </a:extLst>
              </p:cNvPr>
              <p:cNvPicPr preferRelativeResize="0"/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3001" y="4274276"/>
                <a:ext cx="452529" cy="4700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" name="Shape 185">
                <a:extLst>
                  <a:ext uri="{FF2B5EF4-FFF2-40B4-BE49-F238E27FC236}">
                    <a16:creationId xmlns:a16="http://schemas.microsoft.com/office/drawing/2014/main" id="{6541684C-37BF-4216-AF2E-0B358436E906}"/>
                  </a:ext>
                </a:extLst>
              </p:cNvPr>
              <p:cNvPicPr preferRelativeResize="0"/>
              <p:nvPr/>
            </p:nvPicPr>
            <p:blipFill>
              <a:blip r:embed="rId4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96868" y="3581200"/>
                <a:ext cx="425116" cy="5106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" name="Picture 158">
                <a:extLst>
                  <a:ext uri="{FF2B5EF4-FFF2-40B4-BE49-F238E27FC236}">
                    <a16:creationId xmlns:a16="http://schemas.microsoft.com/office/drawing/2014/main" id="{DA9F376E-4B6D-4F2B-83FC-45DC057678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74419" y="3581200"/>
                <a:ext cx="684144" cy="448114"/>
              </a:xfrm>
              <a:prstGeom prst="rect">
                <a:avLst/>
              </a:prstGeom>
            </p:spPr>
          </p:pic>
        </p:grp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C213362-D4C9-4EBD-8AC2-7ADA6ADA4A8D}"/>
              </a:ext>
            </a:extLst>
          </p:cNvPr>
          <p:cNvGrpSpPr/>
          <p:nvPr/>
        </p:nvGrpSpPr>
        <p:grpSpPr>
          <a:xfrm>
            <a:off x="5742756" y="3373213"/>
            <a:ext cx="2268209" cy="1163167"/>
            <a:chOff x="6048777" y="3581200"/>
            <a:chExt cx="2268209" cy="1163167"/>
          </a:xfrm>
        </p:grpSpPr>
        <p:sp>
          <p:nvSpPr>
            <p:cNvPr id="60" name="Shape 190">
              <a:extLst>
                <a:ext uri="{FF2B5EF4-FFF2-40B4-BE49-F238E27FC236}">
                  <a16:creationId xmlns:a16="http://schemas.microsoft.com/office/drawing/2014/main" id="{30F22D1D-79EE-4ABA-A320-C3BD58561E6F}"/>
                </a:ext>
              </a:extLst>
            </p:cNvPr>
            <p:cNvSpPr txBox="1"/>
            <p:nvPr/>
          </p:nvSpPr>
          <p:spPr>
            <a:xfrm>
              <a:off x="6048777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移动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7EC2F674-3C72-49EA-993B-C4BBE8F53B70}"/>
                </a:ext>
              </a:extLst>
            </p:cNvPr>
            <p:cNvGrpSpPr/>
            <p:nvPr/>
          </p:nvGrpSpPr>
          <p:grpSpPr>
            <a:xfrm>
              <a:off x="6920466" y="3581200"/>
              <a:ext cx="1396520" cy="1163167"/>
              <a:chOff x="6920466" y="3581200"/>
              <a:chExt cx="1396520" cy="1163167"/>
            </a:xfrm>
          </p:grpSpPr>
          <p:pic>
            <p:nvPicPr>
              <p:cNvPr id="62" name="Picture 133">
                <a:extLst>
                  <a:ext uri="{FF2B5EF4-FFF2-40B4-BE49-F238E27FC236}">
                    <a16:creationId xmlns:a16="http://schemas.microsoft.com/office/drawing/2014/main" id="{4202EB84-4797-4F47-A239-3C270D23C3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0466" y="3581200"/>
                <a:ext cx="460416" cy="623791"/>
              </a:xfrm>
              <a:prstGeom prst="rect">
                <a:avLst/>
              </a:prstGeom>
            </p:spPr>
          </p:pic>
          <p:pic>
            <p:nvPicPr>
              <p:cNvPr id="63" name="Picture 135">
                <a:extLst>
                  <a:ext uri="{FF2B5EF4-FFF2-40B4-BE49-F238E27FC236}">
                    <a16:creationId xmlns:a16="http://schemas.microsoft.com/office/drawing/2014/main" id="{9ED241D1-5C3A-45E5-BB8E-2497A90C89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865775" y="4215483"/>
                <a:ext cx="432980" cy="528884"/>
              </a:xfrm>
              <a:prstGeom prst="rect">
                <a:avLst/>
              </a:prstGeom>
            </p:spPr>
          </p:pic>
          <p:pic>
            <p:nvPicPr>
              <p:cNvPr id="64" name="Picture 136">
                <a:extLst>
                  <a:ext uri="{FF2B5EF4-FFF2-40B4-BE49-F238E27FC236}">
                    <a16:creationId xmlns:a16="http://schemas.microsoft.com/office/drawing/2014/main" id="{583047E8-0512-430C-881E-B742D23B22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03096" y="3581200"/>
                <a:ext cx="813890" cy="360109"/>
              </a:xfrm>
              <a:prstGeom prst="rect">
                <a:avLst/>
              </a:prstGeom>
            </p:spPr>
          </p:pic>
          <p:pic>
            <p:nvPicPr>
              <p:cNvPr id="65" name="Picture 137">
                <a:extLst>
                  <a:ext uri="{FF2B5EF4-FFF2-40B4-BE49-F238E27FC236}">
                    <a16:creationId xmlns:a16="http://schemas.microsoft.com/office/drawing/2014/main" id="{8FC51046-5E59-4BB0-A79C-9A9C5A5799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5806" y="4237991"/>
                <a:ext cx="712101" cy="506376"/>
              </a:xfrm>
              <a:prstGeom prst="rect">
                <a:avLst/>
              </a:prstGeom>
            </p:spPr>
          </p:pic>
        </p:grp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F645107E-5A1F-43AC-94E0-FAFEFCC5570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372" y="2225091"/>
            <a:ext cx="1641324" cy="885551"/>
          </a:xfrm>
          <a:prstGeom prst="rect">
            <a:avLst/>
          </a:prstGeom>
        </p:spPr>
      </p:pic>
      <p:sp>
        <p:nvSpPr>
          <p:cNvPr id="15" name="Shape 140">
            <a:extLst>
              <a:ext uri="{FF2B5EF4-FFF2-40B4-BE49-F238E27FC236}">
                <a16:creationId xmlns:a16="http://schemas.microsoft.com/office/drawing/2014/main" id="{B76951F3-F700-4731-BAB9-590743B1E632}"/>
              </a:ext>
            </a:extLst>
          </p:cNvPr>
          <p:cNvSpPr txBox="1"/>
          <p:nvPr/>
        </p:nvSpPr>
        <p:spPr>
          <a:xfrm>
            <a:off x="476789" y="1043554"/>
            <a:ext cx="2193505" cy="48330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骨干网与云服务</a:t>
            </a:r>
            <a:endParaRPr lang="en-US" altLang="zh-CN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6" name="Shape 141">
            <a:extLst>
              <a:ext uri="{FF2B5EF4-FFF2-40B4-BE49-F238E27FC236}">
                <a16:creationId xmlns:a16="http://schemas.microsoft.com/office/drawing/2014/main" id="{DF343CA8-3287-4452-A95A-909EFE0127F3}"/>
              </a:ext>
            </a:extLst>
          </p:cNvPr>
          <p:cNvPicPr preferRelativeResize="0"/>
          <p:nvPr/>
        </p:nvPicPr>
        <p:blipFill>
          <a:blip r:embed="rId1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653" y="1787606"/>
            <a:ext cx="411805" cy="274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Shape 142">
            <a:extLst>
              <a:ext uri="{FF2B5EF4-FFF2-40B4-BE49-F238E27FC236}">
                <a16:creationId xmlns:a16="http://schemas.microsoft.com/office/drawing/2014/main" id="{F00B6AA6-C698-4AF4-8172-6CADA4B7B517}"/>
              </a:ext>
            </a:extLst>
          </p:cNvPr>
          <p:cNvPicPr preferRelativeResize="0"/>
          <p:nvPr/>
        </p:nvPicPr>
        <p:blipFill>
          <a:blip r:embed="rId1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704" y="1544261"/>
            <a:ext cx="411805" cy="274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roup 89">
            <a:extLst>
              <a:ext uri="{FF2B5EF4-FFF2-40B4-BE49-F238E27FC236}">
                <a16:creationId xmlns:a16="http://schemas.microsoft.com/office/drawing/2014/main" id="{DBEDCD6A-0DA4-4DB1-82EA-C8AEB211914F}"/>
              </a:ext>
            </a:extLst>
          </p:cNvPr>
          <p:cNvGrpSpPr/>
          <p:nvPr/>
        </p:nvGrpSpPr>
        <p:grpSpPr>
          <a:xfrm>
            <a:off x="1661294" y="1523501"/>
            <a:ext cx="6351357" cy="1762893"/>
            <a:chOff x="1652700" y="1556084"/>
            <a:chExt cx="10173540" cy="2823785"/>
          </a:xfrm>
        </p:grpSpPr>
        <p:grpSp>
          <p:nvGrpSpPr>
            <p:cNvPr id="46" name="Group 90">
              <a:extLst>
                <a:ext uri="{FF2B5EF4-FFF2-40B4-BE49-F238E27FC236}">
                  <a16:creationId xmlns:a16="http://schemas.microsoft.com/office/drawing/2014/main" id="{90A82EDA-2897-4A13-95E7-85470D1E11C5}"/>
                </a:ext>
              </a:extLst>
            </p:cNvPr>
            <p:cNvGrpSpPr/>
            <p:nvPr/>
          </p:nvGrpSpPr>
          <p:grpSpPr>
            <a:xfrm>
              <a:off x="4839980" y="2243052"/>
              <a:ext cx="2974270" cy="2063747"/>
              <a:chOff x="4839980" y="2243052"/>
              <a:chExt cx="2974270" cy="2063747"/>
            </a:xfrm>
          </p:grpSpPr>
          <p:sp>
            <p:nvSpPr>
              <p:cNvPr id="53" name="Shape 139">
                <a:extLst>
                  <a:ext uri="{FF2B5EF4-FFF2-40B4-BE49-F238E27FC236}">
                    <a16:creationId xmlns:a16="http://schemas.microsoft.com/office/drawing/2014/main" id="{81557118-9140-4C73-BDA6-56714DD707C1}"/>
                  </a:ext>
                </a:extLst>
              </p:cNvPr>
              <p:cNvSpPr/>
              <p:nvPr/>
            </p:nvSpPr>
            <p:spPr>
              <a:xfrm>
                <a:off x="4839980" y="2243052"/>
                <a:ext cx="2974270" cy="2063747"/>
              </a:xfrm>
              <a:prstGeom prst="ellipse">
                <a:avLst/>
              </a:pr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endParaRPr sz="110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4" name="Shape 152">
                <a:extLst>
                  <a:ext uri="{FF2B5EF4-FFF2-40B4-BE49-F238E27FC236}">
                    <a16:creationId xmlns:a16="http://schemas.microsoft.com/office/drawing/2014/main" id="{E04FFE8A-6527-4AD9-8BB2-83025354E365}"/>
                  </a:ext>
                </a:extLst>
              </p:cNvPr>
              <p:cNvSpPr txBox="1"/>
              <p:nvPr/>
            </p:nvSpPr>
            <p:spPr>
              <a:xfrm>
                <a:off x="5393656" y="3683856"/>
                <a:ext cx="1953279" cy="5025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algn="ctr"/>
                <a:r>
                  <a:rPr lang="zh-CN" altLang="en-US" sz="1100" b="1" dirty="0">
                    <a:latin typeface="Arial" charset="0"/>
                    <a:ea typeface="Arial" charset="0"/>
                    <a:cs typeface="Arial" charset="0"/>
                  </a:rPr>
                  <a:t>区域网络</a:t>
                </a:r>
                <a:endParaRPr lang="en" sz="1100" b="1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47" name="Group 91">
              <a:extLst>
                <a:ext uri="{FF2B5EF4-FFF2-40B4-BE49-F238E27FC236}">
                  <a16:creationId xmlns:a16="http://schemas.microsoft.com/office/drawing/2014/main" id="{BC16D2D3-C6BA-4D3F-AEC0-86064A9D477C}"/>
                </a:ext>
              </a:extLst>
            </p:cNvPr>
            <p:cNvGrpSpPr/>
            <p:nvPr/>
          </p:nvGrpSpPr>
          <p:grpSpPr>
            <a:xfrm>
              <a:off x="7575080" y="1556084"/>
              <a:ext cx="4251160" cy="2788541"/>
              <a:chOff x="7575080" y="1556084"/>
              <a:chExt cx="4251160" cy="2788541"/>
            </a:xfrm>
          </p:grpSpPr>
          <p:sp>
            <p:nvSpPr>
              <p:cNvPr id="51" name="Shape 145">
                <a:extLst>
                  <a:ext uri="{FF2B5EF4-FFF2-40B4-BE49-F238E27FC236}">
                    <a16:creationId xmlns:a16="http://schemas.microsoft.com/office/drawing/2014/main" id="{8770414C-88D8-44D6-857B-1B5279E4E742}"/>
                  </a:ext>
                </a:extLst>
              </p:cNvPr>
              <p:cNvSpPr/>
              <p:nvPr/>
            </p:nvSpPr>
            <p:spPr>
              <a:xfrm>
                <a:off x="7575080" y="1556084"/>
                <a:ext cx="4251160" cy="2788541"/>
              </a:xfrm>
              <a:prstGeom prst="ellipse">
                <a:avLst/>
              </a:pr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endParaRPr sz="110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2" name="Shape 153">
                <a:extLst>
                  <a:ext uri="{FF2B5EF4-FFF2-40B4-BE49-F238E27FC236}">
                    <a16:creationId xmlns:a16="http://schemas.microsoft.com/office/drawing/2014/main" id="{9AB59A70-4CA3-4D88-A4B2-A60FAB179594}"/>
                  </a:ext>
                </a:extLst>
              </p:cNvPr>
              <p:cNvSpPr txBox="1"/>
              <p:nvPr/>
            </p:nvSpPr>
            <p:spPr>
              <a:xfrm>
                <a:off x="8549501" y="3677441"/>
                <a:ext cx="2371882" cy="4493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algn="ctr"/>
                <a:r>
                  <a:rPr lang="zh-CN" altLang="en-US" sz="1100" b="1" dirty="0">
                    <a:latin typeface="Arial" charset="0"/>
                    <a:ea typeface="Arial" charset="0"/>
                    <a:cs typeface="Arial" charset="0"/>
                  </a:rPr>
                  <a:t>企业网络</a:t>
                </a:r>
                <a:endParaRPr lang="en" sz="1100" b="1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48" name="Group 92">
              <a:extLst>
                <a:ext uri="{FF2B5EF4-FFF2-40B4-BE49-F238E27FC236}">
                  <a16:creationId xmlns:a16="http://schemas.microsoft.com/office/drawing/2014/main" id="{BEEAEFE5-9EC7-4554-9094-AE8122BC5B9A}"/>
                </a:ext>
              </a:extLst>
            </p:cNvPr>
            <p:cNvGrpSpPr/>
            <p:nvPr/>
          </p:nvGrpSpPr>
          <p:grpSpPr>
            <a:xfrm>
              <a:off x="1652700" y="1779900"/>
              <a:ext cx="3094759" cy="2599969"/>
              <a:chOff x="1652700" y="1779900"/>
              <a:chExt cx="3094759" cy="2599969"/>
            </a:xfrm>
          </p:grpSpPr>
          <p:sp>
            <p:nvSpPr>
              <p:cNvPr id="49" name="Shape 148">
                <a:extLst>
                  <a:ext uri="{FF2B5EF4-FFF2-40B4-BE49-F238E27FC236}">
                    <a16:creationId xmlns:a16="http://schemas.microsoft.com/office/drawing/2014/main" id="{B78D63A3-E952-4BE0-BEA8-C7201A2FE700}"/>
                  </a:ext>
                </a:extLst>
              </p:cNvPr>
              <p:cNvSpPr/>
              <p:nvPr/>
            </p:nvSpPr>
            <p:spPr>
              <a:xfrm>
                <a:off x="1652700" y="1779900"/>
                <a:ext cx="3094759" cy="2599969"/>
              </a:xfrm>
              <a:prstGeom prst="ellipse">
                <a:avLst/>
              </a:pr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endParaRPr sz="110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0" name="Shape 154">
                <a:extLst>
                  <a:ext uri="{FF2B5EF4-FFF2-40B4-BE49-F238E27FC236}">
                    <a16:creationId xmlns:a16="http://schemas.microsoft.com/office/drawing/2014/main" id="{CD2B3B02-D775-4C1B-BD3B-1788CD2884D5}"/>
                  </a:ext>
                </a:extLst>
              </p:cNvPr>
              <p:cNvSpPr txBox="1"/>
              <p:nvPr/>
            </p:nvSpPr>
            <p:spPr>
              <a:xfrm>
                <a:off x="2174475" y="3698269"/>
                <a:ext cx="2160100" cy="445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algn="ctr"/>
                <a:r>
                  <a:rPr lang="zh-CN" altLang="en-US" sz="1100" b="1" dirty="0">
                    <a:latin typeface="Arial" charset="0"/>
                    <a:ea typeface="Arial" charset="0"/>
                    <a:cs typeface="Arial" charset="0"/>
                  </a:rPr>
                  <a:t>移动网络</a:t>
                </a:r>
                <a:endParaRPr lang="en" sz="1100" b="1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pic>
        <p:nvPicPr>
          <p:cNvPr id="19" name="Shape 176">
            <a:extLst>
              <a:ext uri="{FF2B5EF4-FFF2-40B4-BE49-F238E27FC236}">
                <a16:creationId xmlns:a16="http://schemas.microsoft.com/office/drawing/2014/main" id="{A6F843B5-C4AB-4DC8-A85E-F35EFE621FB2}"/>
              </a:ext>
            </a:extLst>
          </p:cNvPr>
          <p:cNvPicPr preferRelativeResize="0"/>
          <p:nvPr/>
        </p:nvPicPr>
        <p:blipFill>
          <a:blip r:embed="rId1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239" y="1825608"/>
            <a:ext cx="411805" cy="274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roup 100">
            <a:extLst>
              <a:ext uri="{FF2B5EF4-FFF2-40B4-BE49-F238E27FC236}">
                <a16:creationId xmlns:a16="http://schemas.microsoft.com/office/drawing/2014/main" id="{A61C677A-179C-48E4-843C-CE5E82862AA1}"/>
              </a:ext>
            </a:extLst>
          </p:cNvPr>
          <p:cNvGrpSpPr/>
          <p:nvPr/>
        </p:nvGrpSpPr>
        <p:grpSpPr>
          <a:xfrm>
            <a:off x="1945370" y="1826494"/>
            <a:ext cx="1366538" cy="604632"/>
            <a:chOff x="2148370" y="2041416"/>
            <a:chExt cx="2188906" cy="968494"/>
          </a:xfrm>
        </p:grpSpPr>
        <p:pic>
          <p:nvPicPr>
            <p:cNvPr id="43" name="Shape 150">
              <a:extLst>
                <a:ext uri="{FF2B5EF4-FFF2-40B4-BE49-F238E27FC236}">
                  <a16:creationId xmlns:a16="http://schemas.microsoft.com/office/drawing/2014/main" id="{F9678AB8-6507-4F58-AB82-DD0185D72C19}"/>
                </a:ext>
              </a:extLst>
            </p:cNvPr>
            <p:cNvPicPr preferRelativeResize="0"/>
            <p:nvPr/>
          </p:nvPicPr>
          <p:blipFill>
            <a:blip r:embed="rId12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9186" y="2398843"/>
              <a:ext cx="578090" cy="578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Shape 179">
              <a:extLst>
                <a:ext uri="{FF2B5EF4-FFF2-40B4-BE49-F238E27FC236}">
                  <a16:creationId xmlns:a16="http://schemas.microsoft.com/office/drawing/2014/main" id="{A24860F7-8306-4E24-AA92-BCCD6FE58D17}"/>
                </a:ext>
              </a:extLst>
            </p:cNvPr>
            <p:cNvPicPr preferRelativeResize="0"/>
            <p:nvPr/>
          </p:nvPicPr>
          <p:blipFill>
            <a:blip r:embed="rId1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370" y="2357914"/>
              <a:ext cx="542844" cy="6519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Shape 187">
              <a:extLst>
                <a:ext uri="{FF2B5EF4-FFF2-40B4-BE49-F238E27FC236}">
                  <a16:creationId xmlns:a16="http://schemas.microsoft.com/office/drawing/2014/main" id="{448725D4-B1BA-40B7-B919-9EC9855DD741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7405" y="2041416"/>
              <a:ext cx="874459" cy="8744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" name="Group 109">
            <a:extLst>
              <a:ext uri="{FF2B5EF4-FFF2-40B4-BE49-F238E27FC236}">
                <a16:creationId xmlns:a16="http://schemas.microsoft.com/office/drawing/2014/main" id="{14D53379-6A81-49F7-BDC4-9F94E26034D2}"/>
              </a:ext>
            </a:extLst>
          </p:cNvPr>
          <p:cNvGrpSpPr/>
          <p:nvPr/>
        </p:nvGrpSpPr>
        <p:grpSpPr>
          <a:xfrm>
            <a:off x="4006213" y="2003489"/>
            <a:ext cx="1168952" cy="468274"/>
            <a:chOff x="5449408" y="2324924"/>
            <a:chExt cx="1872415" cy="750077"/>
          </a:xfrm>
        </p:grpSpPr>
        <p:pic>
          <p:nvPicPr>
            <p:cNvPr id="40" name="Shape 157">
              <a:extLst>
                <a:ext uri="{FF2B5EF4-FFF2-40B4-BE49-F238E27FC236}">
                  <a16:creationId xmlns:a16="http://schemas.microsoft.com/office/drawing/2014/main" id="{1C98C0F8-6824-43C9-BC0C-DEF28E2C249A}"/>
                </a:ext>
              </a:extLst>
            </p:cNvPr>
            <p:cNvPicPr preferRelativeResize="0"/>
            <p:nvPr/>
          </p:nvPicPr>
          <p:blipFill>
            <a:blip r:embed="rId15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9408" y="2533311"/>
              <a:ext cx="403699" cy="484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Shape 160">
              <a:extLst>
                <a:ext uri="{FF2B5EF4-FFF2-40B4-BE49-F238E27FC236}">
                  <a16:creationId xmlns:a16="http://schemas.microsoft.com/office/drawing/2014/main" id="{F2C968CF-CED2-4AD2-AD3C-D0EDF196F569}"/>
                </a:ext>
              </a:extLst>
            </p:cNvPr>
            <p:cNvPicPr preferRelativeResize="0"/>
            <p:nvPr/>
          </p:nvPicPr>
          <p:blipFill>
            <a:blip r:embed="rId16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8124" y="2548019"/>
              <a:ext cx="403699" cy="403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Shape 186">
              <a:extLst>
                <a:ext uri="{FF2B5EF4-FFF2-40B4-BE49-F238E27FC236}">
                  <a16:creationId xmlns:a16="http://schemas.microsoft.com/office/drawing/2014/main" id="{55DF1082-C3E4-444F-9F51-41DDC61A12AD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1537" y="2324924"/>
              <a:ext cx="750077" cy="7500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" name="Group 125">
            <a:extLst>
              <a:ext uri="{FF2B5EF4-FFF2-40B4-BE49-F238E27FC236}">
                <a16:creationId xmlns:a16="http://schemas.microsoft.com/office/drawing/2014/main" id="{2351C1F1-8CFE-4676-8D74-5FABE5BF33C8}"/>
              </a:ext>
            </a:extLst>
          </p:cNvPr>
          <p:cNvGrpSpPr/>
          <p:nvPr/>
        </p:nvGrpSpPr>
        <p:grpSpPr>
          <a:xfrm>
            <a:off x="5807035" y="1652051"/>
            <a:ext cx="1669125" cy="699420"/>
            <a:chOff x="8333946" y="1761994"/>
            <a:chExt cx="2673588" cy="1120324"/>
          </a:xfrm>
        </p:grpSpPr>
        <p:pic>
          <p:nvPicPr>
            <p:cNvPr id="37" name="Shape 150">
              <a:extLst>
                <a:ext uri="{FF2B5EF4-FFF2-40B4-BE49-F238E27FC236}">
                  <a16:creationId xmlns:a16="http://schemas.microsoft.com/office/drawing/2014/main" id="{3E0AD489-220A-4920-B1EB-AE68144DA302}"/>
                </a:ext>
              </a:extLst>
            </p:cNvPr>
            <p:cNvPicPr preferRelativeResize="0"/>
            <p:nvPr/>
          </p:nvPicPr>
          <p:blipFill>
            <a:blip r:embed="rId12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7133" y="2143949"/>
              <a:ext cx="660401" cy="6604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Shape 179">
              <a:extLst>
                <a:ext uri="{FF2B5EF4-FFF2-40B4-BE49-F238E27FC236}">
                  <a16:creationId xmlns:a16="http://schemas.microsoft.com/office/drawing/2014/main" id="{599B15A5-4263-41BD-B4DE-28F20D6C304D}"/>
                </a:ext>
              </a:extLst>
            </p:cNvPr>
            <p:cNvPicPr preferRelativeResize="0"/>
            <p:nvPr/>
          </p:nvPicPr>
          <p:blipFill>
            <a:blip r:embed="rId17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3946" y="2104366"/>
              <a:ext cx="647712" cy="7779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Shape 187">
              <a:extLst>
                <a:ext uri="{FF2B5EF4-FFF2-40B4-BE49-F238E27FC236}">
                  <a16:creationId xmlns:a16="http://schemas.microsoft.com/office/drawing/2014/main" id="{7376EB1C-914D-4252-9AA7-1F74348046E2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6776" y="1761994"/>
              <a:ext cx="1021145" cy="10211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" name="Shape 140">
            <a:extLst>
              <a:ext uri="{FF2B5EF4-FFF2-40B4-BE49-F238E27FC236}">
                <a16:creationId xmlns:a16="http://schemas.microsoft.com/office/drawing/2014/main" id="{6874FDA1-6751-43A9-9691-CBD4EAAC26F8}"/>
              </a:ext>
            </a:extLst>
          </p:cNvPr>
          <p:cNvSpPr txBox="1"/>
          <p:nvPr/>
        </p:nvSpPr>
        <p:spPr>
          <a:xfrm>
            <a:off x="180082" y="2223013"/>
            <a:ext cx="1720252" cy="59723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接入网络</a:t>
            </a:r>
            <a:endParaRPr lang="en-US" altLang="zh-CN" dirty="0"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50DC9D1-442D-48C4-9D2E-10F819A72458}"/>
              </a:ext>
            </a:extLst>
          </p:cNvPr>
          <p:cNvGrpSpPr/>
          <p:nvPr/>
        </p:nvGrpSpPr>
        <p:grpSpPr>
          <a:xfrm>
            <a:off x="2769042" y="755610"/>
            <a:ext cx="3064546" cy="1142476"/>
            <a:chOff x="3202077" y="226664"/>
            <a:chExt cx="5352459" cy="1995420"/>
          </a:xfrm>
        </p:grpSpPr>
        <p:pic>
          <p:nvPicPr>
            <p:cNvPr id="32" name="Picture 85">
              <a:extLst>
                <a:ext uri="{FF2B5EF4-FFF2-40B4-BE49-F238E27FC236}">
                  <a16:creationId xmlns:a16="http://schemas.microsoft.com/office/drawing/2014/main" id="{1DD552B6-2A4D-4CAC-8335-E6D7BB47E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2077" y="226664"/>
              <a:ext cx="5352459" cy="1995420"/>
            </a:xfrm>
            <a:prstGeom prst="rect">
              <a:avLst/>
            </a:prstGeom>
          </p:spPr>
        </p:pic>
        <p:pic>
          <p:nvPicPr>
            <p:cNvPr id="33" name="Shape 187">
              <a:extLst>
                <a:ext uri="{FF2B5EF4-FFF2-40B4-BE49-F238E27FC236}">
                  <a16:creationId xmlns:a16="http://schemas.microsoft.com/office/drawing/2014/main" id="{AD495759-A85F-49B9-BA76-88C276E6B2CA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7788" y="492365"/>
              <a:ext cx="980470" cy="9804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Shape 187">
              <a:extLst>
                <a:ext uri="{FF2B5EF4-FFF2-40B4-BE49-F238E27FC236}">
                  <a16:creationId xmlns:a16="http://schemas.microsoft.com/office/drawing/2014/main" id="{9402E246-3A73-4F1F-9F66-12A36BB889BB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4632" y="795330"/>
              <a:ext cx="829988" cy="8299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Shape 187">
              <a:extLst>
                <a:ext uri="{FF2B5EF4-FFF2-40B4-BE49-F238E27FC236}">
                  <a16:creationId xmlns:a16="http://schemas.microsoft.com/office/drawing/2014/main" id="{1F071EFC-8E58-4D39-9DBF-235848D89D0E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1995" y="438857"/>
              <a:ext cx="833874" cy="833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Shape 187">
              <a:extLst>
                <a:ext uri="{FF2B5EF4-FFF2-40B4-BE49-F238E27FC236}">
                  <a16:creationId xmlns:a16="http://schemas.microsoft.com/office/drawing/2014/main" id="{43D6FC23-AF20-4D8A-9C03-841E885B461A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7587" y="722807"/>
              <a:ext cx="827585" cy="82758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650C9C39-55E4-4991-A255-72A5C0FD4D30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916" y="2362471"/>
            <a:ext cx="1163004" cy="62748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479F461-64C4-40E3-80B2-0365E0ED15DA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610" y="2153625"/>
            <a:ext cx="1916896" cy="1034233"/>
          </a:xfrm>
          <a:prstGeom prst="rect">
            <a:avLst/>
          </a:prstGeom>
        </p:spPr>
      </p:pic>
      <p:pic>
        <p:nvPicPr>
          <p:cNvPr id="27" name="Shape 164">
            <a:extLst>
              <a:ext uri="{FF2B5EF4-FFF2-40B4-BE49-F238E27FC236}">
                <a16:creationId xmlns:a16="http://schemas.microsoft.com/office/drawing/2014/main" id="{9E09FB8A-E7B1-4031-8F01-EF2B87120EA3}"/>
              </a:ext>
            </a:extLst>
          </p:cNvPr>
          <p:cNvPicPr preferRelativeResize="0"/>
          <p:nvPr/>
        </p:nvPicPr>
        <p:blipFill>
          <a:blip r:embed="rId2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098" y="2471763"/>
            <a:ext cx="311577" cy="356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roup 14">
            <a:extLst>
              <a:ext uri="{FF2B5EF4-FFF2-40B4-BE49-F238E27FC236}">
                <a16:creationId xmlns:a16="http://schemas.microsoft.com/office/drawing/2014/main" id="{ED038A78-612E-46E1-98CA-B94ACBB05E55}"/>
              </a:ext>
            </a:extLst>
          </p:cNvPr>
          <p:cNvGrpSpPr/>
          <p:nvPr/>
        </p:nvGrpSpPr>
        <p:grpSpPr>
          <a:xfrm>
            <a:off x="1838189" y="2364247"/>
            <a:ext cx="1622547" cy="653185"/>
            <a:chOff x="2439684" y="2950908"/>
            <a:chExt cx="2598979" cy="1046266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4CB1B9C5-EAEE-4761-A2E2-225A6D9EF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9684" y="2950908"/>
              <a:ext cx="1939199" cy="1046266"/>
            </a:xfrm>
            <a:prstGeom prst="rect">
              <a:avLst/>
            </a:prstGeom>
          </p:spPr>
        </p:pic>
        <p:pic>
          <p:nvPicPr>
            <p:cNvPr id="31" name="Picture 13">
              <a:extLst>
                <a:ext uri="{FF2B5EF4-FFF2-40B4-BE49-F238E27FC236}">
                  <a16:creationId xmlns:a16="http://schemas.microsoft.com/office/drawing/2014/main" id="{5F871663-0DD5-4E94-9AE5-570606C16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0546" y="3238736"/>
              <a:ext cx="758117" cy="457397"/>
            </a:xfrm>
            <a:prstGeom prst="rect">
              <a:avLst/>
            </a:prstGeom>
          </p:spPr>
        </p:pic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DC6CFA3-6AD4-4C1E-B657-F1BA31189135}"/>
              </a:ext>
            </a:extLst>
          </p:cNvPr>
          <p:cNvGrpSpPr/>
          <p:nvPr/>
        </p:nvGrpSpPr>
        <p:grpSpPr>
          <a:xfrm>
            <a:off x="3124828" y="3373213"/>
            <a:ext cx="2407608" cy="1163167"/>
            <a:chOff x="3413302" y="3581200"/>
            <a:chExt cx="2407608" cy="1163167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FB28A1E6-44AF-4754-9681-A71266DAE77F}"/>
                </a:ext>
              </a:extLst>
            </p:cNvPr>
            <p:cNvGrpSpPr/>
            <p:nvPr/>
          </p:nvGrpSpPr>
          <p:grpSpPr>
            <a:xfrm>
              <a:off x="4356137" y="3581200"/>
              <a:ext cx="1464773" cy="1163167"/>
              <a:chOff x="4356137" y="3581200"/>
              <a:chExt cx="1464773" cy="1163167"/>
            </a:xfrm>
          </p:grpSpPr>
          <p:pic>
            <p:nvPicPr>
              <p:cNvPr id="67" name="Picture 166">
                <a:extLst>
                  <a:ext uri="{FF2B5EF4-FFF2-40B4-BE49-F238E27FC236}">
                    <a16:creationId xmlns:a16="http://schemas.microsoft.com/office/drawing/2014/main" id="{255890DD-BF3C-4453-848F-D818761B1F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56137" y="3581200"/>
                <a:ext cx="929705" cy="562326"/>
              </a:xfrm>
              <a:prstGeom prst="rect">
                <a:avLst/>
              </a:prstGeom>
            </p:spPr>
          </p:pic>
          <p:pic>
            <p:nvPicPr>
              <p:cNvPr id="2050" name="Picture 2" descr="Traffic signal on a white background Royalty Free Vector">
                <a:extLst>
                  <a:ext uri="{FF2B5EF4-FFF2-40B4-BE49-F238E27FC236}">
                    <a16:creationId xmlns:a16="http://schemas.microsoft.com/office/drawing/2014/main" id="{BAB6426F-F138-451F-A233-F8BA4413FF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384" t="11427" r="33835" b="9849"/>
              <a:stretch/>
            </p:blipFill>
            <p:spPr bwMode="auto">
              <a:xfrm>
                <a:off x="5399776" y="3581200"/>
                <a:ext cx="421134" cy="1163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2" name="Picture 4" descr="Premium Vector | Set of blank road signs on white background">
                <a:extLst>
                  <a:ext uri="{FF2B5EF4-FFF2-40B4-BE49-F238E27FC236}">
                    <a16:creationId xmlns:a16="http://schemas.microsoft.com/office/drawing/2014/main" id="{1500A6E2-FC09-41BA-8C3F-1DA3AD1252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56546" y="4209636"/>
                <a:ext cx="929837" cy="5347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0" name="Shape 190">
              <a:extLst>
                <a:ext uri="{FF2B5EF4-FFF2-40B4-BE49-F238E27FC236}">
                  <a16:creationId xmlns:a16="http://schemas.microsoft.com/office/drawing/2014/main" id="{DEE0364B-DF7D-4903-8255-53BEEEFE86F9}"/>
                </a:ext>
              </a:extLst>
            </p:cNvPr>
            <p:cNvSpPr txBox="1"/>
            <p:nvPr/>
          </p:nvSpPr>
          <p:spPr>
            <a:xfrm>
              <a:off x="3413302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道路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设施</a:t>
              </a:r>
              <a:endParaRPr lang="en-US" altLang="zh-CN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006FEC12-75A0-4D0A-8B35-390CB0D11F3E}"/>
              </a:ext>
            </a:extLst>
          </p:cNvPr>
          <p:cNvSpPr txBox="1"/>
          <p:nvPr/>
        </p:nvSpPr>
        <p:spPr>
          <a:xfrm>
            <a:off x="8179240" y="2304132"/>
            <a:ext cx="713810" cy="646331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</a:rPr>
              <a:t>射频</a:t>
            </a:r>
            <a:br>
              <a:rPr lang="en-US" altLang="zh-CN" sz="1800" b="1" dirty="0">
                <a:solidFill>
                  <a:schemeClr val="bg1"/>
                </a:solidFill>
              </a:rPr>
            </a:br>
            <a:r>
              <a:rPr lang="zh-CN" altLang="en-US" sz="1800" b="1" dirty="0">
                <a:solidFill>
                  <a:schemeClr val="bg1"/>
                </a:solidFill>
              </a:rPr>
              <a:t>技术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80529A-1080-462C-881B-E3C0F519D30B}"/>
              </a:ext>
            </a:extLst>
          </p:cNvPr>
          <p:cNvSpPr/>
          <p:nvPr/>
        </p:nvSpPr>
        <p:spPr>
          <a:xfrm>
            <a:off x="450056" y="719956"/>
            <a:ext cx="7650906" cy="396044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内容占位符 2">
            <a:extLst>
              <a:ext uri="{FF2B5EF4-FFF2-40B4-BE49-F238E27FC236}">
                <a16:creationId xmlns:a16="http://schemas.microsoft.com/office/drawing/2014/main" id="{52F0F7F8-9442-4108-A7B0-0E4F8D4D6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466" y="791964"/>
            <a:ext cx="3498774" cy="3710483"/>
          </a:xfrm>
        </p:spPr>
        <p:txBody>
          <a:bodyPr>
            <a:normAutofit/>
          </a:bodyPr>
          <a:lstStyle/>
          <a:p>
            <a:r>
              <a:rPr lang="zh-CN" altLang="en-US" sz="1800" dirty="0">
                <a:cs typeface="Arial" panose="020B0604020202020204" pitchFamily="34" charset="0"/>
              </a:rPr>
              <a:t>更多的接入设备通常需要更宽的无线电频谱</a:t>
            </a:r>
            <a:endParaRPr lang="en-US" altLang="zh-CN" sz="1800" dirty="0">
              <a:cs typeface="Arial" panose="020B0604020202020204" pitchFamily="34" charset="0"/>
            </a:endParaRPr>
          </a:p>
          <a:p>
            <a:pPr lvl="1"/>
            <a:r>
              <a:rPr lang="zh-CN" altLang="en-US" sz="1400" dirty="0">
                <a:cs typeface="Arial" panose="020B0604020202020204" pitchFamily="34" charset="0"/>
              </a:rPr>
              <a:t>多址接入技术（如频分复用、码分多址）等通常需要更宽的频谱以支持更多用户接入</a:t>
            </a:r>
            <a:endParaRPr lang="en-US" altLang="zh-CN" sz="1400" dirty="0">
              <a:cs typeface="Arial" panose="020B0604020202020204" pitchFamily="34" charset="0"/>
            </a:endParaRPr>
          </a:p>
          <a:p>
            <a:r>
              <a:rPr lang="zh-CN" altLang="en-US" sz="1800" dirty="0">
                <a:cs typeface="Arial" panose="020B0604020202020204" pitchFamily="34" charset="0"/>
              </a:rPr>
              <a:t>无线电频谱是极度稀缺的资源</a:t>
            </a:r>
            <a:endParaRPr lang="en-US" altLang="zh-CN" sz="1800" dirty="0">
              <a:cs typeface="Arial" panose="020B0604020202020204" pitchFamily="34" charset="0"/>
            </a:endParaRPr>
          </a:p>
          <a:p>
            <a:pPr lvl="1"/>
            <a:r>
              <a:rPr lang="zh-CN" altLang="en-US" sz="1400" dirty="0">
                <a:cs typeface="Arial" panose="020B0604020202020204" pitchFamily="34" charset="0"/>
              </a:rPr>
              <a:t>专用频段价格昂贵，公开频段充满冲突</a:t>
            </a:r>
            <a:endParaRPr lang="en-US" altLang="zh-CN" sz="1400" dirty="0">
              <a:cs typeface="Arial" panose="020B0604020202020204" pitchFamily="34" charset="0"/>
            </a:endParaRPr>
          </a:p>
          <a:p>
            <a:pPr lvl="1"/>
            <a:endParaRPr lang="en-US" altLang="zh-CN" sz="1400" dirty="0">
              <a:cs typeface="Arial" panose="020B0604020202020204" pitchFamily="34" charset="0"/>
            </a:endParaRPr>
          </a:p>
          <a:p>
            <a:endParaRPr lang="zh-CN" altLang="en-US" sz="1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DE81DE-85DF-4C9B-B787-AA4FFC83A97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0122" y="855071"/>
            <a:ext cx="4086092" cy="1352865"/>
          </a:xfrm>
          <a:prstGeom prst="rect">
            <a:avLst/>
          </a:prstGeom>
        </p:spPr>
      </p:pic>
      <p:pic>
        <p:nvPicPr>
          <p:cNvPr id="5" name="Picture 2" descr="interference between zigbee and wifi frequency 2.4ghz">
            <a:extLst>
              <a:ext uri="{FF2B5EF4-FFF2-40B4-BE49-F238E27FC236}">
                <a16:creationId xmlns:a16="http://schemas.microsoft.com/office/drawing/2014/main" id="{AFF958D1-518D-4908-9262-ED38B1ECFA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9" t="12671" r="6157" b="12794"/>
          <a:stretch/>
        </p:blipFill>
        <p:spPr bwMode="auto">
          <a:xfrm>
            <a:off x="540121" y="2304132"/>
            <a:ext cx="4086091" cy="1989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文本框 74">
            <a:extLst>
              <a:ext uri="{FF2B5EF4-FFF2-40B4-BE49-F238E27FC236}">
                <a16:creationId xmlns:a16="http://schemas.microsoft.com/office/drawing/2014/main" id="{8F12ACC1-274A-4EB5-8332-E86B6705AF84}"/>
              </a:ext>
            </a:extLst>
          </p:cNvPr>
          <p:cNvSpPr txBox="1"/>
          <p:nvPr/>
        </p:nvSpPr>
        <p:spPr>
          <a:xfrm>
            <a:off x="450056" y="4392364"/>
            <a:ext cx="810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https://www.spglobal.com/marketintelligence/en/news-insights/research/us-c-band-auction-becomes-worlds-costliest-mid-band-5g-auction-yet</a:t>
            </a:r>
          </a:p>
          <a:p>
            <a:r>
              <a:rPr lang="en-US" altLang="zh-CN" sz="900" dirty="0"/>
              <a:t>https://haade.fr/en/blog/interference-zigbee-wifi-2-4ghz-to-know</a:t>
            </a:r>
          </a:p>
        </p:txBody>
      </p:sp>
    </p:spTree>
    <p:extLst>
      <p:ext uri="{BB962C8B-B14F-4D97-AF65-F5344CB8AC3E}">
        <p14:creationId xmlns:p14="http://schemas.microsoft.com/office/powerpoint/2010/main" val="3459979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1E88B-92A3-465D-BC4C-7837EF20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如何连接</a:t>
            </a:r>
            <a:r>
              <a:rPr lang="en-US" altLang="zh-CN" dirty="0"/>
              <a:t>1</a:t>
            </a:r>
            <a:r>
              <a:rPr lang="zh-CN" altLang="en-US" dirty="0"/>
              <a:t>万亿设备？</a:t>
            </a: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CDCD4FA-9E83-4ECF-9F12-92BB4E1ECC9F}"/>
              </a:ext>
            </a:extLst>
          </p:cNvPr>
          <p:cNvGrpSpPr/>
          <p:nvPr/>
        </p:nvGrpSpPr>
        <p:grpSpPr>
          <a:xfrm>
            <a:off x="702196" y="3373213"/>
            <a:ext cx="2212313" cy="1163167"/>
            <a:chOff x="653217" y="3581200"/>
            <a:chExt cx="2212313" cy="1163167"/>
          </a:xfrm>
        </p:grpSpPr>
        <p:sp>
          <p:nvSpPr>
            <p:cNvPr id="73" name="Shape 188">
              <a:extLst>
                <a:ext uri="{FF2B5EF4-FFF2-40B4-BE49-F238E27FC236}">
                  <a16:creationId xmlns:a16="http://schemas.microsoft.com/office/drawing/2014/main" id="{B7C77777-F9A6-4B3D-B571-85CC155BF536}"/>
                </a:ext>
              </a:extLst>
            </p:cNvPr>
            <p:cNvSpPr txBox="1"/>
            <p:nvPr/>
          </p:nvSpPr>
          <p:spPr>
            <a:xfrm>
              <a:off x="653217" y="3877037"/>
              <a:ext cx="858057" cy="60887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物联网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A10DC0A9-C9F0-40BA-A3CC-04A5B68321C9}"/>
                </a:ext>
              </a:extLst>
            </p:cNvPr>
            <p:cNvGrpSpPr/>
            <p:nvPr/>
          </p:nvGrpSpPr>
          <p:grpSpPr>
            <a:xfrm>
              <a:off x="1666064" y="3581200"/>
              <a:ext cx="1199466" cy="1163167"/>
              <a:chOff x="1666064" y="3581200"/>
              <a:chExt cx="1199466" cy="1163167"/>
            </a:xfrm>
          </p:grpSpPr>
          <p:pic>
            <p:nvPicPr>
              <p:cNvPr id="70" name="Shape 155">
                <a:extLst>
                  <a:ext uri="{FF2B5EF4-FFF2-40B4-BE49-F238E27FC236}">
                    <a16:creationId xmlns:a16="http://schemas.microsoft.com/office/drawing/2014/main" id="{5252672F-C2C4-4B3D-8DD7-075B6A16918E}"/>
                  </a:ext>
                </a:extLst>
              </p:cNvPr>
              <p:cNvPicPr preferRelativeResize="0"/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66064" y="4252669"/>
                <a:ext cx="491698" cy="4916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" name="Shape 183">
                <a:extLst>
                  <a:ext uri="{FF2B5EF4-FFF2-40B4-BE49-F238E27FC236}">
                    <a16:creationId xmlns:a16="http://schemas.microsoft.com/office/drawing/2014/main" id="{AEE794D1-32D2-45C7-BD06-C67A31132945}"/>
                  </a:ext>
                </a:extLst>
              </p:cNvPr>
              <p:cNvPicPr preferRelativeResize="0"/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3001" y="4274276"/>
                <a:ext cx="452529" cy="4700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" name="Shape 185">
                <a:extLst>
                  <a:ext uri="{FF2B5EF4-FFF2-40B4-BE49-F238E27FC236}">
                    <a16:creationId xmlns:a16="http://schemas.microsoft.com/office/drawing/2014/main" id="{6541684C-37BF-4216-AF2E-0B358436E906}"/>
                  </a:ext>
                </a:extLst>
              </p:cNvPr>
              <p:cNvPicPr preferRelativeResize="0"/>
              <p:nvPr/>
            </p:nvPicPr>
            <p:blipFill>
              <a:blip r:embed="rId4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96868" y="3581200"/>
                <a:ext cx="425116" cy="5106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" name="Picture 158">
                <a:extLst>
                  <a:ext uri="{FF2B5EF4-FFF2-40B4-BE49-F238E27FC236}">
                    <a16:creationId xmlns:a16="http://schemas.microsoft.com/office/drawing/2014/main" id="{DA9F376E-4B6D-4F2B-83FC-45DC057678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74419" y="3581200"/>
                <a:ext cx="684144" cy="448114"/>
              </a:xfrm>
              <a:prstGeom prst="rect">
                <a:avLst/>
              </a:prstGeom>
            </p:spPr>
          </p:pic>
        </p:grp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C213362-D4C9-4EBD-8AC2-7ADA6ADA4A8D}"/>
              </a:ext>
            </a:extLst>
          </p:cNvPr>
          <p:cNvGrpSpPr/>
          <p:nvPr/>
        </p:nvGrpSpPr>
        <p:grpSpPr>
          <a:xfrm>
            <a:off x="5742756" y="3373213"/>
            <a:ext cx="2268209" cy="1163167"/>
            <a:chOff x="6048777" y="3581200"/>
            <a:chExt cx="2268209" cy="1163167"/>
          </a:xfrm>
        </p:grpSpPr>
        <p:sp>
          <p:nvSpPr>
            <p:cNvPr id="60" name="Shape 190">
              <a:extLst>
                <a:ext uri="{FF2B5EF4-FFF2-40B4-BE49-F238E27FC236}">
                  <a16:creationId xmlns:a16="http://schemas.microsoft.com/office/drawing/2014/main" id="{30F22D1D-79EE-4ABA-A320-C3BD58561E6F}"/>
                </a:ext>
              </a:extLst>
            </p:cNvPr>
            <p:cNvSpPr txBox="1"/>
            <p:nvPr/>
          </p:nvSpPr>
          <p:spPr>
            <a:xfrm>
              <a:off x="6048777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移动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7EC2F674-3C72-49EA-993B-C4BBE8F53B70}"/>
                </a:ext>
              </a:extLst>
            </p:cNvPr>
            <p:cNvGrpSpPr/>
            <p:nvPr/>
          </p:nvGrpSpPr>
          <p:grpSpPr>
            <a:xfrm>
              <a:off x="6920466" y="3581200"/>
              <a:ext cx="1396520" cy="1163167"/>
              <a:chOff x="6920466" y="3581200"/>
              <a:chExt cx="1396520" cy="1163167"/>
            </a:xfrm>
          </p:grpSpPr>
          <p:pic>
            <p:nvPicPr>
              <p:cNvPr id="62" name="Picture 133">
                <a:extLst>
                  <a:ext uri="{FF2B5EF4-FFF2-40B4-BE49-F238E27FC236}">
                    <a16:creationId xmlns:a16="http://schemas.microsoft.com/office/drawing/2014/main" id="{4202EB84-4797-4F47-A239-3C270D23C3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0466" y="3581200"/>
                <a:ext cx="460416" cy="623791"/>
              </a:xfrm>
              <a:prstGeom prst="rect">
                <a:avLst/>
              </a:prstGeom>
            </p:spPr>
          </p:pic>
          <p:pic>
            <p:nvPicPr>
              <p:cNvPr id="63" name="Picture 135">
                <a:extLst>
                  <a:ext uri="{FF2B5EF4-FFF2-40B4-BE49-F238E27FC236}">
                    <a16:creationId xmlns:a16="http://schemas.microsoft.com/office/drawing/2014/main" id="{9ED241D1-5C3A-45E5-BB8E-2497A90C89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865775" y="4215483"/>
                <a:ext cx="432980" cy="528884"/>
              </a:xfrm>
              <a:prstGeom prst="rect">
                <a:avLst/>
              </a:prstGeom>
            </p:spPr>
          </p:pic>
          <p:pic>
            <p:nvPicPr>
              <p:cNvPr id="64" name="Picture 136">
                <a:extLst>
                  <a:ext uri="{FF2B5EF4-FFF2-40B4-BE49-F238E27FC236}">
                    <a16:creationId xmlns:a16="http://schemas.microsoft.com/office/drawing/2014/main" id="{583047E8-0512-430C-881E-B742D23B22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03096" y="3581200"/>
                <a:ext cx="813890" cy="360109"/>
              </a:xfrm>
              <a:prstGeom prst="rect">
                <a:avLst/>
              </a:prstGeom>
            </p:spPr>
          </p:pic>
          <p:pic>
            <p:nvPicPr>
              <p:cNvPr id="65" name="Picture 137">
                <a:extLst>
                  <a:ext uri="{FF2B5EF4-FFF2-40B4-BE49-F238E27FC236}">
                    <a16:creationId xmlns:a16="http://schemas.microsoft.com/office/drawing/2014/main" id="{8FC51046-5E59-4BB0-A79C-9A9C5A5799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5806" y="4237991"/>
                <a:ext cx="712101" cy="506376"/>
              </a:xfrm>
              <a:prstGeom prst="rect">
                <a:avLst/>
              </a:prstGeom>
            </p:spPr>
          </p:pic>
        </p:grp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F645107E-5A1F-43AC-94E0-FAFEFCC5570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372" y="2225091"/>
            <a:ext cx="1641324" cy="885551"/>
          </a:xfrm>
          <a:prstGeom prst="rect">
            <a:avLst/>
          </a:prstGeom>
        </p:spPr>
      </p:pic>
      <p:sp>
        <p:nvSpPr>
          <p:cNvPr id="15" name="Shape 140">
            <a:extLst>
              <a:ext uri="{FF2B5EF4-FFF2-40B4-BE49-F238E27FC236}">
                <a16:creationId xmlns:a16="http://schemas.microsoft.com/office/drawing/2014/main" id="{B76951F3-F700-4731-BAB9-590743B1E632}"/>
              </a:ext>
            </a:extLst>
          </p:cNvPr>
          <p:cNvSpPr txBox="1"/>
          <p:nvPr/>
        </p:nvSpPr>
        <p:spPr>
          <a:xfrm>
            <a:off x="476789" y="1043554"/>
            <a:ext cx="2193505" cy="48330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骨干网与云服务</a:t>
            </a:r>
            <a:endParaRPr lang="en-US" altLang="zh-CN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6" name="Shape 141">
            <a:extLst>
              <a:ext uri="{FF2B5EF4-FFF2-40B4-BE49-F238E27FC236}">
                <a16:creationId xmlns:a16="http://schemas.microsoft.com/office/drawing/2014/main" id="{DF343CA8-3287-4452-A95A-909EFE0127F3}"/>
              </a:ext>
            </a:extLst>
          </p:cNvPr>
          <p:cNvPicPr preferRelativeResize="0"/>
          <p:nvPr/>
        </p:nvPicPr>
        <p:blipFill>
          <a:blip r:embed="rId1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653" y="1787606"/>
            <a:ext cx="411805" cy="274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Shape 142">
            <a:extLst>
              <a:ext uri="{FF2B5EF4-FFF2-40B4-BE49-F238E27FC236}">
                <a16:creationId xmlns:a16="http://schemas.microsoft.com/office/drawing/2014/main" id="{F00B6AA6-C698-4AF4-8172-6CADA4B7B517}"/>
              </a:ext>
            </a:extLst>
          </p:cNvPr>
          <p:cNvPicPr preferRelativeResize="0"/>
          <p:nvPr/>
        </p:nvPicPr>
        <p:blipFill>
          <a:blip r:embed="rId1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704" y="1544261"/>
            <a:ext cx="411805" cy="274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roup 89">
            <a:extLst>
              <a:ext uri="{FF2B5EF4-FFF2-40B4-BE49-F238E27FC236}">
                <a16:creationId xmlns:a16="http://schemas.microsoft.com/office/drawing/2014/main" id="{DBEDCD6A-0DA4-4DB1-82EA-C8AEB211914F}"/>
              </a:ext>
            </a:extLst>
          </p:cNvPr>
          <p:cNvGrpSpPr/>
          <p:nvPr/>
        </p:nvGrpSpPr>
        <p:grpSpPr>
          <a:xfrm>
            <a:off x="1661294" y="1523501"/>
            <a:ext cx="6351357" cy="1762893"/>
            <a:chOff x="1652700" y="1556084"/>
            <a:chExt cx="10173540" cy="2823785"/>
          </a:xfrm>
        </p:grpSpPr>
        <p:grpSp>
          <p:nvGrpSpPr>
            <p:cNvPr id="46" name="Group 90">
              <a:extLst>
                <a:ext uri="{FF2B5EF4-FFF2-40B4-BE49-F238E27FC236}">
                  <a16:creationId xmlns:a16="http://schemas.microsoft.com/office/drawing/2014/main" id="{90A82EDA-2897-4A13-95E7-85470D1E11C5}"/>
                </a:ext>
              </a:extLst>
            </p:cNvPr>
            <p:cNvGrpSpPr/>
            <p:nvPr/>
          </p:nvGrpSpPr>
          <p:grpSpPr>
            <a:xfrm>
              <a:off x="4839980" y="2243052"/>
              <a:ext cx="2974270" cy="2063747"/>
              <a:chOff x="4839980" y="2243052"/>
              <a:chExt cx="2974270" cy="2063747"/>
            </a:xfrm>
          </p:grpSpPr>
          <p:sp>
            <p:nvSpPr>
              <p:cNvPr id="53" name="Shape 139">
                <a:extLst>
                  <a:ext uri="{FF2B5EF4-FFF2-40B4-BE49-F238E27FC236}">
                    <a16:creationId xmlns:a16="http://schemas.microsoft.com/office/drawing/2014/main" id="{81557118-9140-4C73-BDA6-56714DD707C1}"/>
                  </a:ext>
                </a:extLst>
              </p:cNvPr>
              <p:cNvSpPr/>
              <p:nvPr/>
            </p:nvSpPr>
            <p:spPr>
              <a:xfrm>
                <a:off x="4839980" y="2243052"/>
                <a:ext cx="2974270" cy="2063747"/>
              </a:xfrm>
              <a:prstGeom prst="ellipse">
                <a:avLst/>
              </a:pr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endParaRPr sz="110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4" name="Shape 152">
                <a:extLst>
                  <a:ext uri="{FF2B5EF4-FFF2-40B4-BE49-F238E27FC236}">
                    <a16:creationId xmlns:a16="http://schemas.microsoft.com/office/drawing/2014/main" id="{E04FFE8A-6527-4AD9-8BB2-83025354E365}"/>
                  </a:ext>
                </a:extLst>
              </p:cNvPr>
              <p:cNvSpPr txBox="1"/>
              <p:nvPr/>
            </p:nvSpPr>
            <p:spPr>
              <a:xfrm>
                <a:off x="5393656" y="3683856"/>
                <a:ext cx="1953279" cy="5025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algn="ctr"/>
                <a:r>
                  <a:rPr lang="zh-CN" altLang="en-US" sz="1100" b="1" dirty="0">
                    <a:latin typeface="Arial" charset="0"/>
                    <a:ea typeface="Arial" charset="0"/>
                    <a:cs typeface="Arial" charset="0"/>
                  </a:rPr>
                  <a:t>区域网络</a:t>
                </a:r>
                <a:endParaRPr lang="en" sz="1100" b="1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47" name="Group 91">
              <a:extLst>
                <a:ext uri="{FF2B5EF4-FFF2-40B4-BE49-F238E27FC236}">
                  <a16:creationId xmlns:a16="http://schemas.microsoft.com/office/drawing/2014/main" id="{BC16D2D3-C6BA-4D3F-AEC0-86064A9D477C}"/>
                </a:ext>
              </a:extLst>
            </p:cNvPr>
            <p:cNvGrpSpPr/>
            <p:nvPr/>
          </p:nvGrpSpPr>
          <p:grpSpPr>
            <a:xfrm>
              <a:off x="7575080" y="1556084"/>
              <a:ext cx="4251160" cy="2788541"/>
              <a:chOff x="7575080" y="1556084"/>
              <a:chExt cx="4251160" cy="2788541"/>
            </a:xfrm>
          </p:grpSpPr>
          <p:sp>
            <p:nvSpPr>
              <p:cNvPr id="51" name="Shape 145">
                <a:extLst>
                  <a:ext uri="{FF2B5EF4-FFF2-40B4-BE49-F238E27FC236}">
                    <a16:creationId xmlns:a16="http://schemas.microsoft.com/office/drawing/2014/main" id="{8770414C-88D8-44D6-857B-1B5279E4E742}"/>
                  </a:ext>
                </a:extLst>
              </p:cNvPr>
              <p:cNvSpPr/>
              <p:nvPr/>
            </p:nvSpPr>
            <p:spPr>
              <a:xfrm>
                <a:off x="7575080" y="1556084"/>
                <a:ext cx="4251160" cy="2788541"/>
              </a:xfrm>
              <a:prstGeom prst="ellipse">
                <a:avLst/>
              </a:pr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endParaRPr sz="110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2" name="Shape 153">
                <a:extLst>
                  <a:ext uri="{FF2B5EF4-FFF2-40B4-BE49-F238E27FC236}">
                    <a16:creationId xmlns:a16="http://schemas.microsoft.com/office/drawing/2014/main" id="{9AB59A70-4CA3-4D88-A4B2-A60FAB179594}"/>
                  </a:ext>
                </a:extLst>
              </p:cNvPr>
              <p:cNvSpPr txBox="1"/>
              <p:nvPr/>
            </p:nvSpPr>
            <p:spPr>
              <a:xfrm>
                <a:off x="8549501" y="3677441"/>
                <a:ext cx="2371882" cy="4493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algn="ctr"/>
                <a:r>
                  <a:rPr lang="zh-CN" altLang="en-US" sz="1100" b="1" dirty="0">
                    <a:latin typeface="Arial" charset="0"/>
                    <a:ea typeface="Arial" charset="0"/>
                    <a:cs typeface="Arial" charset="0"/>
                  </a:rPr>
                  <a:t>企业网络</a:t>
                </a:r>
                <a:endParaRPr lang="en" sz="1100" b="1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48" name="Group 92">
              <a:extLst>
                <a:ext uri="{FF2B5EF4-FFF2-40B4-BE49-F238E27FC236}">
                  <a16:creationId xmlns:a16="http://schemas.microsoft.com/office/drawing/2014/main" id="{BEEAEFE5-9EC7-4554-9094-AE8122BC5B9A}"/>
                </a:ext>
              </a:extLst>
            </p:cNvPr>
            <p:cNvGrpSpPr/>
            <p:nvPr/>
          </p:nvGrpSpPr>
          <p:grpSpPr>
            <a:xfrm>
              <a:off x="1652700" y="1779900"/>
              <a:ext cx="3094759" cy="2599969"/>
              <a:chOff x="1652700" y="1779900"/>
              <a:chExt cx="3094759" cy="2599969"/>
            </a:xfrm>
          </p:grpSpPr>
          <p:sp>
            <p:nvSpPr>
              <p:cNvPr id="49" name="Shape 148">
                <a:extLst>
                  <a:ext uri="{FF2B5EF4-FFF2-40B4-BE49-F238E27FC236}">
                    <a16:creationId xmlns:a16="http://schemas.microsoft.com/office/drawing/2014/main" id="{B78D63A3-E952-4BE0-BEA8-C7201A2FE700}"/>
                  </a:ext>
                </a:extLst>
              </p:cNvPr>
              <p:cNvSpPr/>
              <p:nvPr/>
            </p:nvSpPr>
            <p:spPr>
              <a:xfrm>
                <a:off x="1652700" y="1779900"/>
                <a:ext cx="3094759" cy="2599969"/>
              </a:xfrm>
              <a:prstGeom prst="ellipse">
                <a:avLst/>
              </a:pr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endParaRPr sz="110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0" name="Shape 154">
                <a:extLst>
                  <a:ext uri="{FF2B5EF4-FFF2-40B4-BE49-F238E27FC236}">
                    <a16:creationId xmlns:a16="http://schemas.microsoft.com/office/drawing/2014/main" id="{CD2B3B02-D775-4C1B-BD3B-1788CD2884D5}"/>
                  </a:ext>
                </a:extLst>
              </p:cNvPr>
              <p:cNvSpPr txBox="1"/>
              <p:nvPr/>
            </p:nvSpPr>
            <p:spPr>
              <a:xfrm>
                <a:off x="2174475" y="3698269"/>
                <a:ext cx="2160100" cy="445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algn="ctr"/>
                <a:r>
                  <a:rPr lang="zh-CN" altLang="en-US" sz="1100" b="1" dirty="0">
                    <a:latin typeface="Arial" charset="0"/>
                    <a:ea typeface="Arial" charset="0"/>
                    <a:cs typeface="Arial" charset="0"/>
                  </a:rPr>
                  <a:t>移动网络</a:t>
                </a:r>
                <a:endParaRPr lang="en" sz="1100" b="1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pic>
        <p:nvPicPr>
          <p:cNvPr id="19" name="Shape 176">
            <a:extLst>
              <a:ext uri="{FF2B5EF4-FFF2-40B4-BE49-F238E27FC236}">
                <a16:creationId xmlns:a16="http://schemas.microsoft.com/office/drawing/2014/main" id="{A6F843B5-C4AB-4DC8-A85E-F35EFE621FB2}"/>
              </a:ext>
            </a:extLst>
          </p:cNvPr>
          <p:cNvPicPr preferRelativeResize="0"/>
          <p:nvPr/>
        </p:nvPicPr>
        <p:blipFill>
          <a:blip r:embed="rId1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239" y="1825608"/>
            <a:ext cx="411805" cy="274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roup 100">
            <a:extLst>
              <a:ext uri="{FF2B5EF4-FFF2-40B4-BE49-F238E27FC236}">
                <a16:creationId xmlns:a16="http://schemas.microsoft.com/office/drawing/2014/main" id="{A61C677A-179C-48E4-843C-CE5E82862AA1}"/>
              </a:ext>
            </a:extLst>
          </p:cNvPr>
          <p:cNvGrpSpPr/>
          <p:nvPr/>
        </p:nvGrpSpPr>
        <p:grpSpPr>
          <a:xfrm>
            <a:off x="1945370" y="1826494"/>
            <a:ext cx="1366538" cy="604632"/>
            <a:chOff x="2148370" y="2041416"/>
            <a:chExt cx="2188906" cy="968494"/>
          </a:xfrm>
        </p:grpSpPr>
        <p:pic>
          <p:nvPicPr>
            <p:cNvPr id="43" name="Shape 150">
              <a:extLst>
                <a:ext uri="{FF2B5EF4-FFF2-40B4-BE49-F238E27FC236}">
                  <a16:creationId xmlns:a16="http://schemas.microsoft.com/office/drawing/2014/main" id="{F9678AB8-6507-4F58-AB82-DD0185D72C19}"/>
                </a:ext>
              </a:extLst>
            </p:cNvPr>
            <p:cNvPicPr preferRelativeResize="0"/>
            <p:nvPr/>
          </p:nvPicPr>
          <p:blipFill>
            <a:blip r:embed="rId12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9186" y="2398843"/>
              <a:ext cx="578090" cy="578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Shape 179">
              <a:extLst>
                <a:ext uri="{FF2B5EF4-FFF2-40B4-BE49-F238E27FC236}">
                  <a16:creationId xmlns:a16="http://schemas.microsoft.com/office/drawing/2014/main" id="{A24860F7-8306-4E24-AA92-BCCD6FE58D17}"/>
                </a:ext>
              </a:extLst>
            </p:cNvPr>
            <p:cNvPicPr preferRelativeResize="0"/>
            <p:nvPr/>
          </p:nvPicPr>
          <p:blipFill>
            <a:blip r:embed="rId1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370" y="2357914"/>
              <a:ext cx="542844" cy="6519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Shape 187">
              <a:extLst>
                <a:ext uri="{FF2B5EF4-FFF2-40B4-BE49-F238E27FC236}">
                  <a16:creationId xmlns:a16="http://schemas.microsoft.com/office/drawing/2014/main" id="{448725D4-B1BA-40B7-B919-9EC9855DD741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7405" y="2041416"/>
              <a:ext cx="874459" cy="8744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" name="Group 109">
            <a:extLst>
              <a:ext uri="{FF2B5EF4-FFF2-40B4-BE49-F238E27FC236}">
                <a16:creationId xmlns:a16="http://schemas.microsoft.com/office/drawing/2014/main" id="{14D53379-6A81-49F7-BDC4-9F94E26034D2}"/>
              </a:ext>
            </a:extLst>
          </p:cNvPr>
          <p:cNvGrpSpPr/>
          <p:nvPr/>
        </p:nvGrpSpPr>
        <p:grpSpPr>
          <a:xfrm>
            <a:off x="4006213" y="2003489"/>
            <a:ext cx="1168952" cy="468274"/>
            <a:chOff x="5449408" y="2324924"/>
            <a:chExt cx="1872415" cy="750077"/>
          </a:xfrm>
        </p:grpSpPr>
        <p:pic>
          <p:nvPicPr>
            <p:cNvPr id="40" name="Shape 157">
              <a:extLst>
                <a:ext uri="{FF2B5EF4-FFF2-40B4-BE49-F238E27FC236}">
                  <a16:creationId xmlns:a16="http://schemas.microsoft.com/office/drawing/2014/main" id="{1C98C0F8-6824-43C9-BC0C-DEF28E2C249A}"/>
                </a:ext>
              </a:extLst>
            </p:cNvPr>
            <p:cNvPicPr preferRelativeResize="0"/>
            <p:nvPr/>
          </p:nvPicPr>
          <p:blipFill>
            <a:blip r:embed="rId15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9408" y="2533311"/>
              <a:ext cx="403699" cy="484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Shape 160">
              <a:extLst>
                <a:ext uri="{FF2B5EF4-FFF2-40B4-BE49-F238E27FC236}">
                  <a16:creationId xmlns:a16="http://schemas.microsoft.com/office/drawing/2014/main" id="{F2C968CF-CED2-4AD2-AD3C-D0EDF196F569}"/>
                </a:ext>
              </a:extLst>
            </p:cNvPr>
            <p:cNvPicPr preferRelativeResize="0"/>
            <p:nvPr/>
          </p:nvPicPr>
          <p:blipFill>
            <a:blip r:embed="rId16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8124" y="2548019"/>
              <a:ext cx="403699" cy="403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Shape 186">
              <a:extLst>
                <a:ext uri="{FF2B5EF4-FFF2-40B4-BE49-F238E27FC236}">
                  <a16:creationId xmlns:a16="http://schemas.microsoft.com/office/drawing/2014/main" id="{55DF1082-C3E4-444F-9F51-41DDC61A12AD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1537" y="2324924"/>
              <a:ext cx="750077" cy="7500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" name="Group 125">
            <a:extLst>
              <a:ext uri="{FF2B5EF4-FFF2-40B4-BE49-F238E27FC236}">
                <a16:creationId xmlns:a16="http://schemas.microsoft.com/office/drawing/2014/main" id="{2351C1F1-8CFE-4676-8D74-5FABE5BF33C8}"/>
              </a:ext>
            </a:extLst>
          </p:cNvPr>
          <p:cNvGrpSpPr/>
          <p:nvPr/>
        </p:nvGrpSpPr>
        <p:grpSpPr>
          <a:xfrm>
            <a:off x="5807035" y="1652051"/>
            <a:ext cx="1669125" cy="699420"/>
            <a:chOff x="8333946" y="1761994"/>
            <a:chExt cx="2673588" cy="1120324"/>
          </a:xfrm>
        </p:grpSpPr>
        <p:pic>
          <p:nvPicPr>
            <p:cNvPr id="37" name="Shape 150">
              <a:extLst>
                <a:ext uri="{FF2B5EF4-FFF2-40B4-BE49-F238E27FC236}">
                  <a16:creationId xmlns:a16="http://schemas.microsoft.com/office/drawing/2014/main" id="{3E0AD489-220A-4920-B1EB-AE68144DA302}"/>
                </a:ext>
              </a:extLst>
            </p:cNvPr>
            <p:cNvPicPr preferRelativeResize="0"/>
            <p:nvPr/>
          </p:nvPicPr>
          <p:blipFill>
            <a:blip r:embed="rId12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7133" y="2143949"/>
              <a:ext cx="660401" cy="6604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Shape 179">
              <a:extLst>
                <a:ext uri="{FF2B5EF4-FFF2-40B4-BE49-F238E27FC236}">
                  <a16:creationId xmlns:a16="http://schemas.microsoft.com/office/drawing/2014/main" id="{599B15A5-4263-41BD-B4DE-28F20D6C304D}"/>
                </a:ext>
              </a:extLst>
            </p:cNvPr>
            <p:cNvPicPr preferRelativeResize="0"/>
            <p:nvPr/>
          </p:nvPicPr>
          <p:blipFill>
            <a:blip r:embed="rId17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3946" y="2104366"/>
              <a:ext cx="647712" cy="7779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Shape 187">
              <a:extLst>
                <a:ext uri="{FF2B5EF4-FFF2-40B4-BE49-F238E27FC236}">
                  <a16:creationId xmlns:a16="http://schemas.microsoft.com/office/drawing/2014/main" id="{7376EB1C-914D-4252-9AA7-1F74348046E2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6776" y="1761994"/>
              <a:ext cx="1021145" cy="10211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" name="Shape 140">
            <a:extLst>
              <a:ext uri="{FF2B5EF4-FFF2-40B4-BE49-F238E27FC236}">
                <a16:creationId xmlns:a16="http://schemas.microsoft.com/office/drawing/2014/main" id="{6874FDA1-6751-43A9-9691-CBD4EAAC26F8}"/>
              </a:ext>
            </a:extLst>
          </p:cNvPr>
          <p:cNvSpPr txBox="1"/>
          <p:nvPr/>
        </p:nvSpPr>
        <p:spPr>
          <a:xfrm>
            <a:off x="180082" y="2223013"/>
            <a:ext cx="1720252" cy="59723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接入网络</a:t>
            </a:r>
            <a:endParaRPr lang="en-US" altLang="zh-CN" dirty="0"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50DC9D1-442D-48C4-9D2E-10F819A72458}"/>
              </a:ext>
            </a:extLst>
          </p:cNvPr>
          <p:cNvGrpSpPr/>
          <p:nvPr/>
        </p:nvGrpSpPr>
        <p:grpSpPr>
          <a:xfrm>
            <a:off x="2769042" y="755610"/>
            <a:ext cx="3064546" cy="1142476"/>
            <a:chOff x="3202077" y="226664"/>
            <a:chExt cx="5352459" cy="1995420"/>
          </a:xfrm>
        </p:grpSpPr>
        <p:pic>
          <p:nvPicPr>
            <p:cNvPr id="32" name="Picture 85">
              <a:extLst>
                <a:ext uri="{FF2B5EF4-FFF2-40B4-BE49-F238E27FC236}">
                  <a16:creationId xmlns:a16="http://schemas.microsoft.com/office/drawing/2014/main" id="{1DD552B6-2A4D-4CAC-8335-E6D7BB47E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2077" y="226664"/>
              <a:ext cx="5352459" cy="1995420"/>
            </a:xfrm>
            <a:prstGeom prst="rect">
              <a:avLst/>
            </a:prstGeom>
          </p:spPr>
        </p:pic>
        <p:pic>
          <p:nvPicPr>
            <p:cNvPr id="33" name="Shape 187">
              <a:extLst>
                <a:ext uri="{FF2B5EF4-FFF2-40B4-BE49-F238E27FC236}">
                  <a16:creationId xmlns:a16="http://schemas.microsoft.com/office/drawing/2014/main" id="{AD495759-A85F-49B9-BA76-88C276E6B2CA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7788" y="492365"/>
              <a:ext cx="980470" cy="9804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Shape 187">
              <a:extLst>
                <a:ext uri="{FF2B5EF4-FFF2-40B4-BE49-F238E27FC236}">
                  <a16:creationId xmlns:a16="http://schemas.microsoft.com/office/drawing/2014/main" id="{9402E246-3A73-4F1F-9F66-12A36BB889BB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4632" y="795330"/>
              <a:ext cx="829988" cy="8299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Shape 187">
              <a:extLst>
                <a:ext uri="{FF2B5EF4-FFF2-40B4-BE49-F238E27FC236}">
                  <a16:creationId xmlns:a16="http://schemas.microsoft.com/office/drawing/2014/main" id="{1F071EFC-8E58-4D39-9DBF-235848D89D0E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1995" y="438857"/>
              <a:ext cx="833874" cy="833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Shape 187">
              <a:extLst>
                <a:ext uri="{FF2B5EF4-FFF2-40B4-BE49-F238E27FC236}">
                  <a16:creationId xmlns:a16="http://schemas.microsoft.com/office/drawing/2014/main" id="{43D6FC23-AF20-4D8A-9C03-841E885B461A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7587" y="722807"/>
              <a:ext cx="827585" cy="82758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650C9C39-55E4-4991-A255-72A5C0FD4D30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916" y="2362471"/>
            <a:ext cx="1163004" cy="62748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479F461-64C4-40E3-80B2-0365E0ED15DA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610" y="2153625"/>
            <a:ext cx="1916896" cy="1034233"/>
          </a:xfrm>
          <a:prstGeom prst="rect">
            <a:avLst/>
          </a:prstGeom>
        </p:spPr>
      </p:pic>
      <p:pic>
        <p:nvPicPr>
          <p:cNvPr id="27" name="Shape 164">
            <a:extLst>
              <a:ext uri="{FF2B5EF4-FFF2-40B4-BE49-F238E27FC236}">
                <a16:creationId xmlns:a16="http://schemas.microsoft.com/office/drawing/2014/main" id="{9E09FB8A-E7B1-4031-8F01-EF2B87120EA3}"/>
              </a:ext>
            </a:extLst>
          </p:cNvPr>
          <p:cNvPicPr preferRelativeResize="0"/>
          <p:nvPr/>
        </p:nvPicPr>
        <p:blipFill>
          <a:blip r:embed="rId2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098" y="2471763"/>
            <a:ext cx="311577" cy="356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roup 14">
            <a:extLst>
              <a:ext uri="{FF2B5EF4-FFF2-40B4-BE49-F238E27FC236}">
                <a16:creationId xmlns:a16="http://schemas.microsoft.com/office/drawing/2014/main" id="{ED038A78-612E-46E1-98CA-B94ACBB05E55}"/>
              </a:ext>
            </a:extLst>
          </p:cNvPr>
          <p:cNvGrpSpPr/>
          <p:nvPr/>
        </p:nvGrpSpPr>
        <p:grpSpPr>
          <a:xfrm>
            <a:off x="1838189" y="2364247"/>
            <a:ext cx="1622547" cy="653185"/>
            <a:chOff x="2439684" y="2950908"/>
            <a:chExt cx="2598979" cy="1046266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4CB1B9C5-EAEE-4761-A2E2-225A6D9EF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9684" y="2950908"/>
              <a:ext cx="1939199" cy="1046266"/>
            </a:xfrm>
            <a:prstGeom prst="rect">
              <a:avLst/>
            </a:prstGeom>
          </p:spPr>
        </p:pic>
        <p:pic>
          <p:nvPicPr>
            <p:cNvPr id="31" name="Picture 13">
              <a:extLst>
                <a:ext uri="{FF2B5EF4-FFF2-40B4-BE49-F238E27FC236}">
                  <a16:creationId xmlns:a16="http://schemas.microsoft.com/office/drawing/2014/main" id="{5F871663-0DD5-4E94-9AE5-570606C16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0546" y="3238736"/>
              <a:ext cx="758117" cy="457397"/>
            </a:xfrm>
            <a:prstGeom prst="rect">
              <a:avLst/>
            </a:prstGeom>
          </p:spPr>
        </p:pic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DC6CFA3-6AD4-4C1E-B657-F1BA31189135}"/>
              </a:ext>
            </a:extLst>
          </p:cNvPr>
          <p:cNvGrpSpPr/>
          <p:nvPr/>
        </p:nvGrpSpPr>
        <p:grpSpPr>
          <a:xfrm>
            <a:off x="3124828" y="3373213"/>
            <a:ext cx="2407608" cy="1163167"/>
            <a:chOff x="3413302" y="3581200"/>
            <a:chExt cx="2407608" cy="1163167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FB28A1E6-44AF-4754-9681-A71266DAE77F}"/>
                </a:ext>
              </a:extLst>
            </p:cNvPr>
            <p:cNvGrpSpPr/>
            <p:nvPr/>
          </p:nvGrpSpPr>
          <p:grpSpPr>
            <a:xfrm>
              <a:off x="4356137" y="3581200"/>
              <a:ext cx="1464773" cy="1163167"/>
              <a:chOff x="4356137" y="3581200"/>
              <a:chExt cx="1464773" cy="1163167"/>
            </a:xfrm>
          </p:grpSpPr>
          <p:pic>
            <p:nvPicPr>
              <p:cNvPr id="67" name="Picture 166">
                <a:extLst>
                  <a:ext uri="{FF2B5EF4-FFF2-40B4-BE49-F238E27FC236}">
                    <a16:creationId xmlns:a16="http://schemas.microsoft.com/office/drawing/2014/main" id="{255890DD-BF3C-4453-848F-D818761B1F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56137" y="3581200"/>
                <a:ext cx="929705" cy="562326"/>
              </a:xfrm>
              <a:prstGeom prst="rect">
                <a:avLst/>
              </a:prstGeom>
            </p:spPr>
          </p:pic>
          <p:pic>
            <p:nvPicPr>
              <p:cNvPr id="2050" name="Picture 2" descr="Traffic signal on a white background Royalty Free Vector">
                <a:extLst>
                  <a:ext uri="{FF2B5EF4-FFF2-40B4-BE49-F238E27FC236}">
                    <a16:creationId xmlns:a16="http://schemas.microsoft.com/office/drawing/2014/main" id="{BAB6426F-F138-451F-A233-F8BA4413FF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384" t="11427" r="33835" b="9849"/>
              <a:stretch/>
            </p:blipFill>
            <p:spPr bwMode="auto">
              <a:xfrm>
                <a:off x="5399776" y="3581200"/>
                <a:ext cx="421134" cy="1163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2" name="Picture 4" descr="Premium Vector | Set of blank road signs on white background">
                <a:extLst>
                  <a:ext uri="{FF2B5EF4-FFF2-40B4-BE49-F238E27FC236}">
                    <a16:creationId xmlns:a16="http://schemas.microsoft.com/office/drawing/2014/main" id="{1500A6E2-FC09-41BA-8C3F-1DA3AD1252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56546" y="4209636"/>
                <a:ext cx="929837" cy="5347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0" name="Shape 190">
              <a:extLst>
                <a:ext uri="{FF2B5EF4-FFF2-40B4-BE49-F238E27FC236}">
                  <a16:creationId xmlns:a16="http://schemas.microsoft.com/office/drawing/2014/main" id="{DEE0364B-DF7D-4903-8255-53BEEEFE86F9}"/>
                </a:ext>
              </a:extLst>
            </p:cNvPr>
            <p:cNvSpPr txBox="1"/>
            <p:nvPr/>
          </p:nvSpPr>
          <p:spPr>
            <a:xfrm>
              <a:off x="3413302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道路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设施</a:t>
              </a:r>
              <a:endParaRPr lang="en-US" altLang="zh-CN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006FEC12-75A0-4D0A-8B35-390CB0D11F3E}"/>
              </a:ext>
            </a:extLst>
          </p:cNvPr>
          <p:cNvSpPr txBox="1"/>
          <p:nvPr/>
        </p:nvSpPr>
        <p:spPr>
          <a:xfrm>
            <a:off x="8179240" y="2304132"/>
            <a:ext cx="713810" cy="646331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</a:rPr>
              <a:t>射频</a:t>
            </a:r>
            <a:br>
              <a:rPr lang="en-US" altLang="zh-CN" sz="1800" b="1" dirty="0">
                <a:solidFill>
                  <a:schemeClr val="bg1"/>
                </a:solidFill>
              </a:rPr>
            </a:br>
            <a:r>
              <a:rPr lang="zh-CN" altLang="en-US" sz="1800" b="1" dirty="0">
                <a:solidFill>
                  <a:schemeClr val="bg1"/>
                </a:solidFill>
              </a:rPr>
              <a:t>技术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80529A-1080-462C-881B-E3C0F519D30B}"/>
              </a:ext>
            </a:extLst>
          </p:cNvPr>
          <p:cNvSpPr/>
          <p:nvPr/>
        </p:nvSpPr>
        <p:spPr>
          <a:xfrm>
            <a:off x="450056" y="719956"/>
            <a:ext cx="7650906" cy="396044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内容占位符 2">
            <a:extLst>
              <a:ext uri="{FF2B5EF4-FFF2-40B4-BE49-F238E27FC236}">
                <a16:creationId xmlns:a16="http://schemas.microsoft.com/office/drawing/2014/main" id="{52F0F7F8-9442-4108-A7B0-0E4F8D4D6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466" y="791964"/>
            <a:ext cx="3498774" cy="3710483"/>
          </a:xfrm>
        </p:spPr>
        <p:txBody>
          <a:bodyPr>
            <a:normAutofit/>
          </a:bodyPr>
          <a:lstStyle/>
          <a:p>
            <a:r>
              <a:rPr lang="zh-CN" altLang="en-US" sz="1800" dirty="0">
                <a:cs typeface="Arial" panose="020B0604020202020204" pitchFamily="34" charset="0"/>
              </a:rPr>
              <a:t>更多的接入设备通常需要更宽的无线电频谱</a:t>
            </a:r>
            <a:endParaRPr lang="en-US" altLang="zh-CN" sz="1800" dirty="0">
              <a:cs typeface="Arial" panose="020B0604020202020204" pitchFamily="34" charset="0"/>
            </a:endParaRPr>
          </a:p>
          <a:p>
            <a:pPr lvl="1"/>
            <a:r>
              <a:rPr lang="zh-CN" altLang="en-US" sz="1400" dirty="0">
                <a:cs typeface="Arial" panose="020B0604020202020204" pitchFamily="34" charset="0"/>
              </a:rPr>
              <a:t>多址接入技术（如频分复用、码分多址）等通常需要更宽的频谱以支持更多用户接入</a:t>
            </a:r>
            <a:endParaRPr lang="en-US" altLang="zh-CN" sz="1400" dirty="0">
              <a:cs typeface="Arial" panose="020B0604020202020204" pitchFamily="34" charset="0"/>
            </a:endParaRPr>
          </a:p>
          <a:p>
            <a:r>
              <a:rPr lang="zh-CN" altLang="en-US" sz="1800" dirty="0">
                <a:cs typeface="Arial" panose="020B0604020202020204" pitchFamily="34" charset="0"/>
              </a:rPr>
              <a:t>无线电频谱是极度稀缺的资源</a:t>
            </a:r>
            <a:endParaRPr lang="en-US" altLang="zh-CN" sz="1800" dirty="0">
              <a:cs typeface="Arial" panose="020B0604020202020204" pitchFamily="34" charset="0"/>
            </a:endParaRPr>
          </a:p>
          <a:p>
            <a:pPr lvl="1"/>
            <a:r>
              <a:rPr lang="zh-CN" altLang="en-US" sz="1400" dirty="0">
                <a:cs typeface="Arial" panose="020B0604020202020204" pitchFamily="34" charset="0"/>
              </a:rPr>
              <a:t>专用频段价格昂贵，公开频段充满冲突</a:t>
            </a:r>
            <a:endParaRPr lang="en-US" altLang="zh-CN" sz="1400" dirty="0">
              <a:cs typeface="Arial" panose="020B0604020202020204" pitchFamily="34" charset="0"/>
            </a:endParaRPr>
          </a:p>
          <a:p>
            <a:r>
              <a:rPr lang="zh-CN" altLang="en-US" sz="1800" dirty="0">
                <a:cs typeface="Arial" panose="020B0604020202020204" pitchFamily="34" charset="0"/>
              </a:rPr>
              <a:t>射频技术解决方案</a:t>
            </a:r>
            <a:endParaRPr lang="en-US" altLang="zh-CN" sz="1400" dirty="0">
              <a:cs typeface="Arial" panose="020B0604020202020204" pitchFamily="34" charset="0"/>
            </a:endParaRPr>
          </a:p>
          <a:p>
            <a:pPr lvl="1"/>
            <a:r>
              <a:rPr lang="zh-CN" altLang="en-US" sz="1400" dirty="0">
                <a:cs typeface="Arial" panose="020B0604020202020204" pitchFamily="34" charset="0"/>
              </a:rPr>
              <a:t>更高频段：强烈的衰减</a:t>
            </a:r>
            <a:endParaRPr lang="en-US" altLang="zh-CN" sz="1400" dirty="0">
              <a:cs typeface="Arial" panose="020B0604020202020204" pitchFamily="34" charset="0"/>
            </a:endParaRPr>
          </a:p>
          <a:p>
            <a:pPr lvl="1"/>
            <a:r>
              <a:rPr lang="zh-CN" altLang="en-US" sz="1400" dirty="0">
                <a:cs typeface="Arial" panose="020B0604020202020204" pitchFamily="34" charset="0"/>
              </a:rPr>
              <a:t>空分复用：利用更窄的波束提升空间内共存的信道数量</a:t>
            </a:r>
            <a:endParaRPr lang="en-US" altLang="zh-CN" sz="1400" dirty="0">
              <a:cs typeface="Arial" panose="020B0604020202020204" pitchFamily="34" charset="0"/>
            </a:endParaRPr>
          </a:p>
          <a:p>
            <a:r>
              <a:rPr lang="zh-CN" altLang="en-US" sz="1800" dirty="0">
                <a:cs typeface="Arial" panose="020B0604020202020204" pitchFamily="34" charset="0"/>
              </a:rPr>
              <a:t>光学波段：大带宽、高指向性</a:t>
            </a:r>
            <a:endParaRPr lang="en-US" altLang="zh-CN" sz="1800" dirty="0">
              <a:cs typeface="Arial" panose="020B0604020202020204" pitchFamily="34" charset="0"/>
            </a:endParaRPr>
          </a:p>
          <a:p>
            <a:pPr lvl="1"/>
            <a:endParaRPr lang="en-US" altLang="zh-CN" sz="1400" dirty="0">
              <a:cs typeface="Arial" panose="020B0604020202020204" pitchFamily="34" charset="0"/>
            </a:endParaRPr>
          </a:p>
          <a:p>
            <a:endParaRPr lang="zh-CN" altLang="en-US" sz="1800" dirty="0"/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2EFBC6BB-1D66-41BD-8942-FCDEBCF34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106" y="647948"/>
            <a:ext cx="4275441" cy="2021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900mhz Dish Antenna, Universal Single Lnb, 1200mhz at best price in New  Delhi">
            <a:extLst>
              <a:ext uri="{FF2B5EF4-FFF2-40B4-BE49-F238E27FC236}">
                <a16:creationId xmlns:a16="http://schemas.microsoft.com/office/drawing/2014/main" id="{5F0601CD-7454-4B13-BF1A-AF53EF38D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378" y="2916300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Antennas and Phased Arrays - RF Microtech">
            <a:extLst>
              <a:ext uri="{FF2B5EF4-FFF2-40B4-BE49-F238E27FC236}">
                <a16:creationId xmlns:a16="http://schemas.microsoft.com/office/drawing/2014/main" id="{F2B063A3-9874-497D-829D-3D4C80B37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0215" y="2916300"/>
            <a:ext cx="1778379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15 dBi Gain Horn Antenna">
            <a:extLst>
              <a:ext uri="{FF2B5EF4-FFF2-40B4-BE49-F238E27FC236}">
                <a16:creationId xmlns:a16="http://schemas.microsoft.com/office/drawing/2014/main" id="{53D845C1-435C-46F1-940A-2885FC6487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44" b="18009"/>
          <a:stretch/>
        </p:blipFill>
        <p:spPr bwMode="auto">
          <a:xfrm flipH="1">
            <a:off x="601613" y="2916300"/>
            <a:ext cx="1073933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06C85FE-5519-4F49-9011-D0633B3481BF}"/>
              </a:ext>
            </a:extLst>
          </p:cNvPr>
          <p:cNvSpPr/>
          <p:nvPr/>
        </p:nvSpPr>
        <p:spPr>
          <a:xfrm>
            <a:off x="2016773" y="848600"/>
            <a:ext cx="228151" cy="1623164"/>
          </a:xfrm>
          <a:prstGeom prst="rect">
            <a:avLst/>
          </a:prstGeom>
          <a:noFill/>
          <a:ln>
            <a:solidFill>
              <a:srgbClr val="8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94" name="Picture 22" descr="How Bright are LED Flashlights? And What the Heck is a Lumen? | WIRED">
            <a:extLst>
              <a:ext uri="{FF2B5EF4-FFF2-40B4-BE49-F238E27FC236}">
                <a16:creationId xmlns:a16="http://schemas.microsoft.com/office/drawing/2014/main" id="{33EFA22C-4B0B-4DCB-8FED-6A7ABF136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712" y="2916300"/>
            <a:ext cx="1599874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6086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uiExpand="1" build="p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1E88B-92A3-465D-BC4C-7837EF20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光学无线网络的发展</a:t>
            </a: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CDCD4FA-9E83-4ECF-9F12-92BB4E1ECC9F}"/>
              </a:ext>
            </a:extLst>
          </p:cNvPr>
          <p:cNvGrpSpPr/>
          <p:nvPr/>
        </p:nvGrpSpPr>
        <p:grpSpPr>
          <a:xfrm>
            <a:off x="702196" y="3373213"/>
            <a:ext cx="2212313" cy="1163167"/>
            <a:chOff x="653217" y="3581200"/>
            <a:chExt cx="2212313" cy="1163167"/>
          </a:xfrm>
        </p:grpSpPr>
        <p:sp>
          <p:nvSpPr>
            <p:cNvPr id="73" name="Shape 188">
              <a:extLst>
                <a:ext uri="{FF2B5EF4-FFF2-40B4-BE49-F238E27FC236}">
                  <a16:creationId xmlns:a16="http://schemas.microsoft.com/office/drawing/2014/main" id="{B7C77777-F9A6-4B3D-B571-85CC155BF536}"/>
                </a:ext>
              </a:extLst>
            </p:cNvPr>
            <p:cNvSpPr txBox="1"/>
            <p:nvPr/>
          </p:nvSpPr>
          <p:spPr>
            <a:xfrm>
              <a:off x="653217" y="3877037"/>
              <a:ext cx="858057" cy="60887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物联网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A10DC0A9-C9F0-40BA-A3CC-04A5B68321C9}"/>
                </a:ext>
              </a:extLst>
            </p:cNvPr>
            <p:cNvGrpSpPr/>
            <p:nvPr/>
          </p:nvGrpSpPr>
          <p:grpSpPr>
            <a:xfrm>
              <a:off x="1666064" y="3581200"/>
              <a:ext cx="1199466" cy="1163167"/>
              <a:chOff x="1666064" y="3581200"/>
              <a:chExt cx="1199466" cy="1163167"/>
            </a:xfrm>
          </p:grpSpPr>
          <p:pic>
            <p:nvPicPr>
              <p:cNvPr id="70" name="Shape 155">
                <a:extLst>
                  <a:ext uri="{FF2B5EF4-FFF2-40B4-BE49-F238E27FC236}">
                    <a16:creationId xmlns:a16="http://schemas.microsoft.com/office/drawing/2014/main" id="{5252672F-C2C4-4B3D-8DD7-075B6A16918E}"/>
                  </a:ext>
                </a:extLst>
              </p:cNvPr>
              <p:cNvPicPr preferRelativeResize="0"/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66064" y="4252669"/>
                <a:ext cx="491698" cy="4916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" name="Shape 183">
                <a:extLst>
                  <a:ext uri="{FF2B5EF4-FFF2-40B4-BE49-F238E27FC236}">
                    <a16:creationId xmlns:a16="http://schemas.microsoft.com/office/drawing/2014/main" id="{AEE794D1-32D2-45C7-BD06-C67A31132945}"/>
                  </a:ext>
                </a:extLst>
              </p:cNvPr>
              <p:cNvPicPr preferRelativeResize="0"/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3001" y="4274276"/>
                <a:ext cx="452529" cy="4700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" name="Shape 185">
                <a:extLst>
                  <a:ext uri="{FF2B5EF4-FFF2-40B4-BE49-F238E27FC236}">
                    <a16:creationId xmlns:a16="http://schemas.microsoft.com/office/drawing/2014/main" id="{6541684C-37BF-4216-AF2E-0B358436E906}"/>
                  </a:ext>
                </a:extLst>
              </p:cNvPr>
              <p:cNvPicPr preferRelativeResize="0"/>
              <p:nvPr/>
            </p:nvPicPr>
            <p:blipFill>
              <a:blip r:embed="rId4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96868" y="3581200"/>
                <a:ext cx="425116" cy="5106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" name="Picture 158">
                <a:extLst>
                  <a:ext uri="{FF2B5EF4-FFF2-40B4-BE49-F238E27FC236}">
                    <a16:creationId xmlns:a16="http://schemas.microsoft.com/office/drawing/2014/main" id="{DA9F376E-4B6D-4F2B-83FC-45DC057678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74419" y="3581200"/>
                <a:ext cx="684144" cy="448114"/>
              </a:xfrm>
              <a:prstGeom prst="rect">
                <a:avLst/>
              </a:prstGeom>
            </p:spPr>
          </p:pic>
        </p:grp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C213362-D4C9-4EBD-8AC2-7ADA6ADA4A8D}"/>
              </a:ext>
            </a:extLst>
          </p:cNvPr>
          <p:cNvGrpSpPr/>
          <p:nvPr/>
        </p:nvGrpSpPr>
        <p:grpSpPr>
          <a:xfrm>
            <a:off x="5742756" y="3373213"/>
            <a:ext cx="2268209" cy="1163167"/>
            <a:chOff x="6048777" y="3581200"/>
            <a:chExt cx="2268209" cy="1163167"/>
          </a:xfrm>
        </p:grpSpPr>
        <p:sp>
          <p:nvSpPr>
            <p:cNvPr id="60" name="Shape 190">
              <a:extLst>
                <a:ext uri="{FF2B5EF4-FFF2-40B4-BE49-F238E27FC236}">
                  <a16:creationId xmlns:a16="http://schemas.microsoft.com/office/drawing/2014/main" id="{30F22D1D-79EE-4ABA-A320-C3BD58561E6F}"/>
                </a:ext>
              </a:extLst>
            </p:cNvPr>
            <p:cNvSpPr txBox="1"/>
            <p:nvPr/>
          </p:nvSpPr>
          <p:spPr>
            <a:xfrm>
              <a:off x="6048777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移动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7EC2F674-3C72-49EA-993B-C4BBE8F53B70}"/>
                </a:ext>
              </a:extLst>
            </p:cNvPr>
            <p:cNvGrpSpPr/>
            <p:nvPr/>
          </p:nvGrpSpPr>
          <p:grpSpPr>
            <a:xfrm>
              <a:off x="6920466" y="3581200"/>
              <a:ext cx="1396520" cy="1163167"/>
              <a:chOff x="6920466" y="3581200"/>
              <a:chExt cx="1396520" cy="1163167"/>
            </a:xfrm>
          </p:grpSpPr>
          <p:pic>
            <p:nvPicPr>
              <p:cNvPr id="62" name="Picture 133">
                <a:extLst>
                  <a:ext uri="{FF2B5EF4-FFF2-40B4-BE49-F238E27FC236}">
                    <a16:creationId xmlns:a16="http://schemas.microsoft.com/office/drawing/2014/main" id="{4202EB84-4797-4F47-A239-3C270D23C3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0466" y="3581200"/>
                <a:ext cx="460416" cy="623791"/>
              </a:xfrm>
              <a:prstGeom prst="rect">
                <a:avLst/>
              </a:prstGeom>
            </p:spPr>
          </p:pic>
          <p:pic>
            <p:nvPicPr>
              <p:cNvPr id="63" name="Picture 135">
                <a:extLst>
                  <a:ext uri="{FF2B5EF4-FFF2-40B4-BE49-F238E27FC236}">
                    <a16:creationId xmlns:a16="http://schemas.microsoft.com/office/drawing/2014/main" id="{9ED241D1-5C3A-45E5-BB8E-2497A90C89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865775" y="4215483"/>
                <a:ext cx="432980" cy="528884"/>
              </a:xfrm>
              <a:prstGeom prst="rect">
                <a:avLst/>
              </a:prstGeom>
            </p:spPr>
          </p:pic>
          <p:pic>
            <p:nvPicPr>
              <p:cNvPr id="64" name="Picture 136">
                <a:extLst>
                  <a:ext uri="{FF2B5EF4-FFF2-40B4-BE49-F238E27FC236}">
                    <a16:creationId xmlns:a16="http://schemas.microsoft.com/office/drawing/2014/main" id="{583047E8-0512-430C-881E-B742D23B22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03096" y="3581200"/>
                <a:ext cx="813890" cy="360109"/>
              </a:xfrm>
              <a:prstGeom prst="rect">
                <a:avLst/>
              </a:prstGeom>
            </p:spPr>
          </p:pic>
          <p:pic>
            <p:nvPicPr>
              <p:cNvPr id="65" name="Picture 137">
                <a:extLst>
                  <a:ext uri="{FF2B5EF4-FFF2-40B4-BE49-F238E27FC236}">
                    <a16:creationId xmlns:a16="http://schemas.microsoft.com/office/drawing/2014/main" id="{8FC51046-5E59-4BB0-A79C-9A9C5A5799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5806" y="4237991"/>
                <a:ext cx="712101" cy="506376"/>
              </a:xfrm>
              <a:prstGeom prst="rect">
                <a:avLst/>
              </a:prstGeom>
            </p:spPr>
          </p:pic>
        </p:grp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F645107E-5A1F-43AC-94E0-FAFEFCC5570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372" y="2225091"/>
            <a:ext cx="1641324" cy="885551"/>
          </a:xfrm>
          <a:prstGeom prst="rect">
            <a:avLst/>
          </a:prstGeom>
        </p:spPr>
      </p:pic>
      <p:sp>
        <p:nvSpPr>
          <p:cNvPr id="15" name="Shape 140">
            <a:extLst>
              <a:ext uri="{FF2B5EF4-FFF2-40B4-BE49-F238E27FC236}">
                <a16:creationId xmlns:a16="http://schemas.microsoft.com/office/drawing/2014/main" id="{B76951F3-F700-4731-BAB9-590743B1E632}"/>
              </a:ext>
            </a:extLst>
          </p:cNvPr>
          <p:cNvSpPr txBox="1"/>
          <p:nvPr/>
        </p:nvSpPr>
        <p:spPr>
          <a:xfrm>
            <a:off x="476789" y="1043554"/>
            <a:ext cx="2193505" cy="48330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骨干网与云服务</a:t>
            </a:r>
            <a:endParaRPr lang="en-US" altLang="zh-CN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6" name="Shape 141">
            <a:extLst>
              <a:ext uri="{FF2B5EF4-FFF2-40B4-BE49-F238E27FC236}">
                <a16:creationId xmlns:a16="http://schemas.microsoft.com/office/drawing/2014/main" id="{DF343CA8-3287-4452-A95A-909EFE0127F3}"/>
              </a:ext>
            </a:extLst>
          </p:cNvPr>
          <p:cNvPicPr preferRelativeResize="0"/>
          <p:nvPr/>
        </p:nvPicPr>
        <p:blipFill>
          <a:blip r:embed="rId1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653" y="1787606"/>
            <a:ext cx="411805" cy="274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Shape 142">
            <a:extLst>
              <a:ext uri="{FF2B5EF4-FFF2-40B4-BE49-F238E27FC236}">
                <a16:creationId xmlns:a16="http://schemas.microsoft.com/office/drawing/2014/main" id="{F00B6AA6-C698-4AF4-8172-6CADA4B7B517}"/>
              </a:ext>
            </a:extLst>
          </p:cNvPr>
          <p:cNvPicPr preferRelativeResize="0"/>
          <p:nvPr/>
        </p:nvPicPr>
        <p:blipFill>
          <a:blip r:embed="rId1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704" y="1544261"/>
            <a:ext cx="411805" cy="274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roup 89">
            <a:extLst>
              <a:ext uri="{FF2B5EF4-FFF2-40B4-BE49-F238E27FC236}">
                <a16:creationId xmlns:a16="http://schemas.microsoft.com/office/drawing/2014/main" id="{DBEDCD6A-0DA4-4DB1-82EA-C8AEB211914F}"/>
              </a:ext>
            </a:extLst>
          </p:cNvPr>
          <p:cNvGrpSpPr/>
          <p:nvPr/>
        </p:nvGrpSpPr>
        <p:grpSpPr>
          <a:xfrm>
            <a:off x="1661294" y="1523501"/>
            <a:ext cx="6351357" cy="1762893"/>
            <a:chOff x="1652700" y="1556084"/>
            <a:chExt cx="10173540" cy="2823785"/>
          </a:xfrm>
        </p:grpSpPr>
        <p:grpSp>
          <p:nvGrpSpPr>
            <p:cNvPr id="46" name="Group 90">
              <a:extLst>
                <a:ext uri="{FF2B5EF4-FFF2-40B4-BE49-F238E27FC236}">
                  <a16:creationId xmlns:a16="http://schemas.microsoft.com/office/drawing/2014/main" id="{90A82EDA-2897-4A13-95E7-85470D1E11C5}"/>
                </a:ext>
              </a:extLst>
            </p:cNvPr>
            <p:cNvGrpSpPr/>
            <p:nvPr/>
          </p:nvGrpSpPr>
          <p:grpSpPr>
            <a:xfrm>
              <a:off x="4839980" y="2243052"/>
              <a:ext cx="2974270" cy="2063747"/>
              <a:chOff x="4839980" y="2243052"/>
              <a:chExt cx="2974270" cy="2063747"/>
            </a:xfrm>
          </p:grpSpPr>
          <p:sp>
            <p:nvSpPr>
              <p:cNvPr id="53" name="Shape 139">
                <a:extLst>
                  <a:ext uri="{FF2B5EF4-FFF2-40B4-BE49-F238E27FC236}">
                    <a16:creationId xmlns:a16="http://schemas.microsoft.com/office/drawing/2014/main" id="{81557118-9140-4C73-BDA6-56714DD707C1}"/>
                  </a:ext>
                </a:extLst>
              </p:cNvPr>
              <p:cNvSpPr/>
              <p:nvPr/>
            </p:nvSpPr>
            <p:spPr>
              <a:xfrm>
                <a:off x="4839980" y="2243052"/>
                <a:ext cx="2974270" cy="2063747"/>
              </a:xfrm>
              <a:prstGeom prst="ellipse">
                <a:avLst/>
              </a:pr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endParaRPr sz="110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4" name="Shape 152">
                <a:extLst>
                  <a:ext uri="{FF2B5EF4-FFF2-40B4-BE49-F238E27FC236}">
                    <a16:creationId xmlns:a16="http://schemas.microsoft.com/office/drawing/2014/main" id="{E04FFE8A-6527-4AD9-8BB2-83025354E365}"/>
                  </a:ext>
                </a:extLst>
              </p:cNvPr>
              <p:cNvSpPr txBox="1"/>
              <p:nvPr/>
            </p:nvSpPr>
            <p:spPr>
              <a:xfrm>
                <a:off x="5393656" y="3683856"/>
                <a:ext cx="1953279" cy="5025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algn="ctr"/>
                <a:r>
                  <a:rPr lang="zh-CN" altLang="en-US" sz="1100" b="1" dirty="0">
                    <a:latin typeface="Arial" charset="0"/>
                    <a:ea typeface="Arial" charset="0"/>
                    <a:cs typeface="Arial" charset="0"/>
                  </a:rPr>
                  <a:t>区域网络</a:t>
                </a:r>
                <a:endParaRPr lang="en" sz="1100" b="1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47" name="Group 91">
              <a:extLst>
                <a:ext uri="{FF2B5EF4-FFF2-40B4-BE49-F238E27FC236}">
                  <a16:creationId xmlns:a16="http://schemas.microsoft.com/office/drawing/2014/main" id="{BC16D2D3-C6BA-4D3F-AEC0-86064A9D477C}"/>
                </a:ext>
              </a:extLst>
            </p:cNvPr>
            <p:cNvGrpSpPr/>
            <p:nvPr/>
          </p:nvGrpSpPr>
          <p:grpSpPr>
            <a:xfrm>
              <a:off x="7575080" y="1556084"/>
              <a:ext cx="4251160" cy="2788541"/>
              <a:chOff x="7575080" y="1556084"/>
              <a:chExt cx="4251160" cy="2788541"/>
            </a:xfrm>
          </p:grpSpPr>
          <p:sp>
            <p:nvSpPr>
              <p:cNvPr id="51" name="Shape 145">
                <a:extLst>
                  <a:ext uri="{FF2B5EF4-FFF2-40B4-BE49-F238E27FC236}">
                    <a16:creationId xmlns:a16="http://schemas.microsoft.com/office/drawing/2014/main" id="{8770414C-88D8-44D6-857B-1B5279E4E742}"/>
                  </a:ext>
                </a:extLst>
              </p:cNvPr>
              <p:cNvSpPr/>
              <p:nvPr/>
            </p:nvSpPr>
            <p:spPr>
              <a:xfrm>
                <a:off x="7575080" y="1556084"/>
                <a:ext cx="4251160" cy="2788541"/>
              </a:xfrm>
              <a:prstGeom prst="ellipse">
                <a:avLst/>
              </a:pr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endParaRPr sz="110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2" name="Shape 153">
                <a:extLst>
                  <a:ext uri="{FF2B5EF4-FFF2-40B4-BE49-F238E27FC236}">
                    <a16:creationId xmlns:a16="http://schemas.microsoft.com/office/drawing/2014/main" id="{9AB59A70-4CA3-4D88-A4B2-A60FAB179594}"/>
                  </a:ext>
                </a:extLst>
              </p:cNvPr>
              <p:cNvSpPr txBox="1"/>
              <p:nvPr/>
            </p:nvSpPr>
            <p:spPr>
              <a:xfrm>
                <a:off x="8549501" y="3677441"/>
                <a:ext cx="2371882" cy="4493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algn="ctr"/>
                <a:r>
                  <a:rPr lang="zh-CN" altLang="en-US" sz="1100" b="1" dirty="0">
                    <a:latin typeface="Arial" charset="0"/>
                    <a:ea typeface="Arial" charset="0"/>
                    <a:cs typeface="Arial" charset="0"/>
                  </a:rPr>
                  <a:t>企业网络</a:t>
                </a:r>
                <a:endParaRPr lang="en" sz="1100" b="1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48" name="Group 92">
              <a:extLst>
                <a:ext uri="{FF2B5EF4-FFF2-40B4-BE49-F238E27FC236}">
                  <a16:creationId xmlns:a16="http://schemas.microsoft.com/office/drawing/2014/main" id="{BEEAEFE5-9EC7-4554-9094-AE8122BC5B9A}"/>
                </a:ext>
              </a:extLst>
            </p:cNvPr>
            <p:cNvGrpSpPr/>
            <p:nvPr/>
          </p:nvGrpSpPr>
          <p:grpSpPr>
            <a:xfrm>
              <a:off x="1652700" y="1779900"/>
              <a:ext cx="3094759" cy="2599969"/>
              <a:chOff x="1652700" y="1779900"/>
              <a:chExt cx="3094759" cy="2599969"/>
            </a:xfrm>
          </p:grpSpPr>
          <p:sp>
            <p:nvSpPr>
              <p:cNvPr id="49" name="Shape 148">
                <a:extLst>
                  <a:ext uri="{FF2B5EF4-FFF2-40B4-BE49-F238E27FC236}">
                    <a16:creationId xmlns:a16="http://schemas.microsoft.com/office/drawing/2014/main" id="{B78D63A3-E952-4BE0-BEA8-C7201A2FE700}"/>
                  </a:ext>
                </a:extLst>
              </p:cNvPr>
              <p:cNvSpPr/>
              <p:nvPr/>
            </p:nvSpPr>
            <p:spPr>
              <a:xfrm>
                <a:off x="1652700" y="1779900"/>
                <a:ext cx="3094759" cy="2599969"/>
              </a:xfrm>
              <a:prstGeom prst="ellipse">
                <a:avLst/>
              </a:pr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endParaRPr sz="110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0" name="Shape 154">
                <a:extLst>
                  <a:ext uri="{FF2B5EF4-FFF2-40B4-BE49-F238E27FC236}">
                    <a16:creationId xmlns:a16="http://schemas.microsoft.com/office/drawing/2014/main" id="{CD2B3B02-D775-4C1B-BD3B-1788CD2884D5}"/>
                  </a:ext>
                </a:extLst>
              </p:cNvPr>
              <p:cNvSpPr txBox="1"/>
              <p:nvPr/>
            </p:nvSpPr>
            <p:spPr>
              <a:xfrm>
                <a:off x="2174475" y="3698269"/>
                <a:ext cx="2160100" cy="445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algn="ctr"/>
                <a:r>
                  <a:rPr lang="zh-CN" altLang="en-US" sz="1100" b="1" dirty="0">
                    <a:latin typeface="Arial" charset="0"/>
                    <a:ea typeface="Arial" charset="0"/>
                    <a:cs typeface="Arial" charset="0"/>
                  </a:rPr>
                  <a:t>移动网络</a:t>
                </a:r>
                <a:endParaRPr lang="en" sz="1100" b="1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pic>
        <p:nvPicPr>
          <p:cNvPr id="19" name="Shape 176">
            <a:extLst>
              <a:ext uri="{FF2B5EF4-FFF2-40B4-BE49-F238E27FC236}">
                <a16:creationId xmlns:a16="http://schemas.microsoft.com/office/drawing/2014/main" id="{A6F843B5-C4AB-4DC8-A85E-F35EFE621FB2}"/>
              </a:ext>
            </a:extLst>
          </p:cNvPr>
          <p:cNvPicPr preferRelativeResize="0"/>
          <p:nvPr/>
        </p:nvPicPr>
        <p:blipFill>
          <a:blip r:embed="rId1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239" y="1825608"/>
            <a:ext cx="411805" cy="274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roup 100">
            <a:extLst>
              <a:ext uri="{FF2B5EF4-FFF2-40B4-BE49-F238E27FC236}">
                <a16:creationId xmlns:a16="http://schemas.microsoft.com/office/drawing/2014/main" id="{A61C677A-179C-48E4-843C-CE5E82862AA1}"/>
              </a:ext>
            </a:extLst>
          </p:cNvPr>
          <p:cNvGrpSpPr/>
          <p:nvPr/>
        </p:nvGrpSpPr>
        <p:grpSpPr>
          <a:xfrm>
            <a:off x="1945370" y="1826494"/>
            <a:ext cx="1366538" cy="604632"/>
            <a:chOff x="2148370" y="2041416"/>
            <a:chExt cx="2188906" cy="968494"/>
          </a:xfrm>
        </p:grpSpPr>
        <p:pic>
          <p:nvPicPr>
            <p:cNvPr id="43" name="Shape 150">
              <a:extLst>
                <a:ext uri="{FF2B5EF4-FFF2-40B4-BE49-F238E27FC236}">
                  <a16:creationId xmlns:a16="http://schemas.microsoft.com/office/drawing/2014/main" id="{F9678AB8-6507-4F58-AB82-DD0185D72C19}"/>
                </a:ext>
              </a:extLst>
            </p:cNvPr>
            <p:cNvPicPr preferRelativeResize="0"/>
            <p:nvPr/>
          </p:nvPicPr>
          <p:blipFill>
            <a:blip r:embed="rId12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9186" y="2398843"/>
              <a:ext cx="578090" cy="578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Shape 179">
              <a:extLst>
                <a:ext uri="{FF2B5EF4-FFF2-40B4-BE49-F238E27FC236}">
                  <a16:creationId xmlns:a16="http://schemas.microsoft.com/office/drawing/2014/main" id="{A24860F7-8306-4E24-AA92-BCCD6FE58D17}"/>
                </a:ext>
              </a:extLst>
            </p:cNvPr>
            <p:cNvPicPr preferRelativeResize="0"/>
            <p:nvPr/>
          </p:nvPicPr>
          <p:blipFill>
            <a:blip r:embed="rId1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370" y="2357914"/>
              <a:ext cx="542844" cy="6519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Shape 187">
              <a:extLst>
                <a:ext uri="{FF2B5EF4-FFF2-40B4-BE49-F238E27FC236}">
                  <a16:creationId xmlns:a16="http://schemas.microsoft.com/office/drawing/2014/main" id="{448725D4-B1BA-40B7-B919-9EC9855DD741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7405" y="2041416"/>
              <a:ext cx="874459" cy="8744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" name="Group 109">
            <a:extLst>
              <a:ext uri="{FF2B5EF4-FFF2-40B4-BE49-F238E27FC236}">
                <a16:creationId xmlns:a16="http://schemas.microsoft.com/office/drawing/2014/main" id="{14D53379-6A81-49F7-BDC4-9F94E26034D2}"/>
              </a:ext>
            </a:extLst>
          </p:cNvPr>
          <p:cNvGrpSpPr/>
          <p:nvPr/>
        </p:nvGrpSpPr>
        <p:grpSpPr>
          <a:xfrm>
            <a:off x="4006213" y="2003489"/>
            <a:ext cx="1168952" cy="468274"/>
            <a:chOff x="5449408" y="2324924"/>
            <a:chExt cx="1872415" cy="750077"/>
          </a:xfrm>
        </p:grpSpPr>
        <p:pic>
          <p:nvPicPr>
            <p:cNvPr id="40" name="Shape 157">
              <a:extLst>
                <a:ext uri="{FF2B5EF4-FFF2-40B4-BE49-F238E27FC236}">
                  <a16:creationId xmlns:a16="http://schemas.microsoft.com/office/drawing/2014/main" id="{1C98C0F8-6824-43C9-BC0C-DEF28E2C249A}"/>
                </a:ext>
              </a:extLst>
            </p:cNvPr>
            <p:cNvPicPr preferRelativeResize="0"/>
            <p:nvPr/>
          </p:nvPicPr>
          <p:blipFill>
            <a:blip r:embed="rId15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9408" y="2533311"/>
              <a:ext cx="403699" cy="484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Shape 160">
              <a:extLst>
                <a:ext uri="{FF2B5EF4-FFF2-40B4-BE49-F238E27FC236}">
                  <a16:creationId xmlns:a16="http://schemas.microsoft.com/office/drawing/2014/main" id="{F2C968CF-CED2-4AD2-AD3C-D0EDF196F569}"/>
                </a:ext>
              </a:extLst>
            </p:cNvPr>
            <p:cNvPicPr preferRelativeResize="0"/>
            <p:nvPr/>
          </p:nvPicPr>
          <p:blipFill>
            <a:blip r:embed="rId16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8124" y="2548019"/>
              <a:ext cx="403699" cy="403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Shape 186">
              <a:extLst>
                <a:ext uri="{FF2B5EF4-FFF2-40B4-BE49-F238E27FC236}">
                  <a16:creationId xmlns:a16="http://schemas.microsoft.com/office/drawing/2014/main" id="{55DF1082-C3E4-444F-9F51-41DDC61A12AD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1537" y="2324924"/>
              <a:ext cx="750077" cy="7500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" name="Group 125">
            <a:extLst>
              <a:ext uri="{FF2B5EF4-FFF2-40B4-BE49-F238E27FC236}">
                <a16:creationId xmlns:a16="http://schemas.microsoft.com/office/drawing/2014/main" id="{2351C1F1-8CFE-4676-8D74-5FABE5BF33C8}"/>
              </a:ext>
            </a:extLst>
          </p:cNvPr>
          <p:cNvGrpSpPr/>
          <p:nvPr/>
        </p:nvGrpSpPr>
        <p:grpSpPr>
          <a:xfrm>
            <a:off x="5807035" y="1652051"/>
            <a:ext cx="1669125" cy="699420"/>
            <a:chOff x="8333946" y="1761994"/>
            <a:chExt cx="2673588" cy="1120324"/>
          </a:xfrm>
        </p:grpSpPr>
        <p:pic>
          <p:nvPicPr>
            <p:cNvPr id="37" name="Shape 150">
              <a:extLst>
                <a:ext uri="{FF2B5EF4-FFF2-40B4-BE49-F238E27FC236}">
                  <a16:creationId xmlns:a16="http://schemas.microsoft.com/office/drawing/2014/main" id="{3E0AD489-220A-4920-B1EB-AE68144DA302}"/>
                </a:ext>
              </a:extLst>
            </p:cNvPr>
            <p:cNvPicPr preferRelativeResize="0"/>
            <p:nvPr/>
          </p:nvPicPr>
          <p:blipFill>
            <a:blip r:embed="rId12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7133" y="2143949"/>
              <a:ext cx="660401" cy="6604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Shape 179">
              <a:extLst>
                <a:ext uri="{FF2B5EF4-FFF2-40B4-BE49-F238E27FC236}">
                  <a16:creationId xmlns:a16="http://schemas.microsoft.com/office/drawing/2014/main" id="{599B15A5-4263-41BD-B4DE-28F20D6C304D}"/>
                </a:ext>
              </a:extLst>
            </p:cNvPr>
            <p:cNvPicPr preferRelativeResize="0"/>
            <p:nvPr/>
          </p:nvPicPr>
          <p:blipFill>
            <a:blip r:embed="rId17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3946" y="2104366"/>
              <a:ext cx="647712" cy="7779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Shape 187">
              <a:extLst>
                <a:ext uri="{FF2B5EF4-FFF2-40B4-BE49-F238E27FC236}">
                  <a16:creationId xmlns:a16="http://schemas.microsoft.com/office/drawing/2014/main" id="{7376EB1C-914D-4252-9AA7-1F74348046E2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6776" y="1761994"/>
              <a:ext cx="1021145" cy="10211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" name="Shape 140">
            <a:extLst>
              <a:ext uri="{FF2B5EF4-FFF2-40B4-BE49-F238E27FC236}">
                <a16:creationId xmlns:a16="http://schemas.microsoft.com/office/drawing/2014/main" id="{6874FDA1-6751-43A9-9691-CBD4EAAC26F8}"/>
              </a:ext>
            </a:extLst>
          </p:cNvPr>
          <p:cNvSpPr txBox="1"/>
          <p:nvPr/>
        </p:nvSpPr>
        <p:spPr>
          <a:xfrm>
            <a:off x="180082" y="2223013"/>
            <a:ext cx="1720252" cy="59723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接入网络</a:t>
            </a:r>
            <a:endParaRPr lang="en-US" altLang="zh-CN" dirty="0"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50DC9D1-442D-48C4-9D2E-10F819A72458}"/>
              </a:ext>
            </a:extLst>
          </p:cNvPr>
          <p:cNvGrpSpPr/>
          <p:nvPr/>
        </p:nvGrpSpPr>
        <p:grpSpPr>
          <a:xfrm>
            <a:off x="2769042" y="755610"/>
            <a:ext cx="3064546" cy="1142476"/>
            <a:chOff x="3202077" y="226664"/>
            <a:chExt cx="5352459" cy="1995420"/>
          </a:xfrm>
        </p:grpSpPr>
        <p:pic>
          <p:nvPicPr>
            <p:cNvPr id="32" name="Picture 85">
              <a:extLst>
                <a:ext uri="{FF2B5EF4-FFF2-40B4-BE49-F238E27FC236}">
                  <a16:creationId xmlns:a16="http://schemas.microsoft.com/office/drawing/2014/main" id="{1DD552B6-2A4D-4CAC-8335-E6D7BB47E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2077" y="226664"/>
              <a:ext cx="5352459" cy="1995420"/>
            </a:xfrm>
            <a:prstGeom prst="rect">
              <a:avLst/>
            </a:prstGeom>
          </p:spPr>
        </p:pic>
        <p:pic>
          <p:nvPicPr>
            <p:cNvPr id="33" name="Shape 187">
              <a:extLst>
                <a:ext uri="{FF2B5EF4-FFF2-40B4-BE49-F238E27FC236}">
                  <a16:creationId xmlns:a16="http://schemas.microsoft.com/office/drawing/2014/main" id="{AD495759-A85F-49B9-BA76-88C276E6B2CA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7788" y="492365"/>
              <a:ext cx="980470" cy="9804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Shape 187">
              <a:extLst>
                <a:ext uri="{FF2B5EF4-FFF2-40B4-BE49-F238E27FC236}">
                  <a16:creationId xmlns:a16="http://schemas.microsoft.com/office/drawing/2014/main" id="{9402E246-3A73-4F1F-9F66-12A36BB889BB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4632" y="795330"/>
              <a:ext cx="829988" cy="8299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Shape 187">
              <a:extLst>
                <a:ext uri="{FF2B5EF4-FFF2-40B4-BE49-F238E27FC236}">
                  <a16:creationId xmlns:a16="http://schemas.microsoft.com/office/drawing/2014/main" id="{1F071EFC-8E58-4D39-9DBF-235848D89D0E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1995" y="438857"/>
              <a:ext cx="833874" cy="833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Shape 187">
              <a:extLst>
                <a:ext uri="{FF2B5EF4-FFF2-40B4-BE49-F238E27FC236}">
                  <a16:creationId xmlns:a16="http://schemas.microsoft.com/office/drawing/2014/main" id="{43D6FC23-AF20-4D8A-9C03-841E885B461A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7587" y="722807"/>
              <a:ext cx="827585" cy="82758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650C9C39-55E4-4991-A255-72A5C0FD4D30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916" y="2362471"/>
            <a:ext cx="1163004" cy="62748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479F461-64C4-40E3-80B2-0365E0ED15DA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610" y="2153625"/>
            <a:ext cx="1916896" cy="1034233"/>
          </a:xfrm>
          <a:prstGeom prst="rect">
            <a:avLst/>
          </a:prstGeom>
        </p:spPr>
      </p:pic>
      <p:pic>
        <p:nvPicPr>
          <p:cNvPr id="27" name="Shape 164">
            <a:extLst>
              <a:ext uri="{FF2B5EF4-FFF2-40B4-BE49-F238E27FC236}">
                <a16:creationId xmlns:a16="http://schemas.microsoft.com/office/drawing/2014/main" id="{9E09FB8A-E7B1-4031-8F01-EF2B87120EA3}"/>
              </a:ext>
            </a:extLst>
          </p:cNvPr>
          <p:cNvPicPr preferRelativeResize="0"/>
          <p:nvPr/>
        </p:nvPicPr>
        <p:blipFill>
          <a:blip r:embed="rId21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098" y="2471763"/>
            <a:ext cx="311577" cy="356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roup 14">
            <a:extLst>
              <a:ext uri="{FF2B5EF4-FFF2-40B4-BE49-F238E27FC236}">
                <a16:creationId xmlns:a16="http://schemas.microsoft.com/office/drawing/2014/main" id="{ED038A78-612E-46E1-98CA-B94ACBB05E55}"/>
              </a:ext>
            </a:extLst>
          </p:cNvPr>
          <p:cNvGrpSpPr/>
          <p:nvPr/>
        </p:nvGrpSpPr>
        <p:grpSpPr>
          <a:xfrm>
            <a:off x="1838189" y="2364247"/>
            <a:ext cx="1622547" cy="653185"/>
            <a:chOff x="2439684" y="2950908"/>
            <a:chExt cx="2598979" cy="1046266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4CB1B9C5-EAEE-4761-A2E2-225A6D9EF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9684" y="2950908"/>
              <a:ext cx="1939199" cy="1046266"/>
            </a:xfrm>
            <a:prstGeom prst="rect">
              <a:avLst/>
            </a:prstGeom>
          </p:spPr>
        </p:pic>
        <p:pic>
          <p:nvPicPr>
            <p:cNvPr id="31" name="Picture 13">
              <a:extLst>
                <a:ext uri="{FF2B5EF4-FFF2-40B4-BE49-F238E27FC236}">
                  <a16:creationId xmlns:a16="http://schemas.microsoft.com/office/drawing/2014/main" id="{5F871663-0DD5-4E94-9AE5-570606C16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0546" y="3238736"/>
              <a:ext cx="758117" cy="457397"/>
            </a:xfrm>
            <a:prstGeom prst="rect">
              <a:avLst/>
            </a:prstGeom>
          </p:spPr>
        </p:pic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DC6CFA3-6AD4-4C1E-B657-F1BA31189135}"/>
              </a:ext>
            </a:extLst>
          </p:cNvPr>
          <p:cNvGrpSpPr/>
          <p:nvPr/>
        </p:nvGrpSpPr>
        <p:grpSpPr>
          <a:xfrm>
            <a:off x="3124828" y="3373213"/>
            <a:ext cx="2407608" cy="1163167"/>
            <a:chOff x="3413302" y="3581200"/>
            <a:chExt cx="2407608" cy="1163167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FB28A1E6-44AF-4754-9681-A71266DAE77F}"/>
                </a:ext>
              </a:extLst>
            </p:cNvPr>
            <p:cNvGrpSpPr/>
            <p:nvPr/>
          </p:nvGrpSpPr>
          <p:grpSpPr>
            <a:xfrm>
              <a:off x="4356137" y="3581200"/>
              <a:ext cx="1464773" cy="1163167"/>
              <a:chOff x="4356137" y="3581200"/>
              <a:chExt cx="1464773" cy="1163167"/>
            </a:xfrm>
          </p:grpSpPr>
          <p:pic>
            <p:nvPicPr>
              <p:cNvPr id="67" name="Picture 166">
                <a:extLst>
                  <a:ext uri="{FF2B5EF4-FFF2-40B4-BE49-F238E27FC236}">
                    <a16:creationId xmlns:a16="http://schemas.microsoft.com/office/drawing/2014/main" id="{255890DD-BF3C-4453-848F-D818761B1F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56137" y="3581200"/>
                <a:ext cx="929705" cy="562326"/>
              </a:xfrm>
              <a:prstGeom prst="rect">
                <a:avLst/>
              </a:prstGeom>
            </p:spPr>
          </p:pic>
          <p:pic>
            <p:nvPicPr>
              <p:cNvPr id="2050" name="Picture 2" descr="Traffic signal on a white background Royalty Free Vector">
                <a:extLst>
                  <a:ext uri="{FF2B5EF4-FFF2-40B4-BE49-F238E27FC236}">
                    <a16:creationId xmlns:a16="http://schemas.microsoft.com/office/drawing/2014/main" id="{BAB6426F-F138-451F-A233-F8BA4413FF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384" t="11427" r="33835" b="9849"/>
              <a:stretch/>
            </p:blipFill>
            <p:spPr bwMode="auto">
              <a:xfrm>
                <a:off x="5399776" y="3581200"/>
                <a:ext cx="421134" cy="1163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2" name="Picture 4" descr="Premium Vector | Set of blank road signs on white background">
                <a:extLst>
                  <a:ext uri="{FF2B5EF4-FFF2-40B4-BE49-F238E27FC236}">
                    <a16:creationId xmlns:a16="http://schemas.microsoft.com/office/drawing/2014/main" id="{1500A6E2-FC09-41BA-8C3F-1DA3AD1252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56546" y="4209636"/>
                <a:ext cx="929837" cy="5347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0" name="Shape 190">
              <a:extLst>
                <a:ext uri="{FF2B5EF4-FFF2-40B4-BE49-F238E27FC236}">
                  <a16:creationId xmlns:a16="http://schemas.microsoft.com/office/drawing/2014/main" id="{DEE0364B-DF7D-4903-8255-53BEEEFE86F9}"/>
                </a:ext>
              </a:extLst>
            </p:cNvPr>
            <p:cNvSpPr txBox="1"/>
            <p:nvPr/>
          </p:nvSpPr>
          <p:spPr>
            <a:xfrm>
              <a:off x="3413302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道路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设施</a:t>
              </a:r>
              <a:endParaRPr lang="en-US" altLang="zh-CN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006FEC12-75A0-4D0A-8B35-390CB0D11F3E}"/>
              </a:ext>
            </a:extLst>
          </p:cNvPr>
          <p:cNvSpPr txBox="1"/>
          <p:nvPr/>
        </p:nvSpPr>
        <p:spPr>
          <a:xfrm>
            <a:off x="8179240" y="2304132"/>
            <a:ext cx="713810" cy="646331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</a:rPr>
              <a:t>射频</a:t>
            </a:r>
            <a:br>
              <a:rPr lang="en-US" altLang="zh-CN" sz="1800" b="1" dirty="0">
                <a:solidFill>
                  <a:schemeClr val="bg1"/>
                </a:solidFill>
              </a:rPr>
            </a:br>
            <a:r>
              <a:rPr lang="zh-CN" altLang="en-US" sz="1800" b="1" dirty="0">
                <a:solidFill>
                  <a:schemeClr val="bg1"/>
                </a:solidFill>
              </a:rPr>
              <a:t>技术</a:t>
            </a:r>
          </a:p>
        </p:txBody>
      </p:sp>
    </p:spTree>
    <p:extLst>
      <p:ext uri="{BB962C8B-B14F-4D97-AF65-F5344CB8AC3E}">
        <p14:creationId xmlns:p14="http://schemas.microsoft.com/office/powerpoint/2010/main" val="7078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1E88B-92A3-465D-BC4C-7837EF20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光学无线网络的发展</a:t>
            </a: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CDCD4FA-9E83-4ECF-9F12-92BB4E1ECC9F}"/>
              </a:ext>
            </a:extLst>
          </p:cNvPr>
          <p:cNvGrpSpPr/>
          <p:nvPr/>
        </p:nvGrpSpPr>
        <p:grpSpPr>
          <a:xfrm>
            <a:off x="702196" y="3373213"/>
            <a:ext cx="2212313" cy="1163167"/>
            <a:chOff x="653217" y="3581200"/>
            <a:chExt cx="2212313" cy="1163167"/>
          </a:xfrm>
        </p:grpSpPr>
        <p:sp>
          <p:nvSpPr>
            <p:cNvPr id="73" name="Shape 188">
              <a:extLst>
                <a:ext uri="{FF2B5EF4-FFF2-40B4-BE49-F238E27FC236}">
                  <a16:creationId xmlns:a16="http://schemas.microsoft.com/office/drawing/2014/main" id="{B7C77777-F9A6-4B3D-B571-85CC155BF536}"/>
                </a:ext>
              </a:extLst>
            </p:cNvPr>
            <p:cNvSpPr txBox="1"/>
            <p:nvPr/>
          </p:nvSpPr>
          <p:spPr>
            <a:xfrm>
              <a:off x="653217" y="3877037"/>
              <a:ext cx="858057" cy="60887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物联网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A10DC0A9-C9F0-40BA-A3CC-04A5B68321C9}"/>
                </a:ext>
              </a:extLst>
            </p:cNvPr>
            <p:cNvGrpSpPr/>
            <p:nvPr/>
          </p:nvGrpSpPr>
          <p:grpSpPr>
            <a:xfrm>
              <a:off x="1666064" y="3581200"/>
              <a:ext cx="1199466" cy="1163167"/>
              <a:chOff x="1666064" y="3581200"/>
              <a:chExt cx="1199466" cy="1163167"/>
            </a:xfrm>
          </p:grpSpPr>
          <p:pic>
            <p:nvPicPr>
              <p:cNvPr id="70" name="Shape 155">
                <a:extLst>
                  <a:ext uri="{FF2B5EF4-FFF2-40B4-BE49-F238E27FC236}">
                    <a16:creationId xmlns:a16="http://schemas.microsoft.com/office/drawing/2014/main" id="{5252672F-C2C4-4B3D-8DD7-075B6A16918E}"/>
                  </a:ext>
                </a:extLst>
              </p:cNvPr>
              <p:cNvPicPr preferRelativeResize="0"/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66064" y="4252669"/>
                <a:ext cx="491698" cy="4916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" name="Shape 183">
                <a:extLst>
                  <a:ext uri="{FF2B5EF4-FFF2-40B4-BE49-F238E27FC236}">
                    <a16:creationId xmlns:a16="http://schemas.microsoft.com/office/drawing/2014/main" id="{AEE794D1-32D2-45C7-BD06-C67A31132945}"/>
                  </a:ext>
                </a:extLst>
              </p:cNvPr>
              <p:cNvPicPr preferRelativeResize="0"/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3001" y="4274276"/>
                <a:ext cx="452529" cy="4700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" name="Shape 185">
                <a:extLst>
                  <a:ext uri="{FF2B5EF4-FFF2-40B4-BE49-F238E27FC236}">
                    <a16:creationId xmlns:a16="http://schemas.microsoft.com/office/drawing/2014/main" id="{6541684C-37BF-4216-AF2E-0B358436E906}"/>
                  </a:ext>
                </a:extLst>
              </p:cNvPr>
              <p:cNvPicPr preferRelativeResize="0"/>
              <p:nvPr/>
            </p:nvPicPr>
            <p:blipFill>
              <a:blip r:embed="rId4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96868" y="3581200"/>
                <a:ext cx="425116" cy="5106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" name="Picture 158">
                <a:extLst>
                  <a:ext uri="{FF2B5EF4-FFF2-40B4-BE49-F238E27FC236}">
                    <a16:creationId xmlns:a16="http://schemas.microsoft.com/office/drawing/2014/main" id="{DA9F376E-4B6D-4F2B-83FC-45DC057678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74419" y="3581200"/>
                <a:ext cx="684144" cy="448114"/>
              </a:xfrm>
              <a:prstGeom prst="rect">
                <a:avLst/>
              </a:prstGeom>
            </p:spPr>
          </p:pic>
        </p:grp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C213362-D4C9-4EBD-8AC2-7ADA6ADA4A8D}"/>
              </a:ext>
            </a:extLst>
          </p:cNvPr>
          <p:cNvGrpSpPr/>
          <p:nvPr/>
        </p:nvGrpSpPr>
        <p:grpSpPr>
          <a:xfrm>
            <a:off x="5742756" y="3373213"/>
            <a:ext cx="2268209" cy="1163167"/>
            <a:chOff x="6048777" y="3581200"/>
            <a:chExt cx="2268209" cy="1163167"/>
          </a:xfrm>
        </p:grpSpPr>
        <p:sp>
          <p:nvSpPr>
            <p:cNvPr id="60" name="Shape 190">
              <a:extLst>
                <a:ext uri="{FF2B5EF4-FFF2-40B4-BE49-F238E27FC236}">
                  <a16:creationId xmlns:a16="http://schemas.microsoft.com/office/drawing/2014/main" id="{30F22D1D-79EE-4ABA-A320-C3BD58561E6F}"/>
                </a:ext>
              </a:extLst>
            </p:cNvPr>
            <p:cNvSpPr txBox="1"/>
            <p:nvPr/>
          </p:nvSpPr>
          <p:spPr>
            <a:xfrm>
              <a:off x="6048777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移动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7EC2F674-3C72-49EA-993B-C4BBE8F53B70}"/>
                </a:ext>
              </a:extLst>
            </p:cNvPr>
            <p:cNvGrpSpPr/>
            <p:nvPr/>
          </p:nvGrpSpPr>
          <p:grpSpPr>
            <a:xfrm>
              <a:off x="6920466" y="3581200"/>
              <a:ext cx="1396520" cy="1163167"/>
              <a:chOff x="6920466" y="3581200"/>
              <a:chExt cx="1396520" cy="1163167"/>
            </a:xfrm>
          </p:grpSpPr>
          <p:pic>
            <p:nvPicPr>
              <p:cNvPr id="62" name="Picture 133">
                <a:extLst>
                  <a:ext uri="{FF2B5EF4-FFF2-40B4-BE49-F238E27FC236}">
                    <a16:creationId xmlns:a16="http://schemas.microsoft.com/office/drawing/2014/main" id="{4202EB84-4797-4F47-A239-3C270D23C3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0466" y="3581200"/>
                <a:ext cx="460416" cy="623791"/>
              </a:xfrm>
              <a:prstGeom prst="rect">
                <a:avLst/>
              </a:prstGeom>
            </p:spPr>
          </p:pic>
          <p:pic>
            <p:nvPicPr>
              <p:cNvPr id="63" name="Picture 135">
                <a:extLst>
                  <a:ext uri="{FF2B5EF4-FFF2-40B4-BE49-F238E27FC236}">
                    <a16:creationId xmlns:a16="http://schemas.microsoft.com/office/drawing/2014/main" id="{9ED241D1-5C3A-45E5-BB8E-2497A90C89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865775" y="4215483"/>
                <a:ext cx="432980" cy="528884"/>
              </a:xfrm>
              <a:prstGeom prst="rect">
                <a:avLst/>
              </a:prstGeom>
            </p:spPr>
          </p:pic>
          <p:pic>
            <p:nvPicPr>
              <p:cNvPr id="64" name="Picture 136">
                <a:extLst>
                  <a:ext uri="{FF2B5EF4-FFF2-40B4-BE49-F238E27FC236}">
                    <a16:creationId xmlns:a16="http://schemas.microsoft.com/office/drawing/2014/main" id="{583047E8-0512-430C-881E-B742D23B22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03096" y="3581200"/>
                <a:ext cx="813890" cy="360109"/>
              </a:xfrm>
              <a:prstGeom prst="rect">
                <a:avLst/>
              </a:prstGeom>
            </p:spPr>
          </p:pic>
          <p:pic>
            <p:nvPicPr>
              <p:cNvPr id="65" name="Picture 137">
                <a:extLst>
                  <a:ext uri="{FF2B5EF4-FFF2-40B4-BE49-F238E27FC236}">
                    <a16:creationId xmlns:a16="http://schemas.microsoft.com/office/drawing/2014/main" id="{8FC51046-5E59-4BB0-A79C-9A9C5A5799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5806" y="4237991"/>
                <a:ext cx="712101" cy="506376"/>
              </a:xfrm>
              <a:prstGeom prst="rect">
                <a:avLst/>
              </a:prstGeom>
            </p:spPr>
          </p:pic>
        </p:grpSp>
      </p:grpSp>
      <p:sp>
        <p:nvSpPr>
          <p:cNvPr id="15" name="Shape 140">
            <a:extLst>
              <a:ext uri="{FF2B5EF4-FFF2-40B4-BE49-F238E27FC236}">
                <a16:creationId xmlns:a16="http://schemas.microsoft.com/office/drawing/2014/main" id="{B76951F3-F700-4731-BAB9-590743B1E632}"/>
              </a:ext>
            </a:extLst>
          </p:cNvPr>
          <p:cNvSpPr txBox="1"/>
          <p:nvPr/>
        </p:nvSpPr>
        <p:spPr>
          <a:xfrm>
            <a:off x="476789" y="1043554"/>
            <a:ext cx="2193505" cy="48330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骨干网与云服务</a:t>
            </a:r>
            <a:endParaRPr lang="en-US" altLang="zh-CN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6" name="Shape 141">
            <a:extLst>
              <a:ext uri="{FF2B5EF4-FFF2-40B4-BE49-F238E27FC236}">
                <a16:creationId xmlns:a16="http://schemas.microsoft.com/office/drawing/2014/main" id="{DF343CA8-3287-4452-A95A-909EFE0127F3}"/>
              </a:ext>
            </a:extLst>
          </p:cNvPr>
          <p:cNvPicPr preferRelativeResize="0"/>
          <p:nvPr/>
        </p:nvPicPr>
        <p:blipFill>
          <a:blip r:embed="rId10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653" y="1787606"/>
            <a:ext cx="411805" cy="274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Shape 142">
            <a:extLst>
              <a:ext uri="{FF2B5EF4-FFF2-40B4-BE49-F238E27FC236}">
                <a16:creationId xmlns:a16="http://schemas.microsoft.com/office/drawing/2014/main" id="{F00B6AA6-C698-4AF4-8172-6CADA4B7B517}"/>
              </a:ext>
            </a:extLst>
          </p:cNvPr>
          <p:cNvPicPr preferRelativeResize="0"/>
          <p:nvPr/>
        </p:nvPicPr>
        <p:blipFill>
          <a:blip r:embed="rId10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704" y="1544261"/>
            <a:ext cx="411805" cy="274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Shape 176">
            <a:extLst>
              <a:ext uri="{FF2B5EF4-FFF2-40B4-BE49-F238E27FC236}">
                <a16:creationId xmlns:a16="http://schemas.microsoft.com/office/drawing/2014/main" id="{A6F843B5-C4AB-4DC8-A85E-F35EFE621FB2}"/>
              </a:ext>
            </a:extLst>
          </p:cNvPr>
          <p:cNvPicPr preferRelativeResize="0"/>
          <p:nvPr/>
        </p:nvPicPr>
        <p:blipFill>
          <a:blip r:embed="rId10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239" y="1825608"/>
            <a:ext cx="411805" cy="274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roup 100">
            <a:extLst>
              <a:ext uri="{FF2B5EF4-FFF2-40B4-BE49-F238E27FC236}">
                <a16:creationId xmlns:a16="http://schemas.microsoft.com/office/drawing/2014/main" id="{A61C677A-179C-48E4-843C-CE5E82862AA1}"/>
              </a:ext>
            </a:extLst>
          </p:cNvPr>
          <p:cNvGrpSpPr/>
          <p:nvPr/>
        </p:nvGrpSpPr>
        <p:grpSpPr>
          <a:xfrm>
            <a:off x="1945370" y="1826494"/>
            <a:ext cx="1366538" cy="604632"/>
            <a:chOff x="2148370" y="2041416"/>
            <a:chExt cx="2188906" cy="968494"/>
          </a:xfrm>
        </p:grpSpPr>
        <p:pic>
          <p:nvPicPr>
            <p:cNvPr id="43" name="Shape 150">
              <a:extLst>
                <a:ext uri="{FF2B5EF4-FFF2-40B4-BE49-F238E27FC236}">
                  <a16:creationId xmlns:a16="http://schemas.microsoft.com/office/drawing/2014/main" id="{F9678AB8-6507-4F58-AB82-DD0185D72C19}"/>
                </a:ext>
              </a:extLst>
            </p:cNvPr>
            <p:cNvPicPr preferRelativeResize="0"/>
            <p:nvPr/>
          </p:nvPicPr>
          <p:blipFill>
            <a:blip r:embed="rId11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9186" y="2398843"/>
              <a:ext cx="578090" cy="578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Shape 179">
              <a:extLst>
                <a:ext uri="{FF2B5EF4-FFF2-40B4-BE49-F238E27FC236}">
                  <a16:creationId xmlns:a16="http://schemas.microsoft.com/office/drawing/2014/main" id="{A24860F7-8306-4E24-AA92-BCCD6FE58D17}"/>
                </a:ext>
              </a:extLst>
            </p:cNvPr>
            <p:cNvPicPr preferRelativeResize="0"/>
            <p:nvPr/>
          </p:nvPicPr>
          <p:blipFill>
            <a:blip r:embed="rId12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370" y="2357914"/>
              <a:ext cx="542844" cy="6519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Shape 187">
              <a:extLst>
                <a:ext uri="{FF2B5EF4-FFF2-40B4-BE49-F238E27FC236}">
                  <a16:creationId xmlns:a16="http://schemas.microsoft.com/office/drawing/2014/main" id="{448725D4-B1BA-40B7-B919-9EC9855DD741}"/>
                </a:ext>
              </a:extLst>
            </p:cNvPr>
            <p:cNvPicPr preferRelativeResize="0"/>
            <p:nvPr/>
          </p:nvPicPr>
          <p:blipFill>
            <a:blip r:embed="rId1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7405" y="2041416"/>
              <a:ext cx="874459" cy="8744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" name="Group 109">
            <a:extLst>
              <a:ext uri="{FF2B5EF4-FFF2-40B4-BE49-F238E27FC236}">
                <a16:creationId xmlns:a16="http://schemas.microsoft.com/office/drawing/2014/main" id="{14D53379-6A81-49F7-BDC4-9F94E26034D2}"/>
              </a:ext>
            </a:extLst>
          </p:cNvPr>
          <p:cNvGrpSpPr/>
          <p:nvPr/>
        </p:nvGrpSpPr>
        <p:grpSpPr>
          <a:xfrm>
            <a:off x="4006213" y="2003489"/>
            <a:ext cx="1168952" cy="468274"/>
            <a:chOff x="5449408" y="2324924"/>
            <a:chExt cx="1872415" cy="750077"/>
          </a:xfrm>
        </p:grpSpPr>
        <p:pic>
          <p:nvPicPr>
            <p:cNvPr id="40" name="Shape 157">
              <a:extLst>
                <a:ext uri="{FF2B5EF4-FFF2-40B4-BE49-F238E27FC236}">
                  <a16:creationId xmlns:a16="http://schemas.microsoft.com/office/drawing/2014/main" id="{1C98C0F8-6824-43C9-BC0C-DEF28E2C249A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9408" y="2533311"/>
              <a:ext cx="403699" cy="484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Shape 160">
              <a:extLst>
                <a:ext uri="{FF2B5EF4-FFF2-40B4-BE49-F238E27FC236}">
                  <a16:creationId xmlns:a16="http://schemas.microsoft.com/office/drawing/2014/main" id="{F2C968CF-CED2-4AD2-AD3C-D0EDF196F569}"/>
                </a:ext>
              </a:extLst>
            </p:cNvPr>
            <p:cNvPicPr preferRelativeResize="0"/>
            <p:nvPr/>
          </p:nvPicPr>
          <p:blipFill>
            <a:blip r:embed="rId15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8124" y="2548019"/>
              <a:ext cx="403699" cy="403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Shape 186">
              <a:extLst>
                <a:ext uri="{FF2B5EF4-FFF2-40B4-BE49-F238E27FC236}">
                  <a16:creationId xmlns:a16="http://schemas.microsoft.com/office/drawing/2014/main" id="{55DF1082-C3E4-444F-9F51-41DDC61A12AD}"/>
                </a:ext>
              </a:extLst>
            </p:cNvPr>
            <p:cNvPicPr preferRelativeResize="0"/>
            <p:nvPr/>
          </p:nvPicPr>
          <p:blipFill>
            <a:blip r:embed="rId1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1537" y="2324924"/>
              <a:ext cx="750077" cy="7500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" name="Group 125">
            <a:extLst>
              <a:ext uri="{FF2B5EF4-FFF2-40B4-BE49-F238E27FC236}">
                <a16:creationId xmlns:a16="http://schemas.microsoft.com/office/drawing/2014/main" id="{2351C1F1-8CFE-4676-8D74-5FABE5BF33C8}"/>
              </a:ext>
            </a:extLst>
          </p:cNvPr>
          <p:cNvGrpSpPr/>
          <p:nvPr/>
        </p:nvGrpSpPr>
        <p:grpSpPr>
          <a:xfrm>
            <a:off x="5807035" y="1652051"/>
            <a:ext cx="1669125" cy="699420"/>
            <a:chOff x="8333946" y="1761994"/>
            <a:chExt cx="2673588" cy="1120324"/>
          </a:xfrm>
        </p:grpSpPr>
        <p:pic>
          <p:nvPicPr>
            <p:cNvPr id="37" name="Shape 150">
              <a:extLst>
                <a:ext uri="{FF2B5EF4-FFF2-40B4-BE49-F238E27FC236}">
                  <a16:creationId xmlns:a16="http://schemas.microsoft.com/office/drawing/2014/main" id="{3E0AD489-220A-4920-B1EB-AE68144DA302}"/>
                </a:ext>
              </a:extLst>
            </p:cNvPr>
            <p:cNvPicPr preferRelativeResize="0"/>
            <p:nvPr/>
          </p:nvPicPr>
          <p:blipFill>
            <a:blip r:embed="rId11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7133" y="2143949"/>
              <a:ext cx="660401" cy="6604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Shape 179">
              <a:extLst>
                <a:ext uri="{FF2B5EF4-FFF2-40B4-BE49-F238E27FC236}">
                  <a16:creationId xmlns:a16="http://schemas.microsoft.com/office/drawing/2014/main" id="{599B15A5-4263-41BD-B4DE-28F20D6C304D}"/>
                </a:ext>
              </a:extLst>
            </p:cNvPr>
            <p:cNvPicPr preferRelativeResize="0"/>
            <p:nvPr/>
          </p:nvPicPr>
          <p:blipFill>
            <a:blip r:embed="rId16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3946" y="2104366"/>
              <a:ext cx="647712" cy="7779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Shape 187">
              <a:extLst>
                <a:ext uri="{FF2B5EF4-FFF2-40B4-BE49-F238E27FC236}">
                  <a16:creationId xmlns:a16="http://schemas.microsoft.com/office/drawing/2014/main" id="{7376EB1C-914D-4252-9AA7-1F74348046E2}"/>
                </a:ext>
              </a:extLst>
            </p:cNvPr>
            <p:cNvPicPr preferRelativeResize="0"/>
            <p:nvPr/>
          </p:nvPicPr>
          <p:blipFill>
            <a:blip r:embed="rId1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6776" y="1761994"/>
              <a:ext cx="1021145" cy="10211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" name="Shape 140">
            <a:extLst>
              <a:ext uri="{FF2B5EF4-FFF2-40B4-BE49-F238E27FC236}">
                <a16:creationId xmlns:a16="http://schemas.microsoft.com/office/drawing/2014/main" id="{6874FDA1-6751-43A9-9691-CBD4EAAC26F8}"/>
              </a:ext>
            </a:extLst>
          </p:cNvPr>
          <p:cNvSpPr txBox="1"/>
          <p:nvPr/>
        </p:nvSpPr>
        <p:spPr>
          <a:xfrm>
            <a:off x="180082" y="2223013"/>
            <a:ext cx="1720252" cy="59723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接入网络</a:t>
            </a:r>
            <a:endParaRPr lang="en-US" altLang="zh-CN" dirty="0"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50DC9D1-442D-48C4-9D2E-10F819A72458}"/>
              </a:ext>
            </a:extLst>
          </p:cNvPr>
          <p:cNvGrpSpPr/>
          <p:nvPr/>
        </p:nvGrpSpPr>
        <p:grpSpPr>
          <a:xfrm>
            <a:off x="2769042" y="755610"/>
            <a:ext cx="3064546" cy="1142476"/>
            <a:chOff x="3202077" y="226664"/>
            <a:chExt cx="5352459" cy="1995420"/>
          </a:xfrm>
        </p:grpSpPr>
        <p:pic>
          <p:nvPicPr>
            <p:cNvPr id="32" name="Picture 85">
              <a:extLst>
                <a:ext uri="{FF2B5EF4-FFF2-40B4-BE49-F238E27FC236}">
                  <a16:creationId xmlns:a16="http://schemas.microsoft.com/office/drawing/2014/main" id="{1DD552B6-2A4D-4CAC-8335-E6D7BB47E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2077" y="226664"/>
              <a:ext cx="5352459" cy="1995420"/>
            </a:xfrm>
            <a:prstGeom prst="rect">
              <a:avLst/>
            </a:prstGeom>
          </p:spPr>
        </p:pic>
        <p:pic>
          <p:nvPicPr>
            <p:cNvPr id="33" name="Shape 187">
              <a:extLst>
                <a:ext uri="{FF2B5EF4-FFF2-40B4-BE49-F238E27FC236}">
                  <a16:creationId xmlns:a16="http://schemas.microsoft.com/office/drawing/2014/main" id="{AD495759-A85F-49B9-BA76-88C276E6B2CA}"/>
                </a:ext>
              </a:extLst>
            </p:cNvPr>
            <p:cNvPicPr preferRelativeResize="0"/>
            <p:nvPr/>
          </p:nvPicPr>
          <p:blipFill>
            <a:blip r:embed="rId1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7788" y="492365"/>
              <a:ext cx="980470" cy="9804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Shape 187">
              <a:extLst>
                <a:ext uri="{FF2B5EF4-FFF2-40B4-BE49-F238E27FC236}">
                  <a16:creationId xmlns:a16="http://schemas.microsoft.com/office/drawing/2014/main" id="{9402E246-3A73-4F1F-9F66-12A36BB889BB}"/>
                </a:ext>
              </a:extLst>
            </p:cNvPr>
            <p:cNvPicPr preferRelativeResize="0"/>
            <p:nvPr/>
          </p:nvPicPr>
          <p:blipFill>
            <a:blip r:embed="rId1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4632" y="795330"/>
              <a:ext cx="829988" cy="8299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Shape 187">
              <a:extLst>
                <a:ext uri="{FF2B5EF4-FFF2-40B4-BE49-F238E27FC236}">
                  <a16:creationId xmlns:a16="http://schemas.microsoft.com/office/drawing/2014/main" id="{1F071EFC-8E58-4D39-9DBF-235848D89D0E}"/>
                </a:ext>
              </a:extLst>
            </p:cNvPr>
            <p:cNvPicPr preferRelativeResize="0"/>
            <p:nvPr/>
          </p:nvPicPr>
          <p:blipFill>
            <a:blip r:embed="rId1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1995" y="438857"/>
              <a:ext cx="833874" cy="833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Shape 187">
              <a:extLst>
                <a:ext uri="{FF2B5EF4-FFF2-40B4-BE49-F238E27FC236}">
                  <a16:creationId xmlns:a16="http://schemas.microsoft.com/office/drawing/2014/main" id="{43D6FC23-AF20-4D8A-9C03-841E885B461A}"/>
                </a:ext>
              </a:extLst>
            </p:cNvPr>
            <p:cNvPicPr preferRelativeResize="0"/>
            <p:nvPr/>
          </p:nvPicPr>
          <p:blipFill>
            <a:blip r:embed="rId1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7587" y="722807"/>
              <a:ext cx="827585" cy="82758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DC6CFA3-6AD4-4C1E-B657-F1BA31189135}"/>
              </a:ext>
            </a:extLst>
          </p:cNvPr>
          <p:cNvGrpSpPr/>
          <p:nvPr/>
        </p:nvGrpSpPr>
        <p:grpSpPr>
          <a:xfrm>
            <a:off x="3124828" y="3373213"/>
            <a:ext cx="2407608" cy="1163167"/>
            <a:chOff x="3413302" y="3581200"/>
            <a:chExt cx="2407608" cy="1163167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FB28A1E6-44AF-4754-9681-A71266DAE77F}"/>
                </a:ext>
              </a:extLst>
            </p:cNvPr>
            <p:cNvGrpSpPr/>
            <p:nvPr/>
          </p:nvGrpSpPr>
          <p:grpSpPr>
            <a:xfrm>
              <a:off x="4356137" y="3581200"/>
              <a:ext cx="1464773" cy="1163167"/>
              <a:chOff x="4356137" y="3581200"/>
              <a:chExt cx="1464773" cy="1163167"/>
            </a:xfrm>
          </p:grpSpPr>
          <p:pic>
            <p:nvPicPr>
              <p:cNvPr id="67" name="Picture 166">
                <a:extLst>
                  <a:ext uri="{FF2B5EF4-FFF2-40B4-BE49-F238E27FC236}">
                    <a16:creationId xmlns:a16="http://schemas.microsoft.com/office/drawing/2014/main" id="{255890DD-BF3C-4453-848F-D818761B1F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56137" y="3581200"/>
                <a:ext cx="929705" cy="562326"/>
              </a:xfrm>
              <a:prstGeom prst="rect">
                <a:avLst/>
              </a:prstGeom>
            </p:spPr>
          </p:pic>
          <p:pic>
            <p:nvPicPr>
              <p:cNvPr id="2050" name="Picture 2" descr="Traffic signal on a white background Royalty Free Vector">
                <a:extLst>
                  <a:ext uri="{FF2B5EF4-FFF2-40B4-BE49-F238E27FC236}">
                    <a16:creationId xmlns:a16="http://schemas.microsoft.com/office/drawing/2014/main" id="{BAB6426F-F138-451F-A233-F8BA4413FF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384" t="11427" r="33835" b="9849"/>
              <a:stretch/>
            </p:blipFill>
            <p:spPr bwMode="auto">
              <a:xfrm>
                <a:off x="5399776" y="3581200"/>
                <a:ext cx="421134" cy="1163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2" name="Picture 4" descr="Premium Vector | Set of blank road signs on white background">
                <a:extLst>
                  <a:ext uri="{FF2B5EF4-FFF2-40B4-BE49-F238E27FC236}">
                    <a16:creationId xmlns:a16="http://schemas.microsoft.com/office/drawing/2014/main" id="{1500A6E2-FC09-41BA-8C3F-1DA3AD1252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56546" y="4209636"/>
                <a:ext cx="929837" cy="5347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0" name="Shape 190">
              <a:extLst>
                <a:ext uri="{FF2B5EF4-FFF2-40B4-BE49-F238E27FC236}">
                  <a16:creationId xmlns:a16="http://schemas.microsoft.com/office/drawing/2014/main" id="{DEE0364B-DF7D-4903-8255-53BEEEFE86F9}"/>
                </a:ext>
              </a:extLst>
            </p:cNvPr>
            <p:cNvSpPr txBox="1"/>
            <p:nvPr/>
          </p:nvSpPr>
          <p:spPr>
            <a:xfrm>
              <a:off x="3413302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道路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设施</a:t>
              </a:r>
              <a:endParaRPr lang="en-US" altLang="zh-CN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66" name="文本框 65">
            <a:extLst>
              <a:ext uri="{FF2B5EF4-FFF2-40B4-BE49-F238E27FC236}">
                <a16:creationId xmlns:a16="http://schemas.microsoft.com/office/drawing/2014/main" id="{FF9C464A-22A1-4507-8E81-03B4BF24204F}"/>
              </a:ext>
            </a:extLst>
          </p:cNvPr>
          <p:cNvSpPr txBox="1"/>
          <p:nvPr/>
        </p:nvSpPr>
        <p:spPr>
          <a:xfrm>
            <a:off x="8179240" y="2304132"/>
            <a:ext cx="713810" cy="646331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</a:rPr>
              <a:t>光学</a:t>
            </a:r>
            <a:br>
              <a:rPr lang="en-US" altLang="zh-CN" sz="1800" b="1" dirty="0">
                <a:solidFill>
                  <a:schemeClr val="bg1"/>
                </a:solidFill>
              </a:rPr>
            </a:br>
            <a:r>
              <a:rPr lang="zh-CN" altLang="en-US" sz="1800" b="1" dirty="0">
                <a:solidFill>
                  <a:schemeClr val="bg1"/>
                </a:solidFill>
              </a:rPr>
              <a:t>技术</a:t>
            </a:r>
          </a:p>
        </p:txBody>
      </p:sp>
      <p:pic>
        <p:nvPicPr>
          <p:cNvPr id="1026" name="Picture 2" descr="Nobel for blue LED that revolutionized lighting | Nature">
            <a:extLst>
              <a:ext uri="{FF2B5EF4-FFF2-40B4-BE49-F238E27FC236}">
                <a16:creationId xmlns:a16="http://schemas.microsoft.com/office/drawing/2014/main" id="{442AAFB9-27B0-495E-908F-616B4CBFC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48" y="2513016"/>
            <a:ext cx="482143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Shape 190">
            <a:extLst>
              <a:ext uri="{FF2B5EF4-FFF2-40B4-BE49-F238E27FC236}">
                <a16:creationId xmlns:a16="http://schemas.microsoft.com/office/drawing/2014/main" id="{473F2CEF-0AEA-4FAE-A805-9845B3BADCA8}"/>
              </a:ext>
            </a:extLst>
          </p:cNvPr>
          <p:cNvSpPr txBox="1"/>
          <p:nvPr/>
        </p:nvSpPr>
        <p:spPr>
          <a:xfrm>
            <a:off x="6298493" y="756905"/>
            <a:ext cx="2376264" cy="3952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-US" altLang="zh-CN" b="1" dirty="0">
                <a:solidFill>
                  <a:srgbClr val="8C0000"/>
                </a:solidFill>
                <a:latin typeface="Arial" charset="0"/>
                <a:ea typeface="Arial" charset="0"/>
                <a:cs typeface="Arial" charset="0"/>
              </a:rPr>
              <a:t>1993</a:t>
            </a:r>
            <a:r>
              <a:rPr lang="zh-CN" altLang="en-US" b="1" dirty="0">
                <a:solidFill>
                  <a:srgbClr val="8C0000"/>
                </a:solidFill>
                <a:latin typeface="Arial" charset="0"/>
                <a:ea typeface="Arial" charset="0"/>
                <a:cs typeface="Arial" charset="0"/>
              </a:rPr>
              <a:t>年</a:t>
            </a:r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蓝光</a:t>
            </a:r>
            <a:r>
              <a:rPr lang="en-US" altLang="zh-CN" dirty="0">
                <a:latin typeface="Arial" charset="0"/>
                <a:ea typeface="Arial" charset="0"/>
                <a:cs typeface="Arial" charset="0"/>
              </a:rPr>
              <a:t>LED</a:t>
            </a:r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发明</a:t>
            </a:r>
            <a:endParaRPr lang="en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4" name="Shape 190">
            <a:extLst>
              <a:ext uri="{FF2B5EF4-FFF2-40B4-BE49-F238E27FC236}">
                <a16:creationId xmlns:a16="http://schemas.microsoft.com/office/drawing/2014/main" id="{8D92C5F3-31CD-48B5-9ACE-C8AF74D9E331}"/>
              </a:ext>
            </a:extLst>
          </p:cNvPr>
          <p:cNvSpPr txBox="1"/>
          <p:nvPr/>
        </p:nvSpPr>
        <p:spPr>
          <a:xfrm>
            <a:off x="6298493" y="1168035"/>
            <a:ext cx="2376264" cy="3952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-US" altLang="zh-CN" b="1" dirty="0">
                <a:solidFill>
                  <a:srgbClr val="8C0000"/>
                </a:solidFill>
                <a:latin typeface="Arial" charset="0"/>
                <a:ea typeface="Arial" charset="0"/>
                <a:cs typeface="Arial" charset="0"/>
              </a:rPr>
              <a:t>2011</a:t>
            </a:r>
            <a:r>
              <a:rPr lang="zh-CN" altLang="en-US" b="1" dirty="0">
                <a:solidFill>
                  <a:srgbClr val="8C0000"/>
                </a:solidFill>
                <a:latin typeface="Arial" charset="0"/>
                <a:ea typeface="Arial" charset="0"/>
                <a:cs typeface="Arial" charset="0"/>
              </a:rPr>
              <a:t>年</a:t>
            </a:r>
            <a:r>
              <a:rPr lang="en-US" altLang="zh-CN" dirty="0">
                <a:latin typeface="Arial" charset="0"/>
                <a:ea typeface="Arial" charset="0"/>
                <a:cs typeface="Arial" charset="0"/>
              </a:rPr>
              <a:t>Li-Fi</a:t>
            </a:r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概念提出</a:t>
            </a:r>
            <a:endParaRPr lang="en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76" name="Content Placeholder 6">
            <a:extLst>
              <a:ext uri="{FF2B5EF4-FFF2-40B4-BE49-F238E27FC236}">
                <a16:creationId xmlns:a16="http://schemas.microsoft.com/office/drawing/2014/main" id="{55304895-9E73-4F9E-95D8-A931D42C66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4691" y="2513016"/>
            <a:ext cx="1164995" cy="720000"/>
          </a:xfrm>
          <a:prstGeom prst="rect">
            <a:avLst/>
          </a:prstGeom>
        </p:spPr>
      </p:pic>
      <p:pic>
        <p:nvPicPr>
          <p:cNvPr id="77" name="Picture 12">
            <a:extLst>
              <a:ext uri="{FF2B5EF4-FFF2-40B4-BE49-F238E27FC236}">
                <a16:creationId xmlns:a16="http://schemas.microsoft.com/office/drawing/2014/main" id="{008678B6-2860-4E7D-9B77-67DACCAD58D5}"/>
              </a:ext>
            </a:extLst>
          </p:cNvPr>
          <p:cNvPicPr>
            <a:picLocks noChangeAspect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13166" y="2513016"/>
            <a:ext cx="566937" cy="720000"/>
          </a:xfrm>
          <a:prstGeom prst="rect">
            <a:avLst/>
          </a:prstGeom>
        </p:spPr>
      </p:pic>
      <p:pic>
        <p:nvPicPr>
          <p:cNvPr id="86" name="Picture 7">
            <a:extLst>
              <a:ext uri="{FF2B5EF4-FFF2-40B4-BE49-F238E27FC236}">
                <a16:creationId xmlns:a16="http://schemas.microsoft.com/office/drawing/2014/main" id="{4FBDF23B-703E-48FA-9DE3-18416B43BBFF}"/>
              </a:ext>
            </a:extLst>
          </p:cNvPr>
          <p:cNvPicPr>
            <a:picLocks noChangeAspect="1"/>
          </p:cNvPicPr>
          <p:nvPr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206" y="2513016"/>
            <a:ext cx="1059310" cy="720000"/>
          </a:xfrm>
          <a:prstGeom prst="rect">
            <a:avLst/>
          </a:prstGeom>
        </p:spPr>
      </p:pic>
      <p:pic>
        <p:nvPicPr>
          <p:cNvPr id="87" name="Picture 2">
            <a:extLst>
              <a:ext uri="{FF2B5EF4-FFF2-40B4-BE49-F238E27FC236}">
                <a16:creationId xmlns:a16="http://schemas.microsoft.com/office/drawing/2014/main" id="{7FDE97E2-55BC-4683-9590-09038A029BBA}"/>
              </a:ext>
            </a:extLst>
          </p:cNvPr>
          <p:cNvPicPr>
            <a:picLocks noChangeAspect="1"/>
          </p:cNvPicPr>
          <p:nvPr/>
        </p:nvPicPr>
        <p:blipFill rotWithShape="1"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65278" y="2513016"/>
            <a:ext cx="1219753" cy="720000"/>
          </a:xfrm>
          <a:prstGeom prst="rect">
            <a:avLst/>
          </a:prstGeom>
        </p:spPr>
      </p:pic>
      <p:pic>
        <p:nvPicPr>
          <p:cNvPr id="88" name="Picture 32">
            <a:extLst>
              <a:ext uri="{FF2B5EF4-FFF2-40B4-BE49-F238E27FC236}">
                <a16:creationId xmlns:a16="http://schemas.microsoft.com/office/drawing/2014/main" id="{E249A498-D4F1-4B6B-A00E-146A26137C05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4859" y="2513016"/>
            <a:ext cx="864001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614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8" grpId="0"/>
      <p:bldP spid="7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86BA32-A457-4D0E-93FD-75C79F958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有源光学无线网络存在的问题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93A40D-6DAB-4969-A740-D5227B464C7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1" r="16926"/>
          <a:stretch/>
        </p:blipFill>
        <p:spPr>
          <a:xfrm>
            <a:off x="3330563" y="1007988"/>
            <a:ext cx="2340000" cy="2340000"/>
          </a:xfrm>
          <a:prstGeom prst="rect">
            <a:avLst/>
          </a:prstGeom>
        </p:spPr>
      </p:pic>
      <p:pic>
        <p:nvPicPr>
          <p:cNvPr id="5" name="Picture 2" descr="Light Pollution Effects - DARK SKY DEFENDERS">
            <a:extLst>
              <a:ext uri="{FF2B5EF4-FFF2-40B4-BE49-F238E27FC236}">
                <a16:creationId xmlns:a16="http://schemas.microsoft.com/office/drawing/2014/main" id="{1113C144-4B91-443E-81BB-45F712CABC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" r="333"/>
          <a:stretch/>
        </p:blipFill>
        <p:spPr bwMode="auto">
          <a:xfrm>
            <a:off x="450056" y="1007988"/>
            <a:ext cx="2340000" cy="23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Do LED lights Produce Heat? - Birddog Lighting">
            <a:extLst>
              <a:ext uri="{FF2B5EF4-FFF2-40B4-BE49-F238E27FC236}">
                <a16:creationId xmlns:a16="http://schemas.microsoft.com/office/drawing/2014/main" id="{19099046-C79D-43F2-A126-38FE12F6D4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1613" y1="63387" x2="31613" y2="63387"/>
                        <a14:foregroundMark x1="34355" y1="69677" x2="34355" y2="72258"/>
                        <a14:foregroundMark x1="33065" y1="65806" x2="32903" y2="67097"/>
                        <a14:foregroundMark x1="31452" y1="59839" x2="31129" y2="63226"/>
                        <a14:foregroundMark x1="34355" y1="61129" x2="34677" y2="63387"/>
                        <a14:foregroundMark x1="34355" y1="60968" x2="32097" y2="61613"/>
                        <a14:foregroundMark x1="27742" y1="65000" x2="31452" y2="60645"/>
                        <a14:foregroundMark x1="25806" y1="61290" x2="26613" y2="59839"/>
                        <a14:foregroundMark x1="29516" y1="58387" x2="29516" y2="58387"/>
                        <a14:foregroundMark x1="32419" y1="57258" x2="28387" y2="58871"/>
                        <a14:foregroundMark x1="34355" y1="57419" x2="37419" y2="58871"/>
                        <a14:foregroundMark x1="33065" y1="80645" x2="33710" y2="84677"/>
                        <a14:foregroundMark x1="32419" y1="80323" x2="32258" y2="86129"/>
                        <a14:foregroundMark x1="36129" y1="84677" x2="31613" y2="86613"/>
                        <a14:foregroundMark x1="30000" y1="84355" x2="30323" y2="86935"/>
                        <a14:foregroundMark x1="29839" y1="84839" x2="29194" y2="86129"/>
                        <a14:foregroundMark x1="67258" y1="61452" x2="69032" y2="68710"/>
                        <a14:foregroundMark x1="69032" y1="80806" x2="68710" y2="846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317" t="11692" r="13032" b="12657"/>
          <a:stretch/>
        </p:blipFill>
        <p:spPr bwMode="auto">
          <a:xfrm>
            <a:off x="6211069" y="1007988"/>
            <a:ext cx="2340000" cy="23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8F389E8-6B9E-4974-8367-629C290EA353}"/>
              </a:ext>
            </a:extLst>
          </p:cNvPr>
          <p:cNvSpPr txBox="1"/>
          <p:nvPr/>
        </p:nvSpPr>
        <p:spPr>
          <a:xfrm>
            <a:off x="450056" y="3384252"/>
            <a:ext cx="2340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rgbClr val="8B001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生物适应</a:t>
            </a:r>
            <a:br>
              <a:rPr lang="en-US" altLang="zh-CN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</a:b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过多的光照影响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</a:b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人类等生物的正常生活</a:t>
            </a:r>
            <a:endParaRPr lang="zh-CN" altLang="en-US" sz="18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D2F909-29F2-49B5-A9C7-8770128F94B0}"/>
              </a:ext>
            </a:extLst>
          </p:cNvPr>
          <p:cNvSpPr txBox="1"/>
          <p:nvPr/>
        </p:nvSpPr>
        <p:spPr>
          <a:xfrm>
            <a:off x="3330564" y="3384252"/>
            <a:ext cx="2340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rgbClr val="8B001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环境干扰</a:t>
            </a:r>
            <a:br>
              <a:rPr lang="en-US" altLang="zh-CN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</a:b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光束之间、环境与光束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</a:b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存在干扰影响通信性能</a:t>
            </a:r>
            <a:endParaRPr lang="zh-CN" altLang="en-US" sz="18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5E0EF19-D26E-4356-829E-9290C849EBF6}"/>
              </a:ext>
            </a:extLst>
          </p:cNvPr>
          <p:cNvSpPr txBox="1"/>
          <p:nvPr/>
        </p:nvSpPr>
        <p:spPr>
          <a:xfrm>
            <a:off x="6211070" y="3384252"/>
            <a:ext cx="2340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rgbClr val="8B001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能源效率</a:t>
            </a:r>
            <a:br>
              <a:rPr lang="en-US" altLang="zh-CN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</a:b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移动设备难以支持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LED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光源的能量需求</a:t>
            </a:r>
            <a:endParaRPr lang="zh-CN" altLang="en-US" sz="18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FD4B582-96ED-46CE-A039-3AEA710D802C}"/>
              </a:ext>
            </a:extLst>
          </p:cNvPr>
          <p:cNvGrpSpPr/>
          <p:nvPr/>
        </p:nvGrpSpPr>
        <p:grpSpPr>
          <a:xfrm>
            <a:off x="0" y="4307529"/>
            <a:ext cx="8994924" cy="588891"/>
            <a:chOff x="0" y="1416396"/>
            <a:chExt cx="8994924" cy="1896483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783D277-2DBD-4A6B-BD75-AAA62EC6EAD5}"/>
                </a:ext>
              </a:extLst>
            </p:cNvPr>
            <p:cNvSpPr/>
            <p:nvPr/>
          </p:nvSpPr>
          <p:spPr>
            <a:xfrm>
              <a:off x="0" y="1416396"/>
              <a:ext cx="8994924" cy="1896483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858" tIns="44929" rIns="89858" bIns="44929" rtlCol="0" anchor="ctr"/>
            <a:lstStyle/>
            <a:p>
              <a:pPr algn="ctr"/>
              <a:endParaRPr lang="zh-CN" altLang="en-US" dirty="0">
                <a:solidFill>
                  <a:srgbClr val="8C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547DDDA-EFB3-4FD3-8B6D-DE85000C75D6}"/>
                </a:ext>
              </a:extLst>
            </p:cNvPr>
            <p:cNvSpPr/>
            <p:nvPr/>
          </p:nvSpPr>
          <p:spPr>
            <a:xfrm>
              <a:off x="450055" y="1772505"/>
              <a:ext cx="8101013" cy="1283381"/>
            </a:xfrm>
            <a:prstGeom prst="rect">
              <a:avLst/>
            </a:prstGeom>
          </p:spPr>
          <p:txBody>
            <a:bodyPr wrap="square" lIns="89858" tIns="44929" rIns="89858" bIns="44929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+mj-lt"/>
                  <a:ea typeface="Lantinghei SC Demibold"/>
                </a:rPr>
                <a:t>可见光的物理性质限制了有源光学无线网络的广泛应用</a:t>
              </a:r>
              <a:endParaRPr lang="en-US" altLang="zh-CN" sz="2000" dirty="0">
                <a:solidFill>
                  <a:schemeClr val="bg1"/>
                </a:solidFill>
                <a:latin typeface="+mj-lt"/>
                <a:ea typeface="Lantinghei SC Demi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0205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F88681-A02D-4B81-BD35-615A73219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无源光学无线网络基本原理</a:t>
            </a:r>
          </a:p>
        </p:txBody>
      </p:sp>
      <p:pic>
        <p:nvPicPr>
          <p:cNvPr id="4" name="Picture 57">
            <a:extLst>
              <a:ext uri="{FF2B5EF4-FFF2-40B4-BE49-F238E27FC236}">
                <a16:creationId xmlns:a16="http://schemas.microsoft.com/office/drawing/2014/main" id="{4D93111F-C041-4E43-A93F-7320234F4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37799" y="1735751"/>
            <a:ext cx="1187818" cy="1567920"/>
          </a:xfrm>
          <a:prstGeom prst="rect">
            <a:avLst/>
          </a:prstGeom>
        </p:spPr>
      </p:pic>
      <p:sp>
        <p:nvSpPr>
          <p:cNvPr id="5" name="Triangle 58">
            <a:extLst>
              <a:ext uri="{FF2B5EF4-FFF2-40B4-BE49-F238E27FC236}">
                <a16:creationId xmlns:a16="http://schemas.microsoft.com/office/drawing/2014/main" id="{C55D914F-7CDB-4407-877D-EA6107BE222C}"/>
              </a:ext>
            </a:extLst>
          </p:cNvPr>
          <p:cNvSpPr/>
          <p:nvPr/>
        </p:nvSpPr>
        <p:spPr bwMode="auto">
          <a:xfrm rot="16200000">
            <a:off x="2336365" y="536670"/>
            <a:ext cx="3092148" cy="3968808"/>
          </a:xfrm>
          <a:prstGeom prst="triangle">
            <a:avLst/>
          </a:prstGeom>
          <a:solidFill>
            <a:srgbClr val="FFFF00">
              <a:alpha val="49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</a:endParaRPr>
          </a:p>
        </p:txBody>
      </p:sp>
      <p:sp>
        <p:nvSpPr>
          <p:cNvPr id="6" name="object 27">
            <a:extLst>
              <a:ext uri="{FF2B5EF4-FFF2-40B4-BE49-F238E27FC236}">
                <a16:creationId xmlns:a16="http://schemas.microsoft.com/office/drawing/2014/main" id="{2C3CA3A2-4873-4525-973E-E87355354160}"/>
              </a:ext>
            </a:extLst>
          </p:cNvPr>
          <p:cNvSpPr/>
          <p:nvPr/>
        </p:nvSpPr>
        <p:spPr>
          <a:xfrm rot="16200000">
            <a:off x="4714757" y="2395891"/>
            <a:ext cx="3092148" cy="250366"/>
          </a:xfrm>
          <a:custGeom>
            <a:avLst/>
            <a:gdLst/>
            <a:ahLst/>
            <a:cxnLst/>
            <a:rect l="l" t="t" r="r" b="b"/>
            <a:pathLst>
              <a:path w="818514" h="96519">
                <a:moveTo>
                  <a:pt x="0" y="96260"/>
                </a:moveTo>
                <a:lnTo>
                  <a:pt x="818212" y="96260"/>
                </a:lnTo>
                <a:lnTo>
                  <a:pt x="818212" y="0"/>
                </a:lnTo>
                <a:lnTo>
                  <a:pt x="0" y="0"/>
                </a:lnTo>
                <a:lnTo>
                  <a:pt x="0" y="96260"/>
                </a:lnTo>
                <a:close/>
              </a:path>
            </a:pathLst>
          </a:custGeom>
          <a:pattFill prst="sphere">
            <a:fgClr>
              <a:schemeClr val="tx1"/>
            </a:fgClr>
            <a:bgClr>
              <a:schemeClr val="bg1"/>
            </a:bgClr>
          </a:pattFill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7" name="object 28">
            <a:extLst>
              <a:ext uri="{FF2B5EF4-FFF2-40B4-BE49-F238E27FC236}">
                <a16:creationId xmlns:a16="http://schemas.microsoft.com/office/drawing/2014/main" id="{66BF093F-F3E9-4CE7-8D76-52020A4DACE6}"/>
              </a:ext>
            </a:extLst>
          </p:cNvPr>
          <p:cNvSpPr/>
          <p:nvPr/>
        </p:nvSpPr>
        <p:spPr>
          <a:xfrm rot="16200000">
            <a:off x="4440552" y="2382185"/>
            <a:ext cx="3092148" cy="277775"/>
          </a:xfrm>
          <a:custGeom>
            <a:avLst/>
            <a:gdLst/>
            <a:ahLst/>
            <a:cxnLst/>
            <a:rect l="l" t="t" r="r" b="b"/>
            <a:pathLst>
              <a:path w="818514" h="96519">
                <a:moveTo>
                  <a:pt x="0" y="96260"/>
                </a:moveTo>
                <a:lnTo>
                  <a:pt x="818212" y="96260"/>
                </a:lnTo>
                <a:lnTo>
                  <a:pt x="818212" y="0"/>
                </a:lnTo>
                <a:lnTo>
                  <a:pt x="0" y="0"/>
                </a:lnTo>
                <a:lnTo>
                  <a:pt x="0" y="96260"/>
                </a:lnTo>
                <a:close/>
              </a:path>
            </a:pathLst>
          </a:custGeom>
          <a:solidFill>
            <a:srgbClr val="D7D7D7"/>
          </a:solidFill>
          <a:ln w="9525">
            <a:noFill/>
          </a:ln>
        </p:spPr>
        <p:txBody>
          <a:bodyPr wrap="square" lIns="0" tIns="0" rIns="0" bIns="0" rtlCol="0"/>
          <a:lstStyle/>
          <a:p>
            <a:endParaRPr sz="4000" dirty="0"/>
          </a:p>
        </p:txBody>
      </p:sp>
      <p:sp>
        <p:nvSpPr>
          <p:cNvPr id="8" name="object 68">
            <a:extLst>
              <a:ext uri="{FF2B5EF4-FFF2-40B4-BE49-F238E27FC236}">
                <a16:creationId xmlns:a16="http://schemas.microsoft.com/office/drawing/2014/main" id="{62C15F16-9588-47E5-88C2-428AE1F9414E}"/>
              </a:ext>
            </a:extLst>
          </p:cNvPr>
          <p:cNvSpPr/>
          <p:nvPr/>
        </p:nvSpPr>
        <p:spPr>
          <a:xfrm>
            <a:off x="3215757" y="1058427"/>
            <a:ext cx="254874" cy="253902"/>
          </a:xfrm>
          <a:custGeom>
            <a:avLst/>
            <a:gdLst/>
            <a:ahLst/>
            <a:cxnLst/>
            <a:rect l="l" t="t" r="r" b="b"/>
            <a:pathLst>
              <a:path w="311785" h="96519">
                <a:moveTo>
                  <a:pt x="0" y="96260"/>
                </a:moveTo>
                <a:lnTo>
                  <a:pt x="311296" y="96260"/>
                </a:lnTo>
                <a:lnTo>
                  <a:pt x="311296" y="0"/>
                </a:lnTo>
                <a:lnTo>
                  <a:pt x="0" y="0"/>
                </a:lnTo>
                <a:lnTo>
                  <a:pt x="0" y="96260"/>
                </a:lnTo>
                <a:close/>
              </a:path>
            </a:pathLst>
          </a:custGeom>
          <a:pattFill prst="sphere">
            <a:fgClr>
              <a:schemeClr val="tx1"/>
            </a:fgClr>
            <a:bgClr>
              <a:schemeClr val="bg1"/>
            </a:bgClr>
          </a:pattFill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9" name="object 32">
            <a:extLst>
              <a:ext uri="{FF2B5EF4-FFF2-40B4-BE49-F238E27FC236}">
                <a16:creationId xmlns:a16="http://schemas.microsoft.com/office/drawing/2014/main" id="{B50354A6-47DB-48AF-8A26-90B7A22571C9}"/>
              </a:ext>
            </a:extLst>
          </p:cNvPr>
          <p:cNvSpPr txBox="1"/>
          <p:nvPr/>
        </p:nvSpPr>
        <p:spPr>
          <a:xfrm>
            <a:off x="644913" y="1065242"/>
            <a:ext cx="89877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 algn="r"/>
            <a:r>
              <a:rPr lang="zh-CN" altLang="en-US" sz="1400" spc="-15" dirty="0"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液晶调制器</a:t>
            </a:r>
            <a:endParaRPr lang="zh-CN" altLang="en-US" sz="1400" spc="-5" dirty="0"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sp>
        <p:nvSpPr>
          <p:cNvPr id="10" name="object 65">
            <a:extLst>
              <a:ext uri="{FF2B5EF4-FFF2-40B4-BE49-F238E27FC236}">
                <a16:creationId xmlns:a16="http://schemas.microsoft.com/office/drawing/2014/main" id="{50076891-A3E6-41C5-BBB6-A2A792DBF8F1}"/>
              </a:ext>
            </a:extLst>
          </p:cNvPr>
          <p:cNvSpPr/>
          <p:nvPr/>
        </p:nvSpPr>
        <p:spPr>
          <a:xfrm>
            <a:off x="1653948" y="1042461"/>
            <a:ext cx="253902" cy="253902"/>
          </a:xfrm>
          <a:custGeom>
            <a:avLst/>
            <a:gdLst/>
            <a:ahLst/>
            <a:cxnLst/>
            <a:rect l="l" t="t" r="r" b="b"/>
            <a:pathLst>
              <a:path w="311785" h="96519">
                <a:moveTo>
                  <a:pt x="0" y="96260"/>
                </a:moveTo>
                <a:lnTo>
                  <a:pt x="311296" y="96260"/>
                </a:lnTo>
                <a:lnTo>
                  <a:pt x="311296" y="0"/>
                </a:lnTo>
                <a:lnTo>
                  <a:pt x="0" y="0"/>
                </a:lnTo>
                <a:lnTo>
                  <a:pt x="0" y="96260"/>
                </a:lnTo>
                <a:close/>
              </a:path>
            </a:pathLst>
          </a:custGeom>
          <a:solidFill>
            <a:srgbClr val="D7D7D7"/>
          </a:solidFill>
          <a:ln w="127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11" name="Group 86">
            <a:extLst>
              <a:ext uri="{FF2B5EF4-FFF2-40B4-BE49-F238E27FC236}">
                <a16:creationId xmlns:a16="http://schemas.microsoft.com/office/drawing/2014/main" id="{5061D21B-FA18-478F-AC83-33C7AAEB5053}"/>
              </a:ext>
            </a:extLst>
          </p:cNvPr>
          <p:cNvGrpSpPr/>
          <p:nvPr/>
        </p:nvGrpSpPr>
        <p:grpSpPr>
          <a:xfrm>
            <a:off x="1884113" y="1206587"/>
            <a:ext cx="3983575" cy="2855935"/>
            <a:chOff x="3773692" y="1558381"/>
            <a:chExt cx="6455470" cy="4628105"/>
          </a:xfrm>
        </p:grpSpPr>
        <p:sp>
          <p:nvSpPr>
            <p:cNvPr id="12" name="object 53">
              <a:extLst>
                <a:ext uri="{FF2B5EF4-FFF2-40B4-BE49-F238E27FC236}">
                  <a16:creationId xmlns:a16="http://schemas.microsoft.com/office/drawing/2014/main" id="{6F22544B-B35A-471A-B583-3E20D2A02C8B}"/>
                </a:ext>
              </a:extLst>
            </p:cNvPr>
            <p:cNvSpPr txBox="1"/>
            <p:nvPr/>
          </p:nvSpPr>
          <p:spPr>
            <a:xfrm>
              <a:off x="6248939" y="3679830"/>
              <a:ext cx="3966621" cy="39900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</a:pPr>
              <a:r>
                <a:rPr lang="zh-CN" altLang="en-US" b="1" spc="1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逆反射光通信链路</a:t>
              </a:r>
              <a:endParaRPr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  <p:cxnSp>
          <p:nvCxnSpPr>
            <p:cNvPr id="13" name="Straight Connector 88">
              <a:extLst>
                <a:ext uri="{FF2B5EF4-FFF2-40B4-BE49-F238E27FC236}">
                  <a16:creationId xmlns:a16="http://schemas.microsoft.com/office/drawing/2014/main" id="{31505EC2-ECED-4523-81A6-9722D344D15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792840" y="1558381"/>
              <a:ext cx="6436322" cy="2122661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14" name="Straight Connector 89">
              <a:extLst>
                <a:ext uri="{FF2B5EF4-FFF2-40B4-BE49-F238E27FC236}">
                  <a16:creationId xmlns:a16="http://schemas.microsoft.com/office/drawing/2014/main" id="{83599A01-3466-4365-BCAC-E8097B745849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3792840" y="3681042"/>
              <a:ext cx="6431537" cy="250544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15" name="Straight Connector 91">
              <a:extLst>
                <a:ext uri="{FF2B5EF4-FFF2-40B4-BE49-F238E27FC236}">
                  <a16:creationId xmlns:a16="http://schemas.microsoft.com/office/drawing/2014/main" id="{F5B176B4-147F-43A7-B3B5-82657305D8EB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3792840" y="3681042"/>
              <a:ext cx="6425074" cy="175303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16" name="Straight Connector 93">
              <a:extLst>
                <a:ext uri="{FF2B5EF4-FFF2-40B4-BE49-F238E27FC236}">
                  <a16:creationId xmlns:a16="http://schemas.microsoft.com/office/drawing/2014/main" id="{E1781387-4046-4297-BDF2-70A5D74330ED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773692" y="2362669"/>
              <a:ext cx="6441412" cy="1318372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17" name="Straight Connector 94">
              <a:extLst>
                <a:ext uri="{FF2B5EF4-FFF2-40B4-BE49-F238E27FC236}">
                  <a16:creationId xmlns:a16="http://schemas.microsoft.com/office/drawing/2014/main" id="{2702B53D-3BEC-4D2A-8D0D-A7D9C8870CA0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3792839" y="3681047"/>
              <a:ext cx="6414795" cy="93554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lg" len="lg"/>
            </a:ln>
          </p:spPr>
        </p:cxnSp>
      </p:grpSp>
      <p:pic>
        <p:nvPicPr>
          <p:cNvPr id="18" name="Picture 95">
            <a:extLst>
              <a:ext uri="{FF2B5EF4-FFF2-40B4-BE49-F238E27FC236}">
                <a16:creationId xmlns:a16="http://schemas.microsoft.com/office/drawing/2014/main" id="{61EF7115-C81D-4E15-ABDB-56DFAE7BC8A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0327" y="2401812"/>
            <a:ext cx="232978" cy="23852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9" name="object 32">
            <a:extLst>
              <a:ext uri="{FF2B5EF4-FFF2-40B4-BE49-F238E27FC236}">
                <a16:creationId xmlns:a16="http://schemas.microsoft.com/office/drawing/2014/main" id="{FF717618-BD94-432D-B118-4D3CF30FC0C9}"/>
              </a:ext>
            </a:extLst>
          </p:cNvPr>
          <p:cNvSpPr txBox="1"/>
          <p:nvPr/>
        </p:nvSpPr>
        <p:spPr>
          <a:xfrm>
            <a:off x="2148450" y="1073261"/>
            <a:ext cx="97546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algn="r">
              <a:spcBef>
                <a:spcPts val="475"/>
              </a:spcBef>
            </a:pPr>
            <a:r>
              <a:rPr lang="zh-CN" altLang="en-US" sz="1400" spc="-5" dirty="0"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逆反射材料</a:t>
            </a:r>
            <a:endParaRPr lang="en-US" spc="-5" dirty="0"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grpSp>
        <p:nvGrpSpPr>
          <p:cNvPr id="20" name="Group 98">
            <a:extLst>
              <a:ext uri="{FF2B5EF4-FFF2-40B4-BE49-F238E27FC236}">
                <a16:creationId xmlns:a16="http://schemas.microsoft.com/office/drawing/2014/main" id="{8B69A340-E6EC-49E0-A2FF-AD6FAA399634}"/>
              </a:ext>
            </a:extLst>
          </p:cNvPr>
          <p:cNvGrpSpPr/>
          <p:nvPr/>
        </p:nvGrpSpPr>
        <p:grpSpPr>
          <a:xfrm>
            <a:off x="1897664" y="974751"/>
            <a:ext cx="3969696" cy="2856105"/>
            <a:chOff x="3352393" y="-2455383"/>
            <a:chExt cx="6432979" cy="4628381"/>
          </a:xfrm>
        </p:grpSpPr>
        <p:grpSp>
          <p:nvGrpSpPr>
            <p:cNvPr id="21" name="Group 99">
              <a:extLst>
                <a:ext uri="{FF2B5EF4-FFF2-40B4-BE49-F238E27FC236}">
                  <a16:creationId xmlns:a16="http://schemas.microsoft.com/office/drawing/2014/main" id="{0F24E0F5-8E81-465E-A915-690AC23FF6C6}"/>
                </a:ext>
              </a:extLst>
            </p:cNvPr>
            <p:cNvGrpSpPr/>
            <p:nvPr/>
          </p:nvGrpSpPr>
          <p:grpSpPr>
            <a:xfrm>
              <a:off x="3352393" y="-2455383"/>
              <a:ext cx="6432979" cy="4628381"/>
              <a:chOff x="3945239" y="1327722"/>
              <a:chExt cx="6432979" cy="4628381"/>
            </a:xfrm>
          </p:grpSpPr>
          <p:cxnSp>
            <p:nvCxnSpPr>
              <p:cNvPr id="23" name="Straight Connector 101">
                <a:extLst>
                  <a:ext uri="{FF2B5EF4-FFF2-40B4-BE49-F238E27FC236}">
                    <a16:creationId xmlns:a16="http://schemas.microsoft.com/office/drawing/2014/main" id="{6523213A-8F0D-4B05-876D-F58F7D95154C}"/>
                  </a:ext>
                </a:extLst>
              </p:cNvPr>
              <p:cNvCxnSpPr>
                <a:cxnSpLocks/>
                <a:stCxn id="5" idx="4"/>
              </p:cNvCxnSpPr>
              <p:nvPr/>
            </p:nvCxnSpPr>
            <p:spPr bwMode="auto">
              <a:xfrm flipH="1">
                <a:off x="3945241" y="1327722"/>
                <a:ext cx="6432141" cy="250572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FF0000"/>
                </a:solidFill>
                <a:prstDash val="sysDash"/>
                <a:round/>
                <a:headEnd type="triangle" w="lg" len="lg"/>
                <a:tailEnd type="none" w="med" len="med"/>
              </a:ln>
            </p:spPr>
          </p:cxnSp>
          <p:cxnSp>
            <p:nvCxnSpPr>
              <p:cNvPr id="24" name="Straight Connector 102">
                <a:extLst>
                  <a:ext uri="{FF2B5EF4-FFF2-40B4-BE49-F238E27FC236}">
                    <a16:creationId xmlns:a16="http://schemas.microsoft.com/office/drawing/2014/main" id="{17C8A8FE-1967-436E-BBFC-232D67211DD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3945239" y="3833444"/>
                <a:ext cx="6428727" cy="2122659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FF0000"/>
                </a:solidFill>
                <a:prstDash val="sysDash"/>
                <a:round/>
                <a:headEnd type="triangle" w="lg" len="lg"/>
                <a:tailEnd type="none" w="med" len="med"/>
              </a:ln>
            </p:spPr>
          </p:cxnSp>
          <p:cxnSp>
            <p:nvCxnSpPr>
              <p:cNvPr id="25" name="Straight Connector 103">
                <a:extLst>
                  <a:ext uri="{FF2B5EF4-FFF2-40B4-BE49-F238E27FC236}">
                    <a16:creationId xmlns:a16="http://schemas.microsoft.com/office/drawing/2014/main" id="{429B0F37-95DF-42E9-9135-DDB0762C7C3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3945242" y="3833443"/>
                <a:ext cx="6432976" cy="1308026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FF0000"/>
                </a:solidFill>
                <a:prstDash val="sysDash"/>
                <a:round/>
                <a:headEnd type="triangle" w="lg" len="lg"/>
                <a:tailEnd type="none" w="med" len="med"/>
              </a:ln>
            </p:spPr>
          </p:cxnSp>
          <p:cxnSp>
            <p:nvCxnSpPr>
              <p:cNvPr id="26" name="Straight Connector 104">
                <a:extLst>
                  <a:ext uri="{FF2B5EF4-FFF2-40B4-BE49-F238E27FC236}">
                    <a16:creationId xmlns:a16="http://schemas.microsoft.com/office/drawing/2014/main" id="{0692229C-06B5-4FF5-80CA-49E533B4D6C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945240" y="2102510"/>
                <a:ext cx="6405649" cy="173093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FF0000"/>
                </a:solidFill>
                <a:prstDash val="sysDash"/>
                <a:round/>
                <a:headEnd type="triangle" w="lg" len="lg"/>
                <a:tailEnd type="none" w="med" len="med"/>
              </a:ln>
            </p:spPr>
          </p:cxnSp>
          <p:cxnSp>
            <p:nvCxnSpPr>
              <p:cNvPr id="27" name="Straight Connector 112">
                <a:extLst>
                  <a:ext uri="{FF2B5EF4-FFF2-40B4-BE49-F238E27FC236}">
                    <a16:creationId xmlns:a16="http://schemas.microsoft.com/office/drawing/2014/main" id="{5EDBEE67-EDE1-4E86-8EB9-48EC458E1D6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945240" y="3619627"/>
                <a:ext cx="6425073" cy="21381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FF0000"/>
                </a:solidFill>
                <a:prstDash val="sysDash"/>
                <a:round/>
                <a:headEnd type="triangle" w="lg" len="lg"/>
                <a:tailEnd type="none" w="med" len="med"/>
              </a:ln>
            </p:spPr>
          </p:cxnSp>
        </p:grpSp>
        <p:sp>
          <p:nvSpPr>
            <p:cNvPr id="22" name="object 53">
              <a:extLst>
                <a:ext uri="{FF2B5EF4-FFF2-40B4-BE49-F238E27FC236}">
                  <a16:creationId xmlns:a16="http://schemas.microsoft.com/office/drawing/2014/main" id="{7BDA7302-E995-438D-A68E-8F85A70D8E3E}"/>
                </a:ext>
              </a:extLst>
            </p:cNvPr>
            <p:cNvSpPr txBox="1"/>
            <p:nvPr/>
          </p:nvSpPr>
          <p:spPr>
            <a:xfrm rot="21296384">
              <a:off x="6228362" y="-631116"/>
              <a:ext cx="3406314" cy="39900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</a:pPr>
              <a:r>
                <a:rPr lang="zh-CN" altLang="en-US" spc="1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载波信号</a:t>
              </a:r>
              <a:endParaRPr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</p:grpSp>
      <p:sp>
        <p:nvSpPr>
          <p:cNvPr id="28" name="Oval 113">
            <a:extLst>
              <a:ext uri="{FF2B5EF4-FFF2-40B4-BE49-F238E27FC236}">
                <a16:creationId xmlns:a16="http://schemas.microsoft.com/office/drawing/2014/main" id="{8DD82452-D0D5-449F-BACC-CDAC447B216B}"/>
              </a:ext>
            </a:extLst>
          </p:cNvPr>
          <p:cNvSpPr/>
          <p:nvPr/>
        </p:nvSpPr>
        <p:spPr bwMode="auto">
          <a:xfrm>
            <a:off x="1595711" y="2332702"/>
            <a:ext cx="351582" cy="375097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</a:endParaRPr>
          </a:p>
        </p:txBody>
      </p:sp>
      <p:sp>
        <p:nvSpPr>
          <p:cNvPr id="29" name="object 32">
            <a:extLst>
              <a:ext uri="{FF2B5EF4-FFF2-40B4-BE49-F238E27FC236}">
                <a16:creationId xmlns:a16="http://schemas.microsoft.com/office/drawing/2014/main" id="{820A176D-FD26-4F9E-BEEF-08E36FEC1C82}"/>
              </a:ext>
            </a:extLst>
          </p:cNvPr>
          <p:cNvSpPr txBox="1"/>
          <p:nvPr/>
        </p:nvSpPr>
        <p:spPr>
          <a:xfrm>
            <a:off x="1027153" y="3499583"/>
            <a:ext cx="1510578" cy="2674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algn="ctr">
              <a:lnSpc>
                <a:spcPct val="110000"/>
              </a:lnSpc>
            </a:pPr>
            <a:r>
              <a:rPr lang="zh-CN" altLang="en-US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接收并解调</a:t>
            </a:r>
            <a:endParaRPr sz="1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cxnSp>
        <p:nvCxnSpPr>
          <p:cNvPr id="30" name="Straight Arrow Connector 115">
            <a:extLst>
              <a:ext uri="{FF2B5EF4-FFF2-40B4-BE49-F238E27FC236}">
                <a16:creationId xmlns:a16="http://schemas.microsoft.com/office/drawing/2014/main" id="{512ED572-0D19-41B3-B9E2-5B8670CDA6D4}"/>
              </a:ext>
            </a:extLst>
          </p:cNvPr>
          <p:cNvCxnSpPr/>
          <p:nvPr/>
        </p:nvCxnSpPr>
        <p:spPr bwMode="auto">
          <a:xfrm flipH="1">
            <a:off x="1782442" y="2710167"/>
            <a:ext cx="534" cy="78941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31" name="object 28">
            <a:extLst>
              <a:ext uri="{FF2B5EF4-FFF2-40B4-BE49-F238E27FC236}">
                <a16:creationId xmlns:a16="http://schemas.microsoft.com/office/drawing/2014/main" id="{00326009-4A3A-4C90-B806-25AED936A532}"/>
              </a:ext>
            </a:extLst>
          </p:cNvPr>
          <p:cNvSpPr/>
          <p:nvPr/>
        </p:nvSpPr>
        <p:spPr>
          <a:xfrm rot="16200000">
            <a:off x="4446326" y="2382185"/>
            <a:ext cx="3092148" cy="277775"/>
          </a:xfrm>
          <a:custGeom>
            <a:avLst/>
            <a:gdLst/>
            <a:ahLst/>
            <a:cxnLst/>
            <a:rect l="l" t="t" r="r" b="b"/>
            <a:pathLst>
              <a:path w="818514" h="96519">
                <a:moveTo>
                  <a:pt x="0" y="96260"/>
                </a:moveTo>
                <a:lnTo>
                  <a:pt x="818212" y="96260"/>
                </a:lnTo>
                <a:lnTo>
                  <a:pt x="818212" y="0"/>
                </a:lnTo>
                <a:lnTo>
                  <a:pt x="0" y="0"/>
                </a:lnTo>
                <a:lnTo>
                  <a:pt x="0" y="9626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000" dirty="0"/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F82E2674-A2C9-49CF-8CE4-841A6654DC6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7609" y="251167"/>
            <a:ext cx="1644139" cy="1318612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69E9E397-E917-492E-8674-578851E74A0C}"/>
              </a:ext>
            </a:extLst>
          </p:cNvPr>
          <p:cNvSpPr txBox="1"/>
          <p:nvPr/>
        </p:nvSpPr>
        <p:spPr>
          <a:xfrm>
            <a:off x="6516786" y="1598552"/>
            <a:ext cx="228578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rgbClr val="8B001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逆反射材料</a:t>
            </a:r>
            <a:br>
              <a:rPr lang="en-US" altLang="zh-CN" sz="1800" b="1" dirty="0">
                <a:solidFill>
                  <a:srgbClr val="8B001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</a:br>
            <a:r>
              <a:rPr lang="zh-CN" altLang="en-US" sz="1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使不发光的物体反射的光具有指向性</a:t>
            </a:r>
            <a:endParaRPr lang="zh-CN" altLang="en-US" sz="18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5" name="图片 4">
            <a:extLst>
              <a:ext uri="{FF2B5EF4-FFF2-40B4-BE49-F238E27FC236}">
                <a16:creationId xmlns:a16="http://schemas.microsoft.com/office/drawing/2014/main" id="{AE48062A-C2EA-4E70-93EE-8169E6CB5F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609" y="2580689"/>
            <a:ext cx="1644139" cy="1217698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2649373E-C0B4-423A-B1DD-F72A9B40BEEB}"/>
              </a:ext>
            </a:extLst>
          </p:cNvPr>
          <p:cNvSpPr txBox="1"/>
          <p:nvPr/>
        </p:nvSpPr>
        <p:spPr>
          <a:xfrm>
            <a:off x="6516786" y="3880177"/>
            <a:ext cx="228578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rgbClr val="8B001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液晶调制器</a:t>
            </a:r>
            <a:br>
              <a:rPr lang="en-US" altLang="zh-CN" sz="1800" b="1" dirty="0">
                <a:solidFill>
                  <a:srgbClr val="8B001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</a:br>
            <a:r>
              <a:rPr lang="zh-CN" altLang="en-US" sz="1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将电信号转化为透明度</a:t>
            </a:r>
            <a:br>
              <a:rPr lang="en-US" altLang="zh-CN" sz="1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</a:br>
            <a:r>
              <a:rPr lang="zh-CN" altLang="en-US" sz="1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实现电信号</a:t>
            </a:r>
            <a:r>
              <a:rPr lang="en-US" altLang="zh-CN" sz="1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-</a:t>
            </a:r>
            <a:r>
              <a:rPr lang="zh-CN" altLang="en-US" sz="1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光信号的转换</a:t>
            </a:r>
            <a:endParaRPr lang="zh-CN" altLang="en-US" sz="18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26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10" grpId="0" animBg="1"/>
      <p:bldP spid="19" grpId="0"/>
      <p:bldP spid="28" grpId="0" animBg="1"/>
      <p:bldP spid="29" grpId="0"/>
      <p:bldP spid="31" grpId="0" animBg="1"/>
      <p:bldP spid="34" grpId="0"/>
      <p:bldP spid="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E0141-70A6-4B4A-8FFD-861A2B3C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33C8C3-D1CB-4AD3-B268-5163ECE57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研究背景与挑战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/>
              <a:t>研究现状</a:t>
            </a:r>
            <a:endParaRPr lang="en-US" altLang="zh-CN" dirty="0"/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本文工作及当前进展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研究计划</a:t>
            </a:r>
          </a:p>
        </p:txBody>
      </p:sp>
    </p:spTree>
    <p:extLst>
      <p:ext uri="{BB962C8B-B14F-4D97-AF65-F5344CB8AC3E}">
        <p14:creationId xmlns:p14="http://schemas.microsoft.com/office/powerpoint/2010/main" val="2221562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32072F-F064-4197-BF45-6ABC4697B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无源光学无线通信</a:t>
            </a:r>
            <a:r>
              <a:rPr lang="en-US" altLang="zh-CN" dirty="0"/>
              <a:t>/</a:t>
            </a:r>
            <a:r>
              <a:rPr lang="zh-CN" altLang="en-US" dirty="0"/>
              <a:t>网络代表性工作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9C6BFBDB-B77A-4380-B8EA-F588E268B7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5356620"/>
              </p:ext>
            </p:extLst>
          </p:nvPr>
        </p:nvGraphicFramePr>
        <p:xfrm>
          <a:off x="444521" y="881980"/>
          <a:ext cx="8101016" cy="296672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157288">
                  <a:extLst>
                    <a:ext uri="{9D8B030D-6E8A-4147-A177-3AD203B41FA5}">
                      <a16:colId xmlns:a16="http://schemas.microsoft.com/office/drawing/2014/main" val="3139481781"/>
                    </a:ext>
                  </a:extLst>
                </a:gridCol>
                <a:gridCol w="1458593">
                  <a:extLst>
                    <a:ext uri="{9D8B030D-6E8A-4147-A177-3AD203B41FA5}">
                      <a16:colId xmlns:a16="http://schemas.microsoft.com/office/drawing/2014/main" val="2518628628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24544971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10838721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5113448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503731007"/>
                    </a:ext>
                  </a:extLst>
                </a:gridCol>
                <a:gridCol w="1308671">
                  <a:extLst>
                    <a:ext uri="{9D8B030D-6E8A-4147-A177-3AD203B41FA5}">
                      <a16:colId xmlns:a16="http://schemas.microsoft.com/office/drawing/2014/main" val="2939982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代表工作</a:t>
                      </a:r>
                    </a:p>
                  </a:txBody>
                  <a:tcPr>
                    <a:solidFill>
                      <a:srgbClr val="8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发表会议</a:t>
                      </a:r>
                    </a:p>
                  </a:txBody>
                  <a:tcPr>
                    <a:solidFill>
                      <a:srgbClr val="8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发射机</a:t>
                      </a:r>
                    </a:p>
                  </a:txBody>
                  <a:tcPr>
                    <a:solidFill>
                      <a:srgbClr val="8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接收机</a:t>
                      </a:r>
                    </a:p>
                  </a:txBody>
                  <a:tcPr>
                    <a:solidFill>
                      <a:srgbClr val="8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通信距离</a:t>
                      </a:r>
                    </a:p>
                  </a:txBody>
                  <a:tcPr>
                    <a:solidFill>
                      <a:srgbClr val="8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通信速率</a:t>
                      </a:r>
                    </a:p>
                  </a:txBody>
                  <a:tcPr>
                    <a:solidFill>
                      <a:srgbClr val="8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特色</a:t>
                      </a:r>
                    </a:p>
                  </a:txBody>
                  <a:tcPr>
                    <a:solidFill>
                      <a:srgbClr val="8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37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SunBox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UbiComp</a:t>
                      </a:r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 ’22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 dirty="0" err="1">
                          <a:solidFill>
                            <a:srgbClr val="8C0000"/>
                          </a:solidFill>
                        </a:rPr>
                        <a:t>Microdisplay</a:t>
                      </a:r>
                      <a:r>
                        <a:rPr lang="en-US" altLang="zh-CN" sz="1000" dirty="0">
                          <a:solidFill>
                            <a:srgbClr val="8C0000"/>
                          </a:solidFill>
                        </a:rPr>
                        <a:t> (180 </a:t>
                      </a:r>
                      <a:r>
                        <a:rPr lang="en-US" altLang="zh-CN" sz="1000" dirty="0" err="1">
                          <a:solidFill>
                            <a:srgbClr val="8C0000"/>
                          </a:solidFill>
                        </a:rPr>
                        <a:t>mW</a:t>
                      </a:r>
                      <a:r>
                        <a:rPr lang="en-US" altLang="zh-CN" sz="1000" dirty="0">
                          <a:solidFill>
                            <a:srgbClr val="8C0000"/>
                          </a:solidFill>
                        </a:rPr>
                        <a:t>)</a:t>
                      </a:r>
                      <a:endParaRPr lang="zh-CN" altLang="en-US" sz="10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>
                          <a:solidFill>
                            <a:srgbClr val="8C0000"/>
                          </a:solidFill>
                        </a:rPr>
                        <a:t>Camera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10 cm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10 kbps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rgbClr val="8C0000"/>
                          </a:solidFill>
                        </a:rPr>
                        <a:t>反射式微显示器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6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PhotoLink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NSDI ’22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DMD (45 </a:t>
                      </a:r>
                      <a:r>
                        <a:rPr lang="en-US" altLang="zh-CN" sz="1200" kern="1200" dirty="0" err="1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mW</a:t>
                      </a:r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PD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6 m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80 kbps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rgbClr val="8C0000"/>
                          </a:solidFill>
                        </a:rPr>
                        <a:t>微振镜调制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349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ChromaLux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MobiCom</a:t>
                      </a:r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 ’21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LCD (166 </a:t>
                      </a:r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μW</a:t>
                      </a:r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)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PD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50 m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1 kbps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rgbClr val="8C0000"/>
                          </a:solidFill>
                        </a:rPr>
                        <a:t>垂直多像素调制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24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RetroTurbo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SIGCOMM ’20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LCD (0.8 </a:t>
                      </a:r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mW</a:t>
                      </a:r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)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PD×4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7.5 m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8 kbps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rgbClr val="8C0000"/>
                          </a:solidFill>
                        </a:rPr>
                        <a:t>水平多像素调制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627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RetroI2V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MobiCom</a:t>
                      </a:r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 ’20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LCD (19 </a:t>
                      </a:r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mW</a:t>
                      </a:r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)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PD×2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101 m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1 kbps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rgbClr val="8C0000"/>
                          </a:solidFill>
                        </a:rPr>
                        <a:t>分布式</a:t>
                      </a:r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MAC</a:t>
                      </a:r>
                      <a:r>
                        <a:rPr lang="zh-CN" altLang="en-US" sz="1200" dirty="0">
                          <a:solidFill>
                            <a:srgbClr val="8C0000"/>
                          </a:solidFill>
                        </a:rPr>
                        <a:t>协议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332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LuxLink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SenSys</a:t>
                      </a:r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 ’19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LCD (0.3 </a:t>
                      </a:r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mW</a:t>
                      </a:r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)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PD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65 m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80 bps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rgbClr val="8C0000"/>
                          </a:solidFill>
                        </a:rPr>
                        <a:t>频域编码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86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 err="1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PassiveVLC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 err="1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MobiCom</a:t>
                      </a:r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 ’17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LCD (117 </a:t>
                      </a:r>
                      <a:r>
                        <a:rPr lang="en-US" altLang="zh-CN" sz="1200" kern="1200" dirty="0" err="1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μW</a:t>
                      </a:r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PD×3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2 m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1 kbps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zh-CN" altLang="en-US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自供能系统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569525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2D3268D1-703C-4973-82EA-8E527DF44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21" y="3962175"/>
            <a:ext cx="1826432" cy="936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FD55467-3394-406F-8EBF-D3028B726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123" y="3962175"/>
            <a:ext cx="1832611" cy="936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C029AB3-065C-41BF-A864-C0447D73C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904" y="3962175"/>
            <a:ext cx="1716689" cy="936000"/>
          </a:xfrm>
          <a:prstGeom prst="rect">
            <a:avLst/>
          </a:prstGeom>
        </p:spPr>
      </p:pic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56019DC2-8A47-408D-B915-000CBC96A290}"/>
              </a:ext>
            </a:extLst>
          </p:cNvPr>
          <p:cNvCxnSpPr>
            <a:cxnSpLocks/>
            <a:stCxn id="18" idx="1"/>
            <a:endCxn id="3" idx="1"/>
          </p:cNvCxnSpPr>
          <p:nvPr/>
        </p:nvCxnSpPr>
        <p:spPr>
          <a:xfrm rot="10800000" flipV="1">
            <a:off x="444521" y="2916199"/>
            <a:ext cx="12700" cy="1513975"/>
          </a:xfrm>
          <a:prstGeom prst="bentConnector3">
            <a:avLst>
              <a:gd name="adj1" fmla="val 1800000"/>
            </a:avLst>
          </a:prstGeom>
          <a:ln w="28575">
            <a:solidFill>
              <a:srgbClr val="8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69F7A9E4-6EF8-49B4-B66F-4DAD2FC3609F}"/>
              </a:ext>
            </a:extLst>
          </p:cNvPr>
          <p:cNvSpPr/>
          <p:nvPr/>
        </p:nvSpPr>
        <p:spPr>
          <a:xfrm>
            <a:off x="444521" y="2736180"/>
            <a:ext cx="8101013" cy="360040"/>
          </a:xfrm>
          <a:prstGeom prst="rect">
            <a:avLst/>
          </a:prstGeom>
          <a:noFill/>
          <a:ln>
            <a:solidFill>
              <a:srgbClr val="8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Shape 190">
            <a:extLst>
              <a:ext uri="{FF2B5EF4-FFF2-40B4-BE49-F238E27FC236}">
                <a16:creationId xmlns:a16="http://schemas.microsoft.com/office/drawing/2014/main" id="{DDDE75A5-84AA-48C8-B65C-CCE56E4FF71A}"/>
              </a:ext>
            </a:extLst>
          </p:cNvPr>
          <p:cNvSpPr txBox="1"/>
          <p:nvPr/>
        </p:nvSpPr>
        <p:spPr>
          <a:xfrm>
            <a:off x="6300763" y="4101231"/>
            <a:ext cx="2255842" cy="65788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8C0000"/>
                </a:solidFill>
                <a:latin typeface="Arial" charset="0"/>
                <a:ea typeface="Arial" charset="0"/>
                <a:cs typeface="Arial" charset="0"/>
              </a:rPr>
              <a:t>非并发</a:t>
            </a:r>
            <a:r>
              <a:rPr lang="zh-CN" altLang="en-US" sz="1400" dirty="0">
                <a:latin typeface="Arial" charset="0"/>
                <a:ea typeface="Arial" charset="0"/>
                <a:cs typeface="Arial" charset="0"/>
              </a:rPr>
              <a:t>无源光学无线网络无法显示光学媒介优越性</a:t>
            </a:r>
            <a:endParaRPr lang="en" sz="14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26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FE23D-AC84-428E-8C8C-C7FF377C0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有源光学无线网络并发传输研究代表性工作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88DEF0EB-A4B4-4BE3-9338-84753D5D84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1914153"/>
              </p:ext>
            </p:extLst>
          </p:nvPr>
        </p:nvGraphicFramePr>
        <p:xfrm>
          <a:off x="444521" y="881980"/>
          <a:ext cx="8101016" cy="194056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157288">
                  <a:extLst>
                    <a:ext uri="{9D8B030D-6E8A-4147-A177-3AD203B41FA5}">
                      <a16:colId xmlns:a16="http://schemas.microsoft.com/office/drawing/2014/main" val="3139481781"/>
                    </a:ext>
                  </a:extLst>
                </a:gridCol>
                <a:gridCol w="1026545">
                  <a:extLst>
                    <a:ext uri="{9D8B030D-6E8A-4147-A177-3AD203B41FA5}">
                      <a16:colId xmlns:a16="http://schemas.microsoft.com/office/drawing/2014/main" val="2518628628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24544971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108387216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45113448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503731007"/>
                    </a:ext>
                  </a:extLst>
                </a:gridCol>
                <a:gridCol w="2100759">
                  <a:extLst>
                    <a:ext uri="{9D8B030D-6E8A-4147-A177-3AD203B41FA5}">
                      <a16:colId xmlns:a16="http://schemas.microsoft.com/office/drawing/2014/main" val="2939982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代表工作</a:t>
                      </a:r>
                    </a:p>
                  </a:txBody>
                  <a:tcPr>
                    <a:solidFill>
                      <a:srgbClr val="8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发表会议</a:t>
                      </a:r>
                    </a:p>
                  </a:txBody>
                  <a:tcPr>
                    <a:solidFill>
                      <a:srgbClr val="8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发射机</a:t>
                      </a:r>
                    </a:p>
                  </a:txBody>
                  <a:tcPr>
                    <a:solidFill>
                      <a:srgbClr val="8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接收机</a:t>
                      </a:r>
                    </a:p>
                  </a:txBody>
                  <a:tcPr>
                    <a:solidFill>
                      <a:srgbClr val="8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距离</a:t>
                      </a:r>
                    </a:p>
                  </a:txBody>
                  <a:tcPr>
                    <a:solidFill>
                      <a:srgbClr val="8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通信速率</a:t>
                      </a:r>
                    </a:p>
                  </a:txBody>
                  <a:tcPr>
                    <a:solidFill>
                      <a:srgbClr val="8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特色</a:t>
                      </a:r>
                    </a:p>
                  </a:txBody>
                  <a:tcPr>
                    <a:solidFill>
                      <a:srgbClr val="8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37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800" dirty="0">
                          <a:solidFill>
                            <a:srgbClr val="8C0000"/>
                          </a:solidFill>
                        </a:rPr>
                        <a:t>When VLC Meets Under-Screen Camera</a:t>
                      </a:r>
                      <a:endParaRPr lang="zh-CN" altLang="en-US" sz="8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MobiSys</a:t>
                      </a:r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 ’23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LED (5 W)×4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Camera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4 m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14 kbps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rgbClr val="8C0000"/>
                          </a:solidFill>
                        </a:rPr>
                        <a:t>克服屏下摄像头对于接收到图像颜色的干扰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524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RayTrack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MobiSys</a:t>
                      </a:r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 ’21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LED (50 W)×4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DMD+PD×2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20 m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600 kbps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rgbClr val="8C0000"/>
                          </a:solidFill>
                        </a:rPr>
                        <a:t>单像素成像排除环境干扰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24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 err="1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DenseVLC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 err="1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CoNEXT</a:t>
                      </a:r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 ’18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LED (3 W)×36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PD×4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9 </a:t>
                      </a:r>
                      <a:r>
                        <a:rPr lang="zh-CN" altLang="en-US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50 kbps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zh-CN" altLang="en-US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大规模</a:t>
                      </a:r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MIMO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86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 err="1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ColorBars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 err="1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CoNEXT</a:t>
                      </a:r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 ’15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LED×3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Camera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3 cm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5.2 kbps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RGB LED</a:t>
                      </a:r>
                      <a:r>
                        <a:rPr lang="zh-CN" altLang="en-US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进行颜色调制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882100"/>
                  </a:ext>
                </a:extLst>
              </a:tr>
            </a:tbl>
          </a:graphicData>
        </a:graphic>
      </p:graphicFrame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B90659CE-6349-4C89-A975-6582F62680D3}"/>
              </a:ext>
            </a:extLst>
          </p:cNvPr>
          <p:cNvCxnSpPr>
            <a:cxnSpLocks/>
            <a:stCxn id="10" idx="1"/>
            <a:endCxn id="13" idx="1"/>
          </p:cNvCxnSpPr>
          <p:nvPr/>
        </p:nvCxnSpPr>
        <p:spPr>
          <a:xfrm rot="10800000" flipV="1">
            <a:off x="440155" y="2268127"/>
            <a:ext cx="2" cy="1645709"/>
          </a:xfrm>
          <a:prstGeom prst="bentConnector3">
            <a:avLst>
              <a:gd name="adj1" fmla="val 11430100000"/>
            </a:avLst>
          </a:prstGeom>
          <a:ln w="28575">
            <a:solidFill>
              <a:srgbClr val="8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8878A39-5EE1-467D-8BEE-801B630E679C}"/>
              </a:ext>
            </a:extLst>
          </p:cNvPr>
          <p:cNvSpPr/>
          <p:nvPr/>
        </p:nvSpPr>
        <p:spPr>
          <a:xfrm>
            <a:off x="440157" y="2088108"/>
            <a:ext cx="8101013" cy="360040"/>
          </a:xfrm>
          <a:prstGeom prst="rect">
            <a:avLst/>
          </a:prstGeom>
          <a:noFill/>
          <a:ln>
            <a:solidFill>
              <a:srgbClr val="8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A0A79B3-D6FB-4383-9E0C-58678796A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55" y="3013837"/>
            <a:ext cx="2223695" cy="180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AA9D9F0-249F-45A7-9DB6-82E16D9E0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386" y="3013837"/>
            <a:ext cx="3335969" cy="1800000"/>
          </a:xfrm>
          <a:prstGeom prst="rect">
            <a:avLst/>
          </a:prstGeom>
        </p:spPr>
      </p:pic>
      <p:sp>
        <p:nvSpPr>
          <p:cNvPr id="15" name="Shape 190">
            <a:extLst>
              <a:ext uri="{FF2B5EF4-FFF2-40B4-BE49-F238E27FC236}">
                <a16:creationId xmlns:a16="http://schemas.microsoft.com/office/drawing/2014/main" id="{1A2A55E2-E86D-4948-B1CC-621813A29F79}"/>
              </a:ext>
            </a:extLst>
          </p:cNvPr>
          <p:cNvSpPr txBox="1"/>
          <p:nvPr/>
        </p:nvSpPr>
        <p:spPr>
          <a:xfrm>
            <a:off x="6285328" y="3474098"/>
            <a:ext cx="2255842" cy="8794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zh-CN" altLang="en-US" sz="1400" b="1" dirty="0">
                <a:solidFill>
                  <a:srgbClr val="8C0000"/>
                </a:solidFill>
                <a:latin typeface="Arial" charset="0"/>
                <a:ea typeface="Arial" charset="0"/>
                <a:cs typeface="Arial" charset="0"/>
              </a:rPr>
              <a:t>挑战：</a:t>
            </a:r>
            <a:r>
              <a:rPr lang="zh-CN" altLang="en-US" sz="1400" dirty="0">
                <a:latin typeface="Arial" charset="0"/>
                <a:ea typeface="Arial" charset="0"/>
                <a:cs typeface="Arial" charset="0"/>
              </a:rPr>
              <a:t>有源并发需要多发射节点互相感知同步，无源节点无法完成</a:t>
            </a:r>
            <a:endParaRPr lang="en" sz="14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95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32072F-F064-4197-BF45-6ABC4697B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无源射频无线网络并发传输研究代表性工作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9C6BFBDB-B77A-4380-B8EA-F588E268B7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3040640"/>
              </p:ext>
            </p:extLst>
          </p:nvPr>
        </p:nvGraphicFramePr>
        <p:xfrm>
          <a:off x="444521" y="881980"/>
          <a:ext cx="8088489" cy="194056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959697">
                  <a:extLst>
                    <a:ext uri="{9D8B030D-6E8A-4147-A177-3AD203B41FA5}">
                      <a16:colId xmlns:a16="http://schemas.microsoft.com/office/drawing/2014/main" val="313948178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51862862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245449711"/>
                    </a:ext>
                  </a:extLst>
                </a:gridCol>
                <a:gridCol w="4680520">
                  <a:extLst>
                    <a:ext uri="{9D8B030D-6E8A-4147-A177-3AD203B41FA5}">
                      <a16:colId xmlns:a16="http://schemas.microsoft.com/office/drawing/2014/main" val="3108387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代表工作</a:t>
                      </a:r>
                    </a:p>
                  </a:txBody>
                  <a:tcPr>
                    <a:solidFill>
                      <a:srgbClr val="8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发表会议</a:t>
                      </a:r>
                    </a:p>
                  </a:txBody>
                  <a:tcPr>
                    <a:solidFill>
                      <a:srgbClr val="8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无源射频技术</a:t>
                      </a:r>
                    </a:p>
                  </a:txBody>
                  <a:tcPr>
                    <a:solidFill>
                      <a:srgbClr val="8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并发传输方式</a:t>
                      </a:r>
                    </a:p>
                  </a:txBody>
                  <a:tcPr>
                    <a:solidFill>
                      <a:srgbClr val="8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37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DigiScatter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MobiSys</a:t>
                      </a:r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 ’20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WiFi</a:t>
                      </a:r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 backscatter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rgbClr val="8C0000"/>
                          </a:solidFill>
                        </a:rPr>
                        <a:t>多标签利用</a:t>
                      </a:r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OFDMA</a:t>
                      </a:r>
                      <a:r>
                        <a:rPr lang="zh-CN" altLang="en-US" sz="1200" dirty="0">
                          <a:solidFill>
                            <a:srgbClr val="8C0000"/>
                          </a:solidFill>
                        </a:rPr>
                        <a:t>的不同子载波进行并发传输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24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NetScatter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NSDI ’19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LoRa</a:t>
                      </a:r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 backscatter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rgbClr val="8C0000"/>
                          </a:solidFill>
                        </a:rPr>
                        <a:t>利用</a:t>
                      </a:r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LoRa</a:t>
                      </a:r>
                      <a:r>
                        <a:rPr lang="zh-CN" altLang="en-US" sz="1200" dirty="0">
                          <a:solidFill>
                            <a:srgbClr val="8C0000"/>
                          </a:solidFill>
                        </a:rPr>
                        <a:t> </a:t>
                      </a:r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chirp</a:t>
                      </a:r>
                      <a:r>
                        <a:rPr lang="zh-CN" altLang="en-US" sz="1200" dirty="0">
                          <a:solidFill>
                            <a:srgbClr val="8C0000"/>
                          </a:solidFill>
                        </a:rPr>
                        <a:t>调制的时频特性进行分布式扩频编码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627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FlipTracer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8C0000"/>
                          </a:solidFill>
                        </a:rPr>
                        <a:t>MobiCom</a:t>
                      </a:r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 ’17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RFID</a:t>
                      </a:r>
                      <a:endParaRPr lang="zh-CN" altLang="en-US" sz="1200" dirty="0">
                        <a:solidFill>
                          <a:srgbClr val="8C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rgbClr val="8C0000"/>
                          </a:solidFill>
                        </a:rPr>
                        <a:t>设计信号单跳变转移图模型（</a:t>
                      </a:r>
                      <a:r>
                        <a:rPr lang="en-US" altLang="zh-CN" sz="1200" dirty="0">
                          <a:solidFill>
                            <a:srgbClr val="8C0000"/>
                          </a:solidFill>
                        </a:rPr>
                        <a:t>one-flip graph</a:t>
                      </a:r>
                      <a:r>
                        <a:rPr lang="zh-CN" altLang="en-US" sz="1200" dirty="0">
                          <a:solidFill>
                            <a:srgbClr val="8C0000"/>
                          </a:solidFill>
                        </a:rPr>
                        <a:t>）以描述各个状态间的转移规律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86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 err="1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BiGroup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 err="1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MobiCom</a:t>
                      </a:r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 ’15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en-US" altLang="zh-CN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RFID</a:t>
                      </a:r>
                      <a:endParaRPr lang="zh-CN" altLang="en-US" sz="1200" kern="1200" dirty="0">
                        <a:solidFill>
                          <a:srgbClr val="8C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02295" rtl="0" eaLnBrk="1" latinLnBrk="0" hangingPunct="1"/>
                      <a:r>
                        <a:rPr lang="zh-CN" altLang="en-US" sz="1200" kern="1200" dirty="0">
                          <a:solidFill>
                            <a:srgbClr val="8C0000"/>
                          </a:solidFill>
                          <a:latin typeface="+mn-lt"/>
                          <a:ea typeface="+mn-ea"/>
                          <a:cs typeface="+mn-cs"/>
                        </a:rPr>
                        <a:t>在时域和星座图上对于冲突标签发送的码元进行聚类解调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569525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555D6E29-80BA-437D-9C11-39DB90C9A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829" y="3168372"/>
            <a:ext cx="1466977" cy="1296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8073391-6707-4EDD-A368-05ED9B526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355" y="3168372"/>
            <a:ext cx="1885424" cy="1296000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D7E7FBD8-BAF2-4089-858D-07FA18ED421C}"/>
              </a:ext>
            </a:extLst>
          </p:cNvPr>
          <p:cNvGrpSpPr/>
          <p:nvPr/>
        </p:nvGrpSpPr>
        <p:grpSpPr>
          <a:xfrm>
            <a:off x="444521" y="3168372"/>
            <a:ext cx="2042759" cy="1296000"/>
            <a:chOff x="444521" y="3528268"/>
            <a:chExt cx="2042759" cy="159006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E9F7208-E2B4-461E-83A4-002891853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4521" y="3528268"/>
              <a:ext cx="2042759" cy="65833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2FD42D2D-9730-4ED8-91AD-61C44B850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4521" y="4186597"/>
              <a:ext cx="2042759" cy="931739"/>
            </a:xfrm>
            <a:prstGeom prst="rect">
              <a:avLst/>
            </a:prstGeom>
          </p:spPr>
        </p:pic>
      </p:grpSp>
      <p:sp>
        <p:nvSpPr>
          <p:cNvPr id="12" name="Shape 190">
            <a:extLst>
              <a:ext uri="{FF2B5EF4-FFF2-40B4-BE49-F238E27FC236}">
                <a16:creationId xmlns:a16="http://schemas.microsoft.com/office/drawing/2014/main" id="{391E48E3-B7F4-417B-957E-DABF77C9D278}"/>
              </a:ext>
            </a:extLst>
          </p:cNvPr>
          <p:cNvSpPr txBox="1"/>
          <p:nvPr/>
        </p:nvSpPr>
        <p:spPr>
          <a:xfrm>
            <a:off x="6285328" y="3272503"/>
            <a:ext cx="2255842" cy="10877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zh-CN" altLang="en-US" sz="1400" b="1" dirty="0">
                <a:solidFill>
                  <a:srgbClr val="8C0000"/>
                </a:solidFill>
                <a:latin typeface="Arial" charset="0"/>
                <a:ea typeface="Arial" charset="0"/>
                <a:cs typeface="Arial" charset="0"/>
              </a:rPr>
              <a:t>挑战：</a:t>
            </a:r>
            <a:r>
              <a:rPr lang="zh-CN" altLang="en-US" sz="1400" dirty="0">
                <a:latin typeface="Arial" charset="0"/>
                <a:ea typeface="Arial" charset="0"/>
                <a:cs typeface="Arial" charset="0"/>
              </a:rPr>
              <a:t>射频并发传输可利用射频信号物理属性（相位、频率等），光学调制器无法调制这些属性</a:t>
            </a:r>
            <a:endParaRPr lang="en" sz="14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47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E0141-70A6-4B4A-8FFD-861A2B3C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33C8C3-D1CB-4AD3-B268-5163ECE57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研究背景与挑战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研究现状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/>
              <a:t>本文工作及当前进展</a:t>
            </a:r>
            <a:endParaRPr lang="en-US" altLang="zh-CN" dirty="0"/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研究计划</a:t>
            </a:r>
          </a:p>
        </p:txBody>
      </p:sp>
    </p:spTree>
    <p:extLst>
      <p:ext uri="{BB962C8B-B14F-4D97-AF65-F5344CB8AC3E}">
        <p14:creationId xmlns:p14="http://schemas.microsoft.com/office/powerpoint/2010/main" val="1242112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1E88B-92A3-465D-BC4C-7837EF20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本文工作</a:t>
            </a: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CDCD4FA-9E83-4ECF-9F12-92BB4E1ECC9F}"/>
              </a:ext>
            </a:extLst>
          </p:cNvPr>
          <p:cNvGrpSpPr/>
          <p:nvPr/>
        </p:nvGrpSpPr>
        <p:grpSpPr>
          <a:xfrm>
            <a:off x="702196" y="3373213"/>
            <a:ext cx="2212313" cy="1163167"/>
            <a:chOff x="653217" y="3581200"/>
            <a:chExt cx="2212313" cy="1163167"/>
          </a:xfrm>
        </p:grpSpPr>
        <p:sp>
          <p:nvSpPr>
            <p:cNvPr id="73" name="Shape 188">
              <a:extLst>
                <a:ext uri="{FF2B5EF4-FFF2-40B4-BE49-F238E27FC236}">
                  <a16:creationId xmlns:a16="http://schemas.microsoft.com/office/drawing/2014/main" id="{B7C77777-F9A6-4B3D-B571-85CC155BF536}"/>
                </a:ext>
              </a:extLst>
            </p:cNvPr>
            <p:cNvSpPr txBox="1"/>
            <p:nvPr/>
          </p:nvSpPr>
          <p:spPr>
            <a:xfrm>
              <a:off x="653217" y="3877037"/>
              <a:ext cx="858057" cy="60887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物联网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A10DC0A9-C9F0-40BA-A3CC-04A5B68321C9}"/>
                </a:ext>
              </a:extLst>
            </p:cNvPr>
            <p:cNvGrpSpPr/>
            <p:nvPr/>
          </p:nvGrpSpPr>
          <p:grpSpPr>
            <a:xfrm>
              <a:off x="1666064" y="3581200"/>
              <a:ext cx="1199466" cy="1163167"/>
              <a:chOff x="1666064" y="3581200"/>
              <a:chExt cx="1199466" cy="1163167"/>
            </a:xfrm>
          </p:grpSpPr>
          <p:pic>
            <p:nvPicPr>
              <p:cNvPr id="70" name="Shape 155">
                <a:extLst>
                  <a:ext uri="{FF2B5EF4-FFF2-40B4-BE49-F238E27FC236}">
                    <a16:creationId xmlns:a16="http://schemas.microsoft.com/office/drawing/2014/main" id="{5252672F-C2C4-4B3D-8DD7-075B6A16918E}"/>
                  </a:ext>
                </a:extLst>
              </p:cNvPr>
              <p:cNvPicPr preferRelativeResize="0"/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66064" y="4252669"/>
                <a:ext cx="491698" cy="4916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" name="Shape 183">
                <a:extLst>
                  <a:ext uri="{FF2B5EF4-FFF2-40B4-BE49-F238E27FC236}">
                    <a16:creationId xmlns:a16="http://schemas.microsoft.com/office/drawing/2014/main" id="{AEE794D1-32D2-45C7-BD06-C67A31132945}"/>
                  </a:ext>
                </a:extLst>
              </p:cNvPr>
              <p:cNvPicPr preferRelativeResize="0"/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3001" y="4274276"/>
                <a:ext cx="452529" cy="4700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" name="Shape 185">
                <a:extLst>
                  <a:ext uri="{FF2B5EF4-FFF2-40B4-BE49-F238E27FC236}">
                    <a16:creationId xmlns:a16="http://schemas.microsoft.com/office/drawing/2014/main" id="{6541684C-37BF-4216-AF2E-0B358436E906}"/>
                  </a:ext>
                </a:extLst>
              </p:cNvPr>
              <p:cNvPicPr preferRelativeResize="0"/>
              <p:nvPr/>
            </p:nvPicPr>
            <p:blipFill>
              <a:blip r:embed="rId4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96868" y="3581200"/>
                <a:ext cx="425116" cy="5106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" name="Picture 158">
                <a:extLst>
                  <a:ext uri="{FF2B5EF4-FFF2-40B4-BE49-F238E27FC236}">
                    <a16:creationId xmlns:a16="http://schemas.microsoft.com/office/drawing/2014/main" id="{DA9F376E-4B6D-4F2B-83FC-45DC057678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74419" y="3581200"/>
                <a:ext cx="684144" cy="448114"/>
              </a:xfrm>
              <a:prstGeom prst="rect">
                <a:avLst/>
              </a:prstGeom>
            </p:spPr>
          </p:pic>
        </p:grp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C213362-D4C9-4EBD-8AC2-7ADA6ADA4A8D}"/>
              </a:ext>
            </a:extLst>
          </p:cNvPr>
          <p:cNvGrpSpPr/>
          <p:nvPr/>
        </p:nvGrpSpPr>
        <p:grpSpPr>
          <a:xfrm>
            <a:off x="5742756" y="3373213"/>
            <a:ext cx="2268209" cy="1163167"/>
            <a:chOff x="6048777" y="3581200"/>
            <a:chExt cx="2268209" cy="1163167"/>
          </a:xfrm>
        </p:grpSpPr>
        <p:sp>
          <p:nvSpPr>
            <p:cNvPr id="60" name="Shape 190">
              <a:extLst>
                <a:ext uri="{FF2B5EF4-FFF2-40B4-BE49-F238E27FC236}">
                  <a16:creationId xmlns:a16="http://schemas.microsoft.com/office/drawing/2014/main" id="{30F22D1D-79EE-4ABA-A320-C3BD58561E6F}"/>
                </a:ext>
              </a:extLst>
            </p:cNvPr>
            <p:cNvSpPr txBox="1"/>
            <p:nvPr/>
          </p:nvSpPr>
          <p:spPr>
            <a:xfrm>
              <a:off x="6048777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移动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7EC2F674-3C72-49EA-993B-C4BBE8F53B70}"/>
                </a:ext>
              </a:extLst>
            </p:cNvPr>
            <p:cNvGrpSpPr/>
            <p:nvPr/>
          </p:nvGrpSpPr>
          <p:grpSpPr>
            <a:xfrm>
              <a:off x="6920466" y="3581200"/>
              <a:ext cx="1396520" cy="1163167"/>
              <a:chOff x="6920466" y="3581200"/>
              <a:chExt cx="1396520" cy="1163167"/>
            </a:xfrm>
          </p:grpSpPr>
          <p:pic>
            <p:nvPicPr>
              <p:cNvPr id="62" name="Picture 133">
                <a:extLst>
                  <a:ext uri="{FF2B5EF4-FFF2-40B4-BE49-F238E27FC236}">
                    <a16:creationId xmlns:a16="http://schemas.microsoft.com/office/drawing/2014/main" id="{4202EB84-4797-4F47-A239-3C270D23C3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0466" y="3581200"/>
                <a:ext cx="460416" cy="623791"/>
              </a:xfrm>
              <a:prstGeom prst="rect">
                <a:avLst/>
              </a:prstGeom>
            </p:spPr>
          </p:pic>
          <p:pic>
            <p:nvPicPr>
              <p:cNvPr id="63" name="Picture 135">
                <a:extLst>
                  <a:ext uri="{FF2B5EF4-FFF2-40B4-BE49-F238E27FC236}">
                    <a16:creationId xmlns:a16="http://schemas.microsoft.com/office/drawing/2014/main" id="{9ED241D1-5C3A-45E5-BB8E-2497A90C89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865775" y="4215483"/>
                <a:ext cx="432980" cy="528884"/>
              </a:xfrm>
              <a:prstGeom prst="rect">
                <a:avLst/>
              </a:prstGeom>
            </p:spPr>
          </p:pic>
          <p:pic>
            <p:nvPicPr>
              <p:cNvPr id="64" name="Picture 136">
                <a:extLst>
                  <a:ext uri="{FF2B5EF4-FFF2-40B4-BE49-F238E27FC236}">
                    <a16:creationId xmlns:a16="http://schemas.microsoft.com/office/drawing/2014/main" id="{583047E8-0512-430C-881E-B742D23B22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03096" y="3581200"/>
                <a:ext cx="813890" cy="360109"/>
              </a:xfrm>
              <a:prstGeom prst="rect">
                <a:avLst/>
              </a:prstGeom>
            </p:spPr>
          </p:pic>
          <p:pic>
            <p:nvPicPr>
              <p:cNvPr id="65" name="Picture 137">
                <a:extLst>
                  <a:ext uri="{FF2B5EF4-FFF2-40B4-BE49-F238E27FC236}">
                    <a16:creationId xmlns:a16="http://schemas.microsoft.com/office/drawing/2014/main" id="{8FC51046-5E59-4BB0-A79C-9A9C5A5799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5806" y="4237991"/>
                <a:ext cx="712101" cy="506376"/>
              </a:xfrm>
              <a:prstGeom prst="rect">
                <a:avLst/>
              </a:prstGeom>
            </p:spPr>
          </p:pic>
        </p:grpSp>
      </p:grpSp>
      <p:sp>
        <p:nvSpPr>
          <p:cNvPr id="15" name="Shape 140">
            <a:extLst>
              <a:ext uri="{FF2B5EF4-FFF2-40B4-BE49-F238E27FC236}">
                <a16:creationId xmlns:a16="http://schemas.microsoft.com/office/drawing/2014/main" id="{B76951F3-F700-4731-BAB9-590743B1E632}"/>
              </a:ext>
            </a:extLst>
          </p:cNvPr>
          <p:cNvSpPr txBox="1"/>
          <p:nvPr/>
        </p:nvSpPr>
        <p:spPr>
          <a:xfrm>
            <a:off x="476789" y="1043554"/>
            <a:ext cx="2193505" cy="48330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骨干网与云服务</a:t>
            </a:r>
            <a:endParaRPr lang="en-US" altLang="zh-CN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6" name="Shape 141">
            <a:extLst>
              <a:ext uri="{FF2B5EF4-FFF2-40B4-BE49-F238E27FC236}">
                <a16:creationId xmlns:a16="http://schemas.microsoft.com/office/drawing/2014/main" id="{DF343CA8-3287-4452-A95A-909EFE0127F3}"/>
              </a:ext>
            </a:extLst>
          </p:cNvPr>
          <p:cNvPicPr preferRelativeResize="0"/>
          <p:nvPr/>
        </p:nvPicPr>
        <p:blipFill>
          <a:blip r:embed="rId10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653" y="1787606"/>
            <a:ext cx="411805" cy="274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Shape 142">
            <a:extLst>
              <a:ext uri="{FF2B5EF4-FFF2-40B4-BE49-F238E27FC236}">
                <a16:creationId xmlns:a16="http://schemas.microsoft.com/office/drawing/2014/main" id="{F00B6AA6-C698-4AF4-8172-6CADA4B7B517}"/>
              </a:ext>
            </a:extLst>
          </p:cNvPr>
          <p:cNvPicPr preferRelativeResize="0"/>
          <p:nvPr/>
        </p:nvPicPr>
        <p:blipFill>
          <a:blip r:embed="rId10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704" y="1544261"/>
            <a:ext cx="411805" cy="274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Shape 176">
            <a:extLst>
              <a:ext uri="{FF2B5EF4-FFF2-40B4-BE49-F238E27FC236}">
                <a16:creationId xmlns:a16="http://schemas.microsoft.com/office/drawing/2014/main" id="{A6F843B5-C4AB-4DC8-A85E-F35EFE621FB2}"/>
              </a:ext>
            </a:extLst>
          </p:cNvPr>
          <p:cNvPicPr preferRelativeResize="0"/>
          <p:nvPr/>
        </p:nvPicPr>
        <p:blipFill>
          <a:blip r:embed="rId10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239" y="1825608"/>
            <a:ext cx="411805" cy="274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roup 100">
            <a:extLst>
              <a:ext uri="{FF2B5EF4-FFF2-40B4-BE49-F238E27FC236}">
                <a16:creationId xmlns:a16="http://schemas.microsoft.com/office/drawing/2014/main" id="{A61C677A-179C-48E4-843C-CE5E82862AA1}"/>
              </a:ext>
            </a:extLst>
          </p:cNvPr>
          <p:cNvGrpSpPr/>
          <p:nvPr/>
        </p:nvGrpSpPr>
        <p:grpSpPr>
          <a:xfrm>
            <a:off x="1945370" y="1826494"/>
            <a:ext cx="1366538" cy="604632"/>
            <a:chOff x="2148370" y="2041416"/>
            <a:chExt cx="2188906" cy="968494"/>
          </a:xfrm>
        </p:grpSpPr>
        <p:pic>
          <p:nvPicPr>
            <p:cNvPr id="43" name="Shape 150">
              <a:extLst>
                <a:ext uri="{FF2B5EF4-FFF2-40B4-BE49-F238E27FC236}">
                  <a16:creationId xmlns:a16="http://schemas.microsoft.com/office/drawing/2014/main" id="{F9678AB8-6507-4F58-AB82-DD0185D72C19}"/>
                </a:ext>
              </a:extLst>
            </p:cNvPr>
            <p:cNvPicPr preferRelativeResize="0"/>
            <p:nvPr/>
          </p:nvPicPr>
          <p:blipFill>
            <a:blip r:embed="rId11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9186" y="2398843"/>
              <a:ext cx="578090" cy="578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Shape 179">
              <a:extLst>
                <a:ext uri="{FF2B5EF4-FFF2-40B4-BE49-F238E27FC236}">
                  <a16:creationId xmlns:a16="http://schemas.microsoft.com/office/drawing/2014/main" id="{A24860F7-8306-4E24-AA92-BCCD6FE58D17}"/>
                </a:ext>
              </a:extLst>
            </p:cNvPr>
            <p:cNvPicPr preferRelativeResize="0"/>
            <p:nvPr/>
          </p:nvPicPr>
          <p:blipFill>
            <a:blip r:embed="rId12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370" y="2357914"/>
              <a:ext cx="542844" cy="6519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Shape 187">
              <a:extLst>
                <a:ext uri="{FF2B5EF4-FFF2-40B4-BE49-F238E27FC236}">
                  <a16:creationId xmlns:a16="http://schemas.microsoft.com/office/drawing/2014/main" id="{448725D4-B1BA-40B7-B919-9EC9855DD741}"/>
                </a:ext>
              </a:extLst>
            </p:cNvPr>
            <p:cNvPicPr preferRelativeResize="0"/>
            <p:nvPr/>
          </p:nvPicPr>
          <p:blipFill>
            <a:blip r:embed="rId1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7405" y="2041416"/>
              <a:ext cx="874459" cy="8744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" name="Group 109">
            <a:extLst>
              <a:ext uri="{FF2B5EF4-FFF2-40B4-BE49-F238E27FC236}">
                <a16:creationId xmlns:a16="http://schemas.microsoft.com/office/drawing/2014/main" id="{14D53379-6A81-49F7-BDC4-9F94E26034D2}"/>
              </a:ext>
            </a:extLst>
          </p:cNvPr>
          <p:cNvGrpSpPr/>
          <p:nvPr/>
        </p:nvGrpSpPr>
        <p:grpSpPr>
          <a:xfrm>
            <a:off x="4006213" y="2003489"/>
            <a:ext cx="1168952" cy="468274"/>
            <a:chOff x="5449408" y="2324924"/>
            <a:chExt cx="1872415" cy="750077"/>
          </a:xfrm>
        </p:grpSpPr>
        <p:pic>
          <p:nvPicPr>
            <p:cNvPr id="40" name="Shape 157">
              <a:extLst>
                <a:ext uri="{FF2B5EF4-FFF2-40B4-BE49-F238E27FC236}">
                  <a16:creationId xmlns:a16="http://schemas.microsoft.com/office/drawing/2014/main" id="{1C98C0F8-6824-43C9-BC0C-DEF28E2C249A}"/>
                </a:ext>
              </a:extLst>
            </p:cNvPr>
            <p:cNvPicPr preferRelativeResize="0"/>
            <p:nvPr/>
          </p:nvPicPr>
          <p:blipFill>
            <a:blip r:embed="rId14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9408" y="2533311"/>
              <a:ext cx="403699" cy="484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Shape 160">
              <a:extLst>
                <a:ext uri="{FF2B5EF4-FFF2-40B4-BE49-F238E27FC236}">
                  <a16:creationId xmlns:a16="http://schemas.microsoft.com/office/drawing/2014/main" id="{F2C968CF-CED2-4AD2-AD3C-D0EDF196F569}"/>
                </a:ext>
              </a:extLst>
            </p:cNvPr>
            <p:cNvPicPr preferRelativeResize="0"/>
            <p:nvPr/>
          </p:nvPicPr>
          <p:blipFill>
            <a:blip r:embed="rId15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8124" y="2548019"/>
              <a:ext cx="403699" cy="403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Shape 186">
              <a:extLst>
                <a:ext uri="{FF2B5EF4-FFF2-40B4-BE49-F238E27FC236}">
                  <a16:creationId xmlns:a16="http://schemas.microsoft.com/office/drawing/2014/main" id="{55DF1082-C3E4-444F-9F51-41DDC61A12AD}"/>
                </a:ext>
              </a:extLst>
            </p:cNvPr>
            <p:cNvPicPr preferRelativeResize="0"/>
            <p:nvPr/>
          </p:nvPicPr>
          <p:blipFill>
            <a:blip r:embed="rId1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1537" y="2324924"/>
              <a:ext cx="750077" cy="7500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" name="Group 125">
            <a:extLst>
              <a:ext uri="{FF2B5EF4-FFF2-40B4-BE49-F238E27FC236}">
                <a16:creationId xmlns:a16="http://schemas.microsoft.com/office/drawing/2014/main" id="{2351C1F1-8CFE-4676-8D74-5FABE5BF33C8}"/>
              </a:ext>
            </a:extLst>
          </p:cNvPr>
          <p:cNvGrpSpPr/>
          <p:nvPr/>
        </p:nvGrpSpPr>
        <p:grpSpPr>
          <a:xfrm>
            <a:off x="5807035" y="1652051"/>
            <a:ext cx="1669125" cy="699420"/>
            <a:chOff x="8333946" y="1761994"/>
            <a:chExt cx="2673588" cy="1120324"/>
          </a:xfrm>
        </p:grpSpPr>
        <p:pic>
          <p:nvPicPr>
            <p:cNvPr id="37" name="Shape 150">
              <a:extLst>
                <a:ext uri="{FF2B5EF4-FFF2-40B4-BE49-F238E27FC236}">
                  <a16:creationId xmlns:a16="http://schemas.microsoft.com/office/drawing/2014/main" id="{3E0AD489-220A-4920-B1EB-AE68144DA302}"/>
                </a:ext>
              </a:extLst>
            </p:cNvPr>
            <p:cNvPicPr preferRelativeResize="0"/>
            <p:nvPr/>
          </p:nvPicPr>
          <p:blipFill>
            <a:blip r:embed="rId11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7133" y="2143949"/>
              <a:ext cx="660401" cy="6604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Shape 179">
              <a:extLst>
                <a:ext uri="{FF2B5EF4-FFF2-40B4-BE49-F238E27FC236}">
                  <a16:creationId xmlns:a16="http://schemas.microsoft.com/office/drawing/2014/main" id="{599B15A5-4263-41BD-B4DE-28F20D6C304D}"/>
                </a:ext>
              </a:extLst>
            </p:cNvPr>
            <p:cNvPicPr preferRelativeResize="0"/>
            <p:nvPr/>
          </p:nvPicPr>
          <p:blipFill>
            <a:blip r:embed="rId16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3946" y="2104366"/>
              <a:ext cx="647712" cy="7779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Shape 187">
              <a:extLst>
                <a:ext uri="{FF2B5EF4-FFF2-40B4-BE49-F238E27FC236}">
                  <a16:creationId xmlns:a16="http://schemas.microsoft.com/office/drawing/2014/main" id="{7376EB1C-914D-4252-9AA7-1F74348046E2}"/>
                </a:ext>
              </a:extLst>
            </p:cNvPr>
            <p:cNvPicPr preferRelativeResize="0"/>
            <p:nvPr/>
          </p:nvPicPr>
          <p:blipFill>
            <a:blip r:embed="rId1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6776" y="1761994"/>
              <a:ext cx="1021145" cy="10211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" name="Shape 140">
            <a:extLst>
              <a:ext uri="{FF2B5EF4-FFF2-40B4-BE49-F238E27FC236}">
                <a16:creationId xmlns:a16="http://schemas.microsoft.com/office/drawing/2014/main" id="{6874FDA1-6751-43A9-9691-CBD4EAAC26F8}"/>
              </a:ext>
            </a:extLst>
          </p:cNvPr>
          <p:cNvSpPr txBox="1"/>
          <p:nvPr/>
        </p:nvSpPr>
        <p:spPr>
          <a:xfrm>
            <a:off x="180082" y="2223013"/>
            <a:ext cx="1720252" cy="59723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接入网络</a:t>
            </a:r>
            <a:endParaRPr lang="en-US" altLang="zh-CN" dirty="0"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50DC9D1-442D-48C4-9D2E-10F819A72458}"/>
              </a:ext>
            </a:extLst>
          </p:cNvPr>
          <p:cNvGrpSpPr/>
          <p:nvPr/>
        </p:nvGrpSpPr>
        <p:grpSpPr>
          <a:xfrm>
            <a:off x="2769042" y="755610"/>
            <a:ext cx="3064546" cy="1142476"/>
            <a:chOff x="3202077" y="226664"/>
            <a:chExt cx="5352459" cy="1995420"/>
          </a:xfrm>
        </p:grpSpPr>
        <p:pic>
          <p:nvPicPr>
            <p:cNvPr id="32" name="Picture 85">
              <a:extLst>
                <a:ext uri="{FF2B5EF4-FFF2-40B4-BE49-F238E27FC236}">
                  <a16:creationId xmlns:a16="http://schemas.microsoft.com/office/drawing/2014/main" id="{1DD552B6-2A4D-4CAC-8335-E6D7BB47E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2077" y="226664"/>
              <a:ext cx="5352459" cy="1995420"/>
            </a:xfrm>
            <a:prstGeom prst="rect">
              <a:avLst/>
            </a:prstGeom>
          </p:spPr>
        </p:pic>
        <p:pic>
          <p:nvPicPr>
            <p:cNvPr id="33" name="Shape 187">
              <a:extLst>
                <a:ext uri="{FF2B5EF4-FFF2-40B4-BE49-F238E27FC236}">
                  <a16:creationId xmlns:a16="http://schemas.microsoft.com/office/drawing/2014/main" id="{AD495759-A85F-49B9-BA76-88C276E6B2CA}"/>
                </a:ext>
              </a:extLst>
            </p:cNvPr>
            <p:cNvPicPr preferRelativeResize="0"/>
            <p:nvPr/>
          </p:nvPicPr>
          <p:blipFill>
            <a:blip r:embed="rId1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7788" y="492365"/>
              <a:ext cx="980470" cy="9804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Shape 187">
              <a:extLst>
                <a:ext uri="{FF2B5EF4-FFF2-40B4-BE49-F238E27FC236}">
                  <a16:creationId xmlns:a16="http://schemas.microsoft.com/office/drawing/2014/main" id="{9402E246-3A73-4F1F-9F66-12A36BB889BB}"/>
                </a:ext>
              </a:extLst>
            </p:cNvPr>
            <p:cNvPicPr preferRelativeResize="0"/>
            <p:nvPr/>
          </p:nvPicPr>
          <p:blipFill>
            <a:blip r:embed="rId1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4632" y="795330"/>
              <a:ext cx="829988" cy="8299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Shape 187">
              <a:extLst>
                <a:ext uri="{FF2B5EF4-FFF2-40B4-BE49-F238E27FC236}">
                  <a16:creationId xmlns:a16="http://schemas.microsoft.com/office/drawing/2014/main" id="{1F071EFC-8E58-4D39-9DBF-235848D89D0E}"/>
                </a:ext>
              </a:extLst>
            </p:cNvPr>
            <p:cNvPicPr preferRelativeResize="0"/>
            <p:nvPr/>
          </p:nvPicPr>
          <p:blipFill>
            <a:blip r:embed="rId1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1995" y="438857"/>
              <a:ext cx="833874" cy="833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Shape 187">
              <a:extLst>
                <a:ext uri="{FF2B5EF4-FFF2-40B4-BE49-F238E27FC236}">
                  <a16:creationId xmlns:a16="http://schemas.microsoft.com/office/drawing/2014/main" id="{43D6FC23-AF20-4D8A-9C03-841E885B461A}"/>
                </a:ext>
              </a:extLst>
            </p:cNvPr>
            <p:cNvPicPr preferRelativeResize="0"/>
            <p:nvPr/>
          </p:nvPicPr>
          <p:blipFill>
            <a:blip r:embed="rId1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7587" y="722807"/>
              <a:ext cx="827585" cy="82758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DC6CFA3-6AD4-4C1E-B657-F1BA31189135}"/>
              </a:ext>
            </a:extLst>
          </p:cNvPr>
          <p:cNvGrpSpPr/>
          <p:nvPr/>
        </p:nvGrpSpPr>
        <p:grpSpPr>
          <a:xfrm>
            <a:off x="3124828" y="3373213"/>
            <a:ext cx="2407608" cy="1163167"/>
            <a:chOff x="3413302" y="3581200"/>
            <a:chExt cx="2407608" cy="1163167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FB28A1E6-44AF-4754-9681-A71266DAE77F}"/>
                </a:ext>
              </a:extLst>
            </p:cNvPr>
            <p:cNvGrpSpPr/>
            <p:nvPr/>
          </p:nvGrpSpPr>
          <p:grpSpPr>
            <a:xfrm>
              <a:off x="4356137" y="3581200"/>
              <a:ext cx="1464773" cy="1163167"/>
              <a:chOff x="4356137" y="3581200"/>
              <a:chExt cx="1464773" cy="1163167"/>
            </a:xfrm>
          </p:grpSpPr>
          <p:pic>
            <p:nvPicPr>
              <p:cNvPr id="67" name="Picture 166">
                <a:extLst>
                  <a:ext uri="{FF2B5EF4-FFF2-40B4-BE49-F238E27FC236}">
                    <a16:creationId xmlns:a16="http://schemas.microsoft.com/office/drawing/2014/main" id="{255890DD-BF3C-4453-848F-D818761B1F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56137" y="3581200"/>
                <a:ext cx="929705" cy="562326"/>
              </a:xfrm>
              <a:prstGeom prst="rect">
                <a:avLst/>
              </a:prstGeom>
            </p:spPr>
          </p:pic>
          <p:pic>
            <p:nvPicPr>
              <p:cNvPr id="2050" name="Picture 2" descr="Traffic signal on a white background Royalty Free Vector">
                <a:extLst>
                  <a:ext uri="{FF2B5EF4-FFF2-40B4-BE49-F238E27FC236}">
                    <a16:creationId xmlns:a16="http://schemas.microsoft.com/office/drawing/2014/main" id="{BAB6426F-F138-451F-A233-F8BA4413FF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384" t="11427" r="33835" b="9849"/>
              <a:stretch/>
            </p:blipFill>
            <p:spPr bwMode="auto">
              <a:xfrm>
                <a:off x="5399776" y="3581200"/>
                <a:ext cx="421134" cy="1163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2" name="Picture 4" descr="Premium Vector | Set of blank road signs on white background">
                <a:extLst>
                  <a:ext uri="{FF2B5EF4-FFF2-40B4-BE49-F238E27FC236}">
                    <a16:creationId xmlns:a16="http://schemas.microsoft.com/office/drawing/2014/main" id="{1500A6E2-FC09-41BA-8C3F-1DA3AD1252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56546" y="4209636"/>
                <a:ext cx="929837" cy="5347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0" name="Shape 190">
              <a:extLst>
                <a:ext uri="{FF2B5EF4-FFF2-40B4-BE49-F238E27FC236}">
                  <a16:creationId xmlns:a16="http://schemas.microsoft.com/office/drawing/2014/main" id="{DEE0364B-DF7D-4903-8255-53BEEEFE86F9}"/>
                </a:ext>
              </a:extLst>
            </p:cNvPr>
            <p:cNvSpPr txBox="1"/>
            <p:nvPr/>
          </p:nvSpPr>
          <p:spPr>
            <a:xfrm>
              <a:off x="3413302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道路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设施</a:t>
              </a:r>
              <a:endParaRPr lang="en-US" altLang="zh-CN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pic>
        <p:nvPicPr>
          <p:cNvPr id="1026" name="Picture 2" descr="Nobel for blue LED that revolutionized lighting | Nature">
            <a:extLst>
              <a:ext uri="{FF2B5EF4-FFF2-40B4-BE49-F238E27FC236}">
                <a16:creationId xmlns:a16="http://schemas.microsoft.com/office/drawing/2014/main" id="{442AAFB9-27B0-495E-908F-616B4CBFC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48" y="2513016"/>
            <a:ext cx="482143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Shape 190">
            <a:extLst>
              <a:ext uri="{FF2B5EF4-FFF2-40B4-BE49-F238E27FC236}">
                <a16:creationId xmlns:a16="http://schemas.microsoft.com/office/drawing/2014/main" id="{473F2CEF-0AEA-4FAE-A805-9845B3BADCA8}"/>
              </a:ext>
            </a:extLst>
          </p:cNvPr>
          <p:cNvSpPr txBox="1"/>
          <p:nvPr/>
        </p:nvSpPr>
        <p:spPr>
          <a:xfrm>
            <a:off x="6298493" y="756905"/>
            <a:ext cx="2376264" cy="3952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-US" altLang="zh-CN" b="1" dirty="0">
                <a:solidFill>
                  <a:srgbClr val="8C0000"/>
                </a:solidFill>
                <a:latin typeface="Arial" charset="0"/>
                <a:ea typeface="Arial" charset="0"/>
                <a:cs typeface="Arial" charset="0"/>
              </a:rPr>
              <a:t>1993</a:t>
            </a:r>
            <a:r>
              <a:rPr lang="zh-CN" altLang="en-US" b="1" dirty="0">
                <a:solidFill>
                  <a:srgbClr val="8C0000"/>
                </a:solidFill>
                <a:latin typeface="Arial" charset="0"/>
                <a:ea typeface="Arial" charset="0"/>
                <a:cs typeface="Arial" charset="0"/>
              </a:rPr>
              <a:t>年</a:t>
            </a:r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蓝光</a:t>
            </a:r>
            <a:r>
              <a:rPr lang="en-US" altLang="zh-CN" dirty="0">
                <a:latin typeface="Arial" charset="0"/>
                <a:ea typeface="Arial" charset="0"/>
                <a:cs typeface="Arial" charset="0"/>
              </a:rPr>
              <a:t>LED</a:t>
            </a:r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发明</a:t>
            </a:r>
            <a:endParaRPr lang="en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4" name="Shape 190">
            <a:extLst>
              <a:ext uri="{FF2B5EF4-FFF2-40B4-BE49-F238E27FC236}">
                <a16:creationId xmlns:a16="http://schemas.microsoft.com/office/drawing/2014/main" id="{8D92C5F3-31CD-48B5-9ACE-C8AF74D9E331}"/>
              </a:ext>
            </a:extLst>
          </p:cNvPr>
          <p:cNvSpPr txBox="1"/>
          <p:nvPr/>
        </p:nvSpPr>
        <p:spPr>
          <a:xfrm>
            <a:off x="6298493" y="1168035"/>
            <a:ext cx="2376264" cy="3952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-US" altLang="zh-CN" b="1" dirty="0">
                <a:solidFill>
                  <a:srgbClr val="8C0000"/>
                </a:solidFill>
                <a:latin typeface="Arial" charset="0"/>
                <a:ea typeface="Arial" charset="0"/>
                <a:cs typeface="Arial" charset="0"/>
              </a:rPr>
              <a:t>2011</a:t>
            </a:r>
            <a:r>
              <a:rPr lang="zh-CN" altLang="en-US" b="1" dirty="0">
                <a:solidFill>
                  <a:srgbClr val="8C0000"/>
                </a:solidFill>
                <a:latin typeface="Arial" charset="0"/>
                <a:ea typeface="Arial" charset="0"/>
                <a:cs typeface="Arial" charset="0"/>
              </a:rPr>
              <a:t>年</a:t>
            </a:r>
            <a:r>
              <a:rPr lang="en-US" altLang="zh-CN" dirty="0">
                <a:latin typeface="Arial" charset="0"/>
                <a:ea typeface="Arial" charset="0"/>
                <a:cs typeface="Arial" charset="0"/>
              </a:rPr>
              <a:t>Li-Fi</a:t>
            </a:r>
            <a:r>
              <a:rPr lang="zh-CN" altLang="en-US" dirty="0">
                <a:latin typeface="Arial" charset="0"/>
                <a:ea typeface="Arial" charset="0"/>
                <a:cs typeface="Arial" charset="0"/>
              </a:rPr>
              <a:t>概念提出</a:t>
            </a:r>
            <a:endParaRPr lang="en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76" name="Content Placeholder 6">
            <a:extLst>
              <a:ext uri="{FF2B5EF4-FFF2-40B4-BE49-F238E27FC236}">
                <a16:creationId xmlns:a16="http://schemas.microsoft.com/office/drawing/2014/main" id="{55304895-9E73-4F9E-95D8-A931D42C66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4691" y="2513016"/>
            <a:ext cx="1164995" cy="720000"/>
          </a:xfrm>
          <a:prstGeom prst="rect">
            <a:avLst/>
          </a:prstGeom>
        </p:spPr>
      </p:pic>
      <p:pic>
        <p:nvPicPr>
          <p:cNvPr id="77" name="Picture 12">
            <a:extLst>
              <a:ext uri="{FF2B5EF4-FFF2-40B4-BE49-F238E27FC236}">
                <a16:creationId xmlns:a16="http://schemas.microsoft.com/office/drawing/2014/main" id="{008678B6-2860-4E7D-9B77-67DACCAD58D5}"/>
              </a:ext>
            </a:extLst>
          </p:cNvPr>
          <p:cNvPicPr>
            <a:picLocks noChangeAspect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13166" y="2513016"/>
            <a:ext cx="566937" cy="720000"/>
          </a:xfrm>
          <a:prstGeom prst="rect">
            <a:avLst/>
          </a:prstGeom>
        </p:spPr>
      </p:pic>
      <p:pic>
        <p:nvPicPr>
          <p:cNvPr id="86" name="Picture 7">
            <a:extLst>
              <a:ext uri="{FF2B5EF4-FFF2-40B4-BE49-F238E27FC236}">
                <a16:creationId xmlns:a16="http://schemas.microsoft.com/office/drawing/2014/main" id="{4FBDF23B-703E-48FA-9DE3-18416B43BBFF}"/>
              </a:ext>
            </a:extLst>
          </p:cNvPr>
          <p:cNvPicPr>
            <a:picLocks noChangeAspect="1"/>
          </p:cNvPicPr>
          <p:nvPr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206" y="2513016"/>
            <a:ext cx="1059310" cy="720000"/>
          </a:xfrm>
          <a:prstGeom prst="rect">
            <a:avLst/>
          </a:prstGeom>
        </p:spPr>
      </p:pic>
      <p:pic>
        <p:nvPicPr>
          <p:cNvPr id="87" name="Picture 2">
            <a:extLst>
              <a:ext uri="{FF2B5EF4-FFF2-40B4-BE49-F238E27FC236}">
                <a16:creationId xmlns:a16="http://schemas.microsoft.com/office/drawing/2014/main" id="{7FDE97E2-55BC-4683-9590-09038A029BBA}"/>
              </a:ext>
            </a:extLst>
          </p:cNvPr>
          <p:cNvPicPr>
            <a:picLocks noChangeAspect="1"/>
          </p:cNvPicPr>
          <p:nvPr/>
        </p:nvPicPr>
        <p:blipFill rotWithShape="1"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65278" y="2513016"/>
            <a:ext cx="1219753" cy="720000"/>
          </a:xfrm>
          <a:prstGeom prst="rect">
            <a:avLst/>
          </a:prstGeom>
        </p:spPr>
      </p:pic>
      <p:pic>
        <p:nvPicPr>
          <p:cNvPr id="88" name="Picture 32">
            <a:extLst>
              <a:ext uri="{FF2B5EF4-FFF2-40B4-BE49-F238E27FC236}">
                <a16:creationId xmlns:a16="http://schemas.microsoft.com/office/drawing/2014/main" id="{E249A498-D4F1-4B6B-A00E-146A26137C05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4859" y="2513016"/>
            <a:ext cx="864001" cy="720000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CF4471A1-CCF4-4832-B8A1-CF7EFE8A22F8}"/>
              </a:ext>
            </a:extLst>
          </p:cNvPr>
          <p:cNvSpPr txBox="1"/>
          <p:nvPr/>
        </p:nvSpPr>
        <p:spPr>
          <a:xfrm>
            <a:off x="450056" y="2664172"/>
            <a:ext cx="8101013" cy="369332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</a:rPr>
              <a:t>研究目标：设计并实现无源光学无线网络并发传输系统</a:t>
            </a:r>
          </a:p>
        </p:txBody>
      </p:sp>
    </p:spTree>
    <p:extLst>
      <p:ext uri="{BB962C8B-B14F-4D97-AF65-F5344CB8AC3E}">
        <p14:creationId xmlns:p14="http://schemas.microsoft.com/office/powerpoint/2010/main" val="284588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1E88B-92A3-465D-BC4C-7837EF20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本文工作</a:t>
            </a: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CDCD4FA-9E83-4ECF-9F12-92BB4E1ECC9F}"/>
              </a:ext>
            </a:extLst>
          </p:cNvPr>
          <p:cNvGrpSpPr/>
          <p:nvPr/>
        </p:nvGrpSpPr>
        <p:grpSpPr>
          <a:xfrm>
            <a:off x="702196" y="3373213"/>
            <a:ext cx="2212313" cy="1163167"/>
            <a:chOff x="653217" y="3581200"/>
            <a:chExt cx="2212313" cy="1163167"/>
          </a:xfrm>
        </p:grpSpPr>
        <p:sp>
          <p:nvSpPr>
            <p:cNvPr id="73" name="Shape 188">
              <a:extLst>
                <a:ext uri="{FF2B5EF4-FFF2-40B4-BE49-F238E27FC236}">
                  <a16:creationId xmlns:a16="http://schemas.microsoft.com/office/drawing/2014/main" id="{B7C77777-F9A6-4B3D-B571-85CC155BF536}"/>
                </a:ext>
              </a:extLst>
            </p:cNvPr>
            <p:cNvSpPr txBox="1"/>
            <p:nvPr/>
          </p:nvSpPr>
          <p:spPr>
            <a:xfrm>
              <a:off x="653217" y="3877037"/>
              <a:ext cx="858057" cy="60887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物联网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A10DC0A9-C9F0-40BA-A3CC-04A5B68321C9}"/>
                </a:ext>
              </a:extLst>
            </p:cNvPr>
            <p:cNvGrpSpPr/>
            <p:nvPr/>
          </p:nvGrpSpPr>
          <p:grpSpPr>
            <a:xfrm>
              <a:off x="1666064" y="3581200"/>
              <a:ext cx="1199466" cy="1163167"/>
              <a:chOff x="1666064" y="3581200"/>
              <a:chExt cx="1199466" cy="1163167"/>
            </a:xfrm>
          </p:grpSpPr>
          <p:pic>
            <p:nvPicPr>
              <p:cNvPr id="70" name="Shape 155">
                <a:extLst>
                  <a:ext uri="{FF2B5EF4-FFF2-40B4-BE49-F238E27FC236}">
                    <a16:creationId xmlns:a16="http://schemas.microsoft.com/office/drawing/2014/main" id="{5252672F-C2C4-4B3D-8DD7-075B6A16918E}"/>
                  </a:ext>
                </a:extLst>
              </p:cNvPr>
              <p:cNvPicPr preferRelativeResize="0"/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66064" y="4252669"/>
                <a:ext cx="491698" cy="4916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" name="Shape 183">
                <a:extLst>
                  <a:ext uri="{FF2B5EF4-FFF2-40B4-BE49-F238E27FC236}">
                    <a16:creationId xmlns:a16="http://schemas.microsoft.com/office/drawing/2014/main" id="{AEE794D1-32D2-45C7-BD06-C67A31132945}"/>
                  </a:ext>
                </a:extLst>
              </p:cNvPr>
              <p:cNvPicPr preferRelativeResize="0"/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3001" y="4274276"/>
                <a:ext cx="452529" cy="4700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" name="Shape 185">
                <a:extLst>
                  <a:ext uri="{FF2B5EF4-FFF2-40B4-BE49-F238E27FC236}">
                    <a16:creationId xmlns:a16="http://schemas.microsoft.com/office/drawing/2014/main" id="{6541684C-37BF-4216-AF2E-0B358436E906}"/>
                  </a:ext>
                </a:extLst>
              </p:cNvPr>
              <p:cNvPicPr preferRelativeResize="0"/>
              <p:nvPr/>
            </p:nvPicPr>
            <p:blipFill>
              <a:blip r:embed="rId4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96868" y="3581200"/>
                <a:ext cx="425116" cy="5106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" name="Picture 158">
                <a:extLst>
                  <a:ext uri="{FF2B5EF4-FFF2-40B4-BE49-F238E27FC236}">
                    <a16:creationId xmlns:a16="http://schemas.microsoft.com/office/drawing/2014/main" id="{DA9F376E-4B6D-4F2B-83FC-45DC057678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74419" y="3581200"/>
                <a:ext cx="684144" cy="448114"/>
              </a:xfrm>
              <a:prstGeom prst="rect">
                <a:avLst/>
              </a:prstGeom>
            </p:spPr>
          </p:pic>
        </p:grp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C213362-D4C9-4EBD-8AC2-7ADA6ADA4A8D}"/>
              </a:ext>
            </a:extLst>
          </p:cNvPr>
          <p:cNvGrpSpPr/>
          <p:nvPr/>
        </p:nvGrpSpPr>
        <p:grpSpPr>
          <a:xfrm>
            <a:off x="5742756" y="3373213"/>
            <a:ext cx="2268209" cy="1163167"/>
            <a:chOff x="6048777" y="3581200"/>
            <a:chExt cx="2268209" cy="1163167"/>
          </a:xfrm>
        </p:grpSpPr>
        <p:sp>
          <p:nvSpPr>
            <p:cNvPr id="60" name="Shape 190">
              <a:extLst>
                <a:ext uri="{FF2B5EF4-FFF2-40B4-BE49-F238E27FC236}">
                  <a16:creationId xmlns:a16="http://schemas.microsoft.com/office/drawing/2014/main" id="{30F22D1D-79EE-4ABA-A320-C3BD58561E6F}"/>
                </a:ext>
              </a:extLst>
            </p:cNvPr>
            <p:cNvSpPr txBox="1"/>
            <p:nvPr/>
          </p:nvSpPr>
          <p:spPr>
            <a:xfrm>
              <a:off x="6048777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移动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7EC2F674-3C72-49EA-993B-C4BBE8F53B70}"/>
                </a:ext>
              </a:extLst>
            </p:cNvPr>
            <p:cNvGrpSpPr/>
            <p:nvPr/>
          </p:nvGrpSpPr>
          <p:grpSpPr>
            <a:xfrm>
              <a:off x="6920466" y="3581200"/>
              <a:ext cx="1396520" cy="1163167"/>
              <a:chOff x="6920466" y="3581200"/>
              <a:chExt cx="1396520" cy="1163167"/>
            </a:xfrm>
          </p:grpSpPr>
          <p:pic>
            <p:nvPicPr>
              <p:cNvPr id="62" name="Picture 133">
                <a:extLst>
                  <a:ext uri="{FF2B5EF4-FFF2-40B4-BE49-F238E27FC236}">
                    <a16:creationId xmlns:a16="http://schemas.microsoft.com/office/drawing/2014/main" id="{4202EB84-4797-4F47-A239-3C270D23C3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0466" y="3581200"/>
                <a:ext cx="460416" cy="623791"/>
              </a:xfrm>
              <a:prstGeom prst="rect">
                <a:avLst/>
              </a:prstGeom>
            </p:spPr>
          </p:pic>
          <p:pic>
            <p:nvPicPr>
              <p:cNvPr id="63" name="Picture 135">
                <a:extLst>
                  <a:ext uri="{FF2B5EF4-FFF2-40B4-BE49-F238E27FC236}">
                    <a16:creationId xmlns:a16="http://schemas.microsoft.com/office/drawing/2014/main" id="{9ED241D1-5C3A-45E5-BB8E-2497A90C89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865775" y="4215483"/>
                <a:ext cx="432980" cy="528884"/>
              </a:xfrm>
              <a:prstGeom prst="rect">
                <a:avLst/>
              </a:prstGeom>
            </p:spPr>
          </p:pic>
          <p:pic>
            <p:nvPicPr>
              <p:cNvPr id="64" name="Picture 136">
                <a:extLst>
                  <a:ext uri="{FF2B5EF4-FFF2-40B4-BE49-F238E27FC236}">
                    <a16:creationId xmlns:a16="http://schemas.microsoft.com/office/drawing/2014/main" id="{583047E8-0512-430C-881E-B742D23B22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03096" y="3581200"/>
                <a:ext cx="813890" cy="360109"/>
              </a:xfrm>
              <a:prstGeom prst="rect">
                <a:avLst/>
              </a:prstGeom>
            </p:spPr>
          </p:pic>
          <p:pic>
            <p:nvPicPr>
              <p:cNvPr id="65" name="Picture 137">
                <a:extLst>
                  <a:ext uri="{FF2B5EF4-FFF2-40B4-BE49-F238E27FC236}">
                    <a16:creationId xmlns:a16="http://schemas.microsoft.com/office/drawing/2014/main" id="{8FC51046-5E59-4BB0-A79C-9A9C5A5799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5806" y="4237991"/>
                <a:ext cx="712101" cy="506376"/>
              </a:xfrm>
              <a:prstGeom prst="rect">
                <a:avLst/>
              </a:prstGeom>
            </p:spPr>
          </p:pic>
        </p:grp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DC6CFA3-6AD4-4C1E-B657-F1BA31189135}"/>
              </a:ext>
            </a:extLst>
          </p:cNvPr>
          <p:cNvGrpSpPr/>
          <p:nvPr/>
        </p:nvGrpSpPr>
        <p:grpSpPr>
          <a:xfrm>
            <a:off x="3124828" y="3373213"/>
            <a:ext cx="2407608" cy="1163167"/>
            <a:chOff x="3413302" y="3581200"/>
            <a:chExt cx="2407608" cy="1163167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FB28A1E6-44AF-4754-9681-A71266DAE77F}"/>
                </a:ext>
              </a:extLst>
            </p:cNvPr>
            <p:cNvGrpSpPr/>
            <p:nvPr/>
          </p:nvGrpSpPr>
          <p:grpSpPr>
            <a:xfrm>
              <a:off x="4356137" y="3581200"/>
              <a:ext cx="1464773" cy="1163167"/>
              <a:chOff x="4356137" y="3581200"/>
              <a:chExt cx="1464773" cy="1163167"/>
            </a:xfrm>
          </p:grpSpPr>
          <p:pic>
            <p:nvPicPr>
              <p:cNvPr id="67" name="Picture 166">
                <a:extLst>
                  <a:ext uri="{FF2B5EF4-FFF2-40B4-BE49-F238E27FC236}">
                    <a16:creationId xmlns:a16="http://schemas.microsoft.com/office/drawing/2014/main" id="{255890DD-BF3C-4453-848F-D818761B1F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56137" y="3581200"/>
                <a:ext cx="929705" cy="562326"/>
              </a:xfrm>
              <a:prstGeom prst="rect">
                <a:avLst/>
              </a:prstGeom>
            </p:spPr>
          </p:pic>
          <p:pic>
            <p:nvPicPr>
              <p:cNvPr id="2050" name="Picture 2" descr="Traffic signal on a white background Royalty Free Vector">
                <a:extLst>
                  <a:ext uri="{FF2B5EF4-FFF2-40B4-BE49-F238E27FC236}">
                    <a16:creationId xmlns:a16="http://schemas.microsoft.com/office/drawing/2014/main" id="{BAB6426F-F138-451F-A233-F8BA4413FF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384" t="11427" r="33835" b="9849"/>
              <a:stretch/>
            </p:blipFill>
            <p:spPr bwMode="auto">
              <a:xfrm>
                <a:off x="5399776" y="3581200"/>
                <a:ext cx="421134" cy="1163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2" name="Picture 4" descr="Premium Vector | Set of blank road signs on white background">
                <a:extLst>
                  <a:ext uri="{FF2B5EF4-FFF2-40B4-BE49-F238E27FC236}">
                    <a16:creationId xmlns:a16="http://schemas.microsoft.com/office/drawing/2014/main" id="{1500A6E2-FC09-41BA-8C3F-1DA3AD1252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56546" y="4209636"/>
                <a:ext cx="929837" cy="5347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0" name="Shape 190">
              <a:extLst>
                <a:ext uri="{FF2B5EF4-FFF2-40B4-BE49-F238E27FC236}">
                  <a16:creationId xmlns:a16="http://schemas.microsoft.com/office/drawing/2014/main" id="{DEE0364B-DF7D-4903-8255-53BEEEFE86F9}"/>
                </a:ext>
              </a:extLst>
            </p:cNvPr>
            <p:cNvSpPr txBox="1"/>
            <p:nvPr/>
          </p:nvSpPr>
          <p:spPr>
            <a:xfrm>
              <a:off x="3413302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道路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设施</a:t>
              </a:r>
              <a:endParaRPr lang="en-US" altLang="zh-CN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CF4471A1-CCF4-4832-B8A1-CF7EFE8A22F8}"/>
              </a:ext>
            </a:extLst>
          </p:cNvPr>
          <p:cNvSpPr txBox="1"/>
          <p:nvPr/>
        </p:nvSpPr>
        <p:spPr>
          <a:xfrm>
            <a:off x="450056" y="782672"/>
            <a:ext cx="8101013" cy="369332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</a:rPr>
              <a:t>研究目标：设计并实现无源光学无线网络并发传输系统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25E87C3-668F-4B1E-9DF9-206755B9BE5D}"/>
              </a:ext>
            </a:extLst>
          </p:cNvPr>
          <p:cNvSpPr txBox="1"/>
          <p:nvPr/>
        </p:nvSpPr>
        <p:spPr>
          <a:xfrm>
            <a:off x="450055" y="1363672"/>
            <a:ext cx="3834483" cy="584775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挑战：如何在无源节点无法主动同步</a:t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zh-CN" altLang="en-US" dirty="0">
                <a:solidFill>
                  <a:schemeClr val="bg1"/>
                </a:solidFill>
              </a:rPr>
              <a:t>的限制下实现并发传输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B9C73CD-8BC4-4CA7-8C26-EB6A36BBC867}"/>
              </a:ext>
            </a:extLst>
          </p:cNvPr>
          <p:cNvSpPr txBox="1"/>
          <p:nvPr/>
        </p:nvSpPr>
        <p:spPr>
          <a:xfrm>
            <a:off x="4693915" y="1363672"/>
            <a:ext cx="3857154" cy="584775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挑战：如何发现并利用光学无线网络</a:t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zh-CN" altLang="en-US" dirty="0">
                <a:solidFill>
                  <a:schemeClr val="bg1"/>
                </a:solidFill>
              </a:rPr>
              <a:t>的信道多样性实现并发传输</a:t>
            </a:r>
          </a:p>
        </p:txBody>
      </p:sp>
    </p:spTree>
    <p:extLst>
      <p:ext uri="{BB962C8B-B14F-4D97-AF65-F5344CB8AC3E}">
        <p14:creationId xmlns:p14="http://schemas.microsoft.com/office/powerpoint/2010/main" val="28725117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1E88B-92A3-465D-BC4C-7837EF20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本文工作</a:t>
            </a: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CDCD4FA-9E83-4ECF-9F12-92BB4E1ECC9F}"/>
              </a:ext>
            </a:extLst>
          </p:cNvPr>
          <p:cNvGrpSpPr/>
          <p:nvPr/>
        </p:nvGrpSpPr>
        <p:grpSpPr>
          <a:xfrm>
            <a:off x="702196" y="3373213"/>
            <a:ext cx="2212313" cy="1163167"/>
            <a:chOff x="653217" y="3581200"/>
            <a:chExt cx="2212313" cy="1163167"/>
          </a:xfrm>
        </p:grpSpPr>
        <p:sp>
          <p:nvSpPr>
            <p:cNvPr id="73" name="Shape 188">
              <a:extLst>
                <a:ext uri="{FF2B5EF4-FFF2-40B4-BE49-F238E27FC236}">
                  <a16:creationId xmlns:a16="http://schemas.microsoft.com/office/drawing/2014/main" id="{B7C77777-F9A6-4B3D-B571-85CC155BF536}"/>
                </a:ext>
              </a:extLst>
            </p:cNvPr>
            <p:cNvSpPr txBox="1"/>
            <p:nvPr/>
          </p:nvSpPr>
          <p:spPr>
            <a:xfrm>
              <a:off x="653217" y="3877037"/>
              <a:ext cx="858057" cy="60887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物联网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A10DC0A9-C9F0-40BA-A3CC-04A5B68321C9}"/>
                </a:ext>
              </a:extLst>
            </p:cNvPr>
            <p:cNvGrpSpPr/>
            <p:nvPr/>
          </p:nvGrpSpPr>
          <p:grpSpPr>
            <a:xfrm>
              <a:off x="1666064" y="3581200"/>
              <a:ext cx="1199466" cy="1163167"/>
              <a:chOff x="1666064" y="3581200"/>
              <a:chExt cx="1199466" cy="1163167"/>
            </a:xfrm>
          </p:grpSpPr>
          <p:pic>
            <p:nvPicPr>
              <p:cNvPr id="70" name="Shape 155">
                <a:extLst>
                  <a:ext uri="{FF2B5EF4-FFF2-40B4-BE49-F238E27FC236}">
                    <a16:creationId xmlns:a16="http://schemas.microsoft.com/office/drawing/2014/main" id="{5252672F-C2C4-4B3D-8DD7-075B6A16918E}"/>
                  </a:ext>
                </a:extLst>
              </p:cNvPr>
              <p:cNvPicPr preferRelativeResize="0"/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66064" y="4252669"/>
                <a:ext cx="491698" cy="4916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" name="Shape 183">
                <a:extLst>
                  <a:ext uri="{FF2B5EF4-FFF2-40B4-BE49-F238E27FC236}">
                    <a16:creationId xmlns:a16="http://schemas.microsoft.com/office/drawing/2014/main" id="{AEE794D1-32D2-45C7-BD06-C67A31132945}"/>
                  </a:ext>
                </a:extLst>
              </p:cNvPr>
              <p:cNvPicPr preferRelativeResize="0"/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3001" y="4274276"/>
                <a:ext cx="452529" cy="4700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" name="Shape 185">
                <a:extLst>
                  <a:ext uri="{FF2B5EF4-FFF2-40B4-BE49-F238E27FC236}">
                    <a16:creationId xmlns:a16="http://schemas.microsoft.com/office/drawing/2014/main" id="{6541684C-37BF-4216-AF2E-0B358436E906}"/>
                  </a:ext>
                </a:extLst>
              </p:cNvPr>
              <p:cNvPicPr preferRelativeResize="0"/>
              <p:nvPr/>
            </p:nvPicPr>
            <p:blipFill>
              <a:blip r:embed="rId4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96868" y="3581200"/>
                <a:ext cx="425116" cy="5106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" name="Picture 158">
                <a:extLst>
                  <a:ext uri="{FF2B5EF4-FFF2-40B4-BE49-F238E27FC236}">
                    <a16:creationId xmlns:a16="http://schemas.microsoft.com/office/drawing/2014/main" id="{DA9F376E-4B6D-4F2B-83FC-45DC057678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74419" y="3581200"/>
                <a:ext cx="684144" cy="448114"/>
              </a:xfrm>
              <a:prstGeom prst="rect">
                <a:avLst/>
              </a:prstGeom>
            </p:spPr>
          </p:pic>
        </p:grp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C213362-D4C9-4EBD-8AC2-7ADA6ADA4A8D}"/>
              </a:ext>
            </a:extLst>
          </p:cNvPr>
          <p:cNvGrpSpPr/>
          <p:nvPr/>
        </p:nvGrpSpPr>
        <p:grpSpPr>
          <a:xfrm>
            <a:off x="5742756" y="3373213"/>
            <a:ext cx="2268209" cy="1163167"/>
            <a:chOff x="6048777" y="3581200"/>
            <a:chExt cx="2268209" cy="1163167"/>
          </a:xfrm>
        </p:grpSpPr>
        <p:sp>
          <p:nvSpPr>
            <p:cNvPr id="60" name="Shape 190">
              <a:extLst>
                <a:ext uri="{FF2B5EF4-FFF2-40B4-BE49-F238E27FC236}">
                  <a16:creationId xmlns:a16="http://schemas.microsoft.com/office/drawing/2014/main" id="{30F22D1D-79EE-4ABA-A320-C3BD58561E6F}"/>
                </a:ext>
              </a:extLst>
            </p:cNvPr>
            <p:cNvSpPr txBox="1"/>
            <p:nvPr/>
          </p:nvSpPr>
          <p:spPr>
            <a:xfrm>
              <a:off x="6048777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移动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7EC2F674-3C72-49EA-993B-C4BBE8F53B70}"/>
                </a:ext>
              </a:extLst>
            </p:cNvPr>
            <p:cNvGrpSpPr/>
            <p:nvPr/>
          </p:nvGrpSpPr>
          <p:grpSpPr>
            <a:xfrm>
              <a:off x="6920466" y="3581200"/>
              <a:ext cx="1396520" cy="1163167"/>
              <a:chOff x="6920466" y="3581200"/>
              <a:chExt cx="1396520" cy="1163167"/>
            </a:xfrm>
          </p:grpSpPr>
          <p:pic>
            <p:nvPicPr>
              <p:cNvPr id="62" name="Picture 133">
                <a:extLst>
                  <a:ext uri="{FF2B5EF4-FFF2-40B4-BE49-F238E27FC236}">
                    <a16:creationId xmlns:a16="http://schemas.microsoft.com/office/drawing/2014/main" id="{4202EB84-4797-4F47-A239-3C270D23C3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0466" y="3581200"/>
                <a:ext cx="460416" cy="623791"/>
              </a:xfrm>
              <a:prstGeom prst="rect">
                <a:avLst/>
              </a:prstGeom>
            </p:spPr>
          </p:pic>
          <p:pic>
            <p:nvPicPr>
              <p:cNvPr id="63" name="Picture 135">
                <a:extLst>
                  <a:ext uri="{FF2B5EF4-FFF2-40B4-BE49-F238E27FC236}">
                    <a16:creationId xmlns:a16="http://schemas.microsoft.com/office/drawing/2014/main" id="{9ED241D1-5C3A-45E5-BB8E-2497A90C89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865775" y="4215483"/>
                <a:ext cx="432980" cy="528884"/>
              </a:xfrm>
              <a:prstGeom prst="rect">
                <a:avLst/>
              </a:prstGeom>
            </p:spPr>
          </p:pic>
          <p:pic>
            <p:nvPicPr>
              <p:cNvPr id="64" name="Picture 136">
                <a:extLst>
                  <a:ext uri="{FF2B5EF4-FFF2-40B4-BE49-F238E27FC236}">
                    <a16:creationId xmlns:a16="http://schemas.microsoft.com/office/drawing/2014/main" id="{583047E8-0512-430C-881E-B742D23B22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03096" y="3581200"/>
                <a:ext cx="813890" cy="360109"/>
              </a:xfrm>
              <a:prstGeom prst="rect">
                <a:avLst/>
              </a:prstGeom>
            </p:spPr>
          </p:pic>
          <p:pic>
            <p:nvPicPr>
              <p:cNvPr id="65" name="Picture 137">
                <a:extLst>
                  <a:ext uri="{FF2B5EF4-FFF2-40B4-BE49-F238E27FC236}">
                    <a16:creationId xmlns:a16="http://schemas.microsoft.com/office/drawing/2014/main" id="{8FC51046-5E59-4BB0-A79C-9A9C5A5799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5806" y="4237991"/>
                <a:ext cx="712101" cy="506376"/>
              </a:xfrm>
              <a:prstGeom prst="rect">
                <a:avLst/>
              </a:prstGeom>
            </p:spPr>
          </p:pic>
        </p:grp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DC6CFA3-6AD4-4C1E-B657-F1BA31189135}"/>
              </a:ext>
            </a:extLst>
          </p:cNvPr>
          <p:cNvGrpSpPr/>
          <p:nvPr/>
        </p:nvGrpSpPr>
        <p:grpSpPr>
          <a:xfrm>
            <a:off x="3124828" y="3373213"/>
            <a:ext cx="2407608" cy="1163167"/>
            <a:chOff x="3413302" y="3581200"/>
            <a:chExt cx="2407608" cy="1163167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FB28A1E6-44AF-4754-9681-A71266DAE77F}"/>
                </a:ext>
              </a:extLst>
            </p:cNvPr>
            <p:cNvGrpSpPr/>
            <p:nvPr/>
          </p:nvGrpSpPr>
          <p:grpSpPr>
            <a:xfrm>
              <a:off x="4356137" y="3581200"/>
              <a:ext cx="1464773" cy="1163167"/>
              <a:chOff x="4356137" y="3581200"/>
              <a:chExt cx="1464773" cy="1163167"/>
            </a:xfrm>
          </p:grpSpPr>
          <p:pic>
            <p:nvPicPr>
              <p:cNvPr id="67" name="Picture 166">
                <a:extLst>
                  <a:ext uri="{FF2B5EF4-FFF2-40B4-BE49-F238E27FC236}">
                    <a16:creationId xmlns:a16="http://schemas.microsoft.com/office/drawing/2014/main" id="{255890DD-BF3C-4453-848F-D818761B1F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56137" y="3581200"/>
                <a:ext cx="929705" cy="562326"/>
              </a:xfrm>
              <a:prstGeom prst="rect">
                <a:avLst/>
              </a:prstGeom>
            </p:spPr>
          </p:pic>
          <p:pic>
            <p:nvPicPr>
              <p:cNvPr id="2050" name="Picture 2" descr="Traffic signal on a white background Royalty Free Vector">
                <a:extLst>
                  <a:ext uri="{FF2B5EF4-FFF2-40B4-BE49-F238E27FC236}">
                    <a16:creationId xmlns:a16="http://schemas.microsoft.com/office/drawing/2014/main" id="{BAB6426F-F138-451F-A233-F8BA4413FF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384" t="11427" r="33835" b="9849"/>
              <a:stretch/>
            </p:blipFill>
            <p:spPr bwMode="auto">
              <a:xfrm>
                <a:off x="5399776" y="3581200"/>
                <a:ext cx="421134" cy="1163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2" name="Picture 4" descr="Premium Vector | Set of blank road signs on white background">
                <a:extLst>
                  <a:ext uri="{FF2B5EF4-FFF2-40B4-BE49-F238E27FC236}">
                    <a16:creationId xmlns:a16="http://schemas.microsoft.com/office/drawing/2014/main" id="{1500A6E2-FC09-41BA-8C3F-1DA3AD1252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56546" y="4209636"/>
                <a:ext cx="929837" cy="5347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0" name="Shape 190">
              <a:extLst>
                <a:ext uri="{FF2B5EF4-FFF2-40B4-BE49-F238E27FC236}">
                  <a16:creationId xmlns:a16="http://schemas.microsoft.com/office/drawing/2014/main" id="{DEE0364B-DF7D-4903-8255-53BEEEFE86F9}"/>
                </a:ext>
              </a:extLst>
            </p:cNvPr>
            <p:cNvSpPr txBox="1"/>
            <p:nvPr/>
          </p:nvSpPr>
          <p:spPr>
            <a:xfrm>
              <a:off x="3413302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道路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设施</a:t>
              </a:r>
              <a:endParaRPr lang="en-US" altLang="zh-CN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CF4471A1-CCF4-4832-B8A1-CF7EFE8A22F8}"/>
              </a:ext>
            </a:extLst>
          </p:cNvPr>
          <p:cNvSpPr txBox="1"/>
          <p:nvPr/>
        </p:nvSpPr>
        <p:spPr>
          <a:xfrm>
            <a:off x="450056" y="782672"/>
            <a:ext cx="8101013" cy="369332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</a:rPr>
              <a:t>研究目标：设计并实现无源光学无线网络并发传输系统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25E87C3-668F-4B1E-9DF9-206755B9BE5D}"/>
              </a:ext>
            </a:extLst>
          </p:cNvPr>
          <p:cNvSpPr txBox="1"/>
          <p:nvPr/>
        </p:nvSpPr>
        <p:spPr>
          <a:xfrm>
            <a:off x="450055" y="1363672"/>
            <a:ext cx="3834483" cy="584775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挑战：如何在无源节点无法主动同步</a:t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zh-CN" altLang="en-US" dirty="0">
                <a:solidFill>
                  <a:schemeClr val="bg1"/>
                </a:solidFill>
              </a:rPr>
              <a:t>的限制下实现并发传输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B9C73CD-8BC4-4CA7-8C26-EB6A36BBC867}"/>
              </a:ext>
            </a:extLst>
          </p:cNvPr>
          <p:cNvSpPr txBox="1"/>
          <p:nvPr/>
        </p:nvSpPr>
        <p:spPr>
          <a:xfrm>
            <a:off x="4693915" y="1363672"/>
            <a:ext cx="3857154" cy="584775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挑战：如何发现并利用光学无线网络</a:t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zh-CN" altLang="en-US" dirty="0">
                <a:solidFill>
                  <a:schemeClr val="bg1"/>
                </a:solidFill>
              </a:rPr>
              <a:t>的信道多样性实现并发传输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A7E1331-F1CE-4D44-B960-8E1D2DB8337D}"/>
              </a:ext>
            </a:extLst>
          </p:cNvPr>
          <p:cNvSpPr txBox="1"/>
          <p:nvPr/>
        </p:nvSpPr>
        <p:spPr>
          <a:xfrm>
            <a:off x="455043" y="2160116"/>
            <a:ext cx="2520000" cy="830997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solidFill>
                  <a:schemeClr val="bg1"/>
                </a:solidFill>
              </a:rPr>
              <a:t>RetroMUMIMO</a:t>
            </a:r>
            <a:r>
              <a:rPr lang="zh-CN" altLang="en-US" dirty="0">
                <a:solidFill>
                  <a:schemeClr val="bg1"/>
                </a:solidFill>
              </a:rPr>
              <a:t>：物联网场景下基于光电二极管接收机的并发传输系统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13E2024-8AE0-4067-A279-ED5DD4E2953B}"/>
              </a:ext>
            </a:extLst>
          </p:cNvPr>
          <p:cNvSpPr/>
          <p:nvPr/>
        </p:nvSpPr>
        <p:spPr>
          <a:xfrm>
            <a:off x="3316918" y="719956"/>
            <a:ext cx="5360108" cy="396044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F03921F-678B-47DA-9200-534DE5EE3C1B}"/>
              </a:ext>
            </a:extLst>
          </p:cNvPr>
          <p:cNvSpPr/>
          <p:nvPr/>
        </p:nvSpPr>
        <p:spPr>
          <a:xfrm>
            <a:off x="324099" y="752956"/>
            <a:ext cx="2992819" cy="1391766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E04EC8B5-4253-480B-89D4-099A5AB4C25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0562" y="753038"/>
            <a:ext cx="3878305" cy="125474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63AF0D0-7659-4B42-9A7B-056B60FE4C0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6409" y="776363"/>
            <a:ext cx="3396081" cy="1231422"/>
          </a:xfrm>
          <a:prstGeom prst="rect">
            <a:avLst/>
          </a:prstGeom>
        </p:spPr>
      </p:pic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366D9458-D052-421E-B8CC-10DCD382B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9951" y="2144722"/>
            <a:ext cx="5241118" cy="2357725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核心思想：不同位置的光标签有着不同的信道属性，其调制的码元有时域可分辨的特征</a:t>
            </a:r>
            <a:endParaRPr lang="en-US" altLang="zh-CN" sz="1600" dirty="0"/>
          </a:p>
          <a:p>
            <a:r>
              <a:rPr lang="zh-CN" altLang="en-US" sz="1600" dirty="0"/>
              <a:t>设计了基于</a:t>
            </a:r>
            <a:r>
              <a:rPr lang="en-US" altLang="zh-CN" sz="1600" dirty="0"/>
              <a:t>SVD</a:t>
            </a:r>
            <a:r>
              <a:rPr lang="zh-CN" altLang="en-US" sz="1600" dirty="0"/>
              <a:t>的脉冲波形特征提取方法、基于剪枝优化的最大似然估计探测器进行解调、基于抢占的</a:t>
            </a:r>
            <a:r>
              <a:rPr lang="en-US" altLang="zh-CN" sz="1600" dirty="0"/>
              <a:t>MAC</a:t>
            </a:r>
            <a:r>
              <a:rPr lang="zh-CN" altLang="en-US" sz="1600" dirty="0"/>
              <a:t>协议对标签进行同步和低延迟并发传输</a:t>
            </a:r>
            <a:endParaRPr lang="en-US" altLang="zh-CN" sz="1600" dirty="0"/>
          </a:p>
          <a:p>
            <a:r>
              <a:rPr lang="zh-CN" altLang="en-US" sz="1600" dirty="0"/>
              <a:t>主要结果：实现了</a:t>
            </a:r>
            <a:r>
              <a:rPr lang="en-US" altLang="zh-CN" sz="1600" dirty="0"/>
              <a:t>8-</a:t>
            </a:r>
            <a:r>
              <a:rPr lang="zh-CN" altLang="en-US" sz="1600" dirty="0"/>
              <a:t>标签（实测）和</a:t>
            </a:r>
            <a:r>
              <a:rPr lang="en-US" altLang="zh-CN" sz="1600" dirty="0"/>
              <a:t>16-</a:t>
            </a:r>
            <a:r>
              <a:rPr lang="zh-CN" altLang="en-US" sz="1600" dirty="0"/>
              <a:t>标签（仿真）并发传输，最高降低了</a:t>
            </a:r>
            <a:r>
              <a:rPr lang="en-US" altLang="zh-CN" sz="1600" dirty="0"/>
              <a:t>92%</a:t>
            </a:r>
            <a:r>
              <a:rPr lang="zh-CN" altLang="en-US" sz="1600" dirty="0"/>
              <a:t>网络信息传输延迟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69D589E-D569-43D4-B7EF-FFD6EAFAE366}"/>
              </a:ext>
            </a:extLst>
          </p:cNvPr>
          <p:cNvSpPr/>
          <p:nvPr/>
        </p:nvSpPr>
        <p:spPr>
          <a:xfrm>
            <a:off x="450056" y="4619421"/>
            <a:ext cx="810101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222222"/>
                </a:solidFill>
                <a:latin typeface="Arial" panose="020B0604020202020204" pitchFamily="34" charset="0"/>
              </a:rPr>
              <a:t>Xu, </a:t>
            </a:r>
            <a:r>
              <a:rPr lang="en-US" altLang="zh-CN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Kenuo</a:t>
            </a:r>
            <a:r>
              <a:rPr lang="en-US" altLang="zh-CN" sz="1200" dirty="0">
                <a:solidFill>
                  <a:srgbClr val="222222"/>
                </a:solidFill>
                <a:latin typeface="Arial" panose="020B0604020202020204" pitchFamily="34" charset="0"/>
              </a:rPr>
              <a:t>, et al. "Low-latency visible light backscatter networking with </a:t>
            </a:r>
            <a:r>
              <a:rPr lang="en-US" altLang="zh-CN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RetroMUMIMO</a:t>
            </a:r>
            <a:r>
              <a:rPr lang="en-US" altLang="zh-CN" sz="1200" dirty="0">
                <a:solidFill>
                  <a:srgbClr val="222222"/>
                </a:solidFill>
                <a:latin typeface="Arial" panose="020B0604020202020204" pitchFamily="34" charset="0"/>
              </a:rPr>
              <a:t>." </a:t>
            </a:r>
            <a:r>
              <a:rPr lang="en-US" altLang="zh-CN" sz="1200" i="1" dirty="0">
                <a:solidFill>
                  <a:srgbClr val="222222"/>
                </a:solidFill>
                <a:latin typeface="Arial" panose="020B0604020202020204" pitchFamily="34" charset="0"/>
              </a:rPr>
              <a:t>ACM </a:t>
            </a:r>
            <a:r>
              <a:rPr lang="en-US" altLang="zh-CN" sz="1200" i="1" dirty="0" err="1">
                <a:solidFill>
                  <a:srgbClr val="222222"/>
                </a:solidFill>
                <a:latin typeface="Arial" panose="020B0604020202020204" pitchFamily="34" charset="0"/>
              </a:rPr>
              <a:t>SenSys</a:t>
            </a:r>
            <a:r>
              <a:rPr lang="en-US" altLang="zh-CN" sz="1200" dirty="0">
                <a:solidFill>
                  <a:srgbClr val="222222"/>
                </a:solidFill>
                <a:latin typeface="Arial" panose="020B0604020202020204" pitchFamily="34" charset="0"/>
              </a:rPr>
              <a:t>. 2022.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3768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6" grpId="0" uiExpand="1" build="p"/>
      <p:bldP spid="3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1E88B-92A3-465D-BC4C-7837EF20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本文工作</a:t>
            </a: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CDCD4FA-9E83-4ECF-9F12-92BB4E1ECC9F}"/>
              </a:ext>
            </a:extLst>
          </p:cNvPr>
          <p:cNvGrpSpPr/>
          <p:nvPr/>
        </p:nvGrpSpPr>
        <p:grpSpPr>
          <a:xfrm>
            <a:off x="702196" y="3373213"/>
            <a:ext cx="2212313" cy="1163167"/>
            <a:chOff x="653217" y="3581200"/>
            <a:chExt cx="2212313" cy="1163167"/>
          </a:xfrm>
        </p:grpSpPr>
        <p:sp>
          <p:nvSpPr>
            <p:cNvPr id="73" name="Shape 188">
              <a:extLst>
                <a:ext uri="{FF2B5EF4-FFF2-40B4-BE49-F238E27FC236}">
                  <a16:creationId xmlns:a16="http://schemas.microsoft.com/office/drawing/2014/main" id="{B7C77777-F9A6-4B3D-B571-85CC155BF536}"/>
                </a:ext>
              </a:extLst>
            </p:cNvPr>
            <p:cNvSpPr txBox="1"/>
            <p:nvPr/>
          </p:nvSpPr>
          <p:spPr>
            <a:xfrm>
              <a:off x="653217" y="3877037"/>
              <a:ext cx="858057" cy="60887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物联网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A10DC0A9-C9F0-40BA-A3CC-04A5B68321C9}"/>
                </a:ext>
              </a:extLst>
            </p:cNvPr>
            <p:cNvGrpSpPr/>
            <p:nvPr/>
          </p:nvGrpSpPr>
          <p:grpSpPr>
            <a:xfrm>
              <a:off x="1666064" y="3581200"/>
              <a:ext cx="1199466" cy="1163167"/>
              <a:chOff x="1666064" y="3581200"/>
              <a:chExt cx="1199466" cy="1163167"/>
            </a:xfrm>
          </p:grpSpPr>
          <p:pic>
            <p:nvPicPr>
              <p:cNvPr id="70" name="Shape 155">
                <a:extLst>
                  <a:ext uri="{FF2B5EF4-FFF2-40B4-BE49-F238E27FC236}">
                    <a16:creationId xmlns:a16="http://schemas.microsoft.com/office/drawing/2014/main" id="{5252672F-C2C4-4B3D-8DD7-075B6A16918E}"/>
                  </a:ext>
                </a:extLst>
              </p:cNvPr>
              <p:cNvPicPr preferRelativeResize="0"/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66064" y="4252669"/>
                <a:ext cx="491698" cy="4916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" name="Shape 183">
                <a:extLst>
                  <a:ext uri="{FF2B5EF4-FFF2-40B4-BE49-F238E27FC236}">
                    <a16:creationId xmlns:a16="http://schemas.microsoft.com/office/drawing/2014/main" id="{AEE794D1-32D2-45C7-BD06-C67A31132945}"/>
                  </a:ext>
                </a:extLst>
              </p:cNvPr>
              <p:cNvPicPr preferRelativeResize="0"/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3001" y="4274276"/>
                <a:ext cx="452529" cy="4700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" name="Shape 185">
                <a:extLst>
                  <a:ext uri="{FF2B5EF4-FFF2-40B4-BE49-F238E27FC236}">
                    <a16:creationId xmlns:a16="http://schemas.microsoft.com/office/drawing/2014/main" id="{6541684C-37BF-4216-AF2E-0B358436E906}"/>
                  </a:ext>
                </a:extLst>
              </p:cNvPr>
              <p:cNvPicPr preferRelativeResize="0"/>
              <p:nvPr/>
            </p:nvPicPr>
            <p:blipFill>
              <a:blip r:embed="rId4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96868" y="3581200"/>
                <a:ext cx="425116" cy="5106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" name="Picture 158">
                <a:extLst>
                  <a:ext uri="{FF2B5EF4-FFF2-40B4-BE49-F238E27FC236}">
                    <a16:creationId xmlns:a16="http://schemas.microsoft.com/office/drawing/2014/main" id="{DA9F376E-4B6D-4F2B-83FC-45DC057678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74419" y="3581200"/>
                <a:ext cx="684144" cy="448114"/>
              </a:xfrm>
              <a:prstGeom prst="rect">
                <a:avLst/>
              </a:prstGeom>
            </p:spPr>
          </p:pic>
        </p:grp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C213362-D4C9-4EBD-8AC2-7ADA6ADA4A8D}"/>
              </a:ext>
            </a:extLst>
          </p:cNvPr>
          <p:cNvGrpSpPr/>
          <p:nvPr/>
        </p:nvGrpSpPr>
        <p:grpSpPr>
          <a:xfrm>
            <a:off x="5742756" y="3373213"/>
            <a:ext cx="2268209" cy="1163167"/>
            <a:chOff x="6048777" y="3581200"/>
            <a:chExt cx="2268209" cy="1163167"/>
          </a:xfrm>
        </p:grpSpPr>
        <p:sp>
          <p:nvSpPr>
            <p:cNvPr id="60" name="Shape 190">
              <a:extLst>
                <a:ext uri="{FF2B5EF4-FFF2-40B4-BE49-F238E27FC236}">
                  <a16:creationId xmlns:a16="http://schemas.microsoft.com/office/drawing/2014/main" id="{30F22D1D-79EE-4ABA-A320-C3BD58561E6F}"/>
                </a:ext>
              </a:extLst>
            </p:cNvPr>
            <p:cNvSpPr txBox="1"/>
            <p:nvPr/>
          </p:nvSpPr>
          <p:spPr>
            <a:xfrm>
              <a:off x="6048777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移动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7EC2F674-3C72-49EA-993B-C4BBE8F53B70}"/>
                </a:ext>
              </a:extLst>
            </p:cNvPr>
            <p:cNvGrpSpPr/>
            <p:nvPr/>
          </p:nvGrpSpPr>
          <p:grpSpPr>
            <a:xfrm>
              <a:off x="6920466" y="3581200"/>
              <a:ext cx="1396520" cy="1163167"/>
              <a:chOff x="6920466" y="3581200"/>
              <a:chExt cx="1396520" cy="1163167"/>
            </a:xfrm>
          </p:grpSpPr>
          <p:pic>
            <p:nvPicPr>
              <p:cNvPr id="62" name="Picture 133">
                <a:extLst>
                  <a:ext uri="{FF2B5EF4-FFF2-40B4-BE49-F238E27FC236}">
                    <a16:creationId xmlns:a16="http://schemas.microsoft.com/office/drawing/2014/main" id="{4202EB84-4797-4F47-A239-3C270D23C3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0466" y="3581200"/>
                <a:ext cx="460416" cy="623791"/>
              </a:xfrm>
              <a:prstGeom prst="rect">
                <a:avLst/>
              </a:prstGeom>
            </p:spPr>
          </p:pic>
          <p:pic>
            <p:nvPicPr>
              <p:cNvPr id="63" name="Picture 135">
                <a:extLst>
                  <a:ext uri="{FF2B5EF4-FFF2-40B4-BE49-F238E27FC236}">
                    <a16:creationId xmlns:a16="http://schemas.microsoft.com/office/drawing/2014/main" id="{9ED241D1-5C3A-45E5-BB8E-2497A90C89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865775" y="4215483"/>
                <a:ext cx="432980" cy="528884"/>
              </a:xfrm>
              <a:prstGeom prst="rect">
                <a:avLst/>
              </a:prstGeom>
            </p:spPr>
          </p:pic>
          <p:pic>
            <p:nvPicPr>
              <p:cNvPr id="64" name="Picture 136">
                <a:extLst>
                  <a:ext uri="{FF2B5EF4-FFF2-40B4-BE49-F238E27FC236}">
                    <a16:creationId xmlns:a16="http://schemas.microsoft.com/office/drawing/2014/main" id="{583047E8-0512-430C-881E-B742D23B22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03096" y="3581200"/>
                <a:ext cx="813890" cy="360109"/>
              </a:xfrm>
              <a:prstGeom prst="rect">
                <a:avLst/>
              </a:prstGeom>
            </p:spPr>
          </p:pic>
          <p:pic>
            <p:nvPicPr>
              <p:cNvPr id="65" name="Picture 137">
                <a:extLst>
                  <a:ext uri="{FF2B5EF4-FFF2-40B4-BE49-F238E27FC236}">
                    <a16:creationId xmlns:a16="http://schemas.microsoft.com/office/drawing/2014/main" id="{8FC51046-5E59-4BB0-A79C-9A9C5A5799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5806" y="4237991"/>
                <a:ext cx="712101" cy="506376"/>
              </a:xfrm>
              <a:prstGeom prst="rect">
                <a:avLst/>
              </a:prstGeom>
            </p:spPr>
          </p:pic>
        </p:grp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DC6CFA3-6AD4-4C1E-B657-F1BA31189135}"/>
              </a:ext>
            </a:extLst>
          </p:cNvPr>
          <p:cNvGrpSpPr/>
          <p:nvPr/>
        </p:nvGrpSpPr>
        <p:grpSpPr>
          <a:xfrm>
            <a:off x="3124828" y="3373213"/>
            <a:ext cx="2407608" cy="1163167"/>
            <a:chOff x="3413302" y="3581200"/>
            <a:chExt cx="2407608" cy="1163167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FB28A1E6-44AF-4754-9681-A71266DAE77F}"/>
                </a:ext>
              </a:extLst>
            </p:cNvPr>
            <p:cNvGrpSpPr/>
            <p:nvPr/>
          </p:nvGrpSpPr>
          <p:grpSpPr>
            <a:xfrm>
              <a:off x="4356137" y="3581200"/>
              <a:ext cx="1464773" cy="1163167"/>
              <a:chOff x="4356137" y="3581200"/>
              <a:chExt cx="1464773" cy="1163167"/>
            </a:xfrm>
          </p:grpSpPr>
          <p:pic>
            <p:nvPicPr>
              <p:cNvPr id="67" name="Picture 166">
                <a:extLst>
                  <a:ext uri="{FF2B5EF4-FFF2-40B4-BE49-F238E27FC236}">
                    <a16:creationId xmlns:a16="http://schemas.microsoft.com/office/drawing/2014/main" id="{255890DD-BF3C-4453-848F-D818761B1F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56137" y="3581200"/>
                <a:ext cx="929705" cy="562326"/>
              </a:xfrm>
              <a:prstGeom prst="rect">
                <a:avLst/>
              </a:prstGeom>
            </p:spPr>
          </p:pic>
          <p:pic>
            <p:nvPicPr>
              <p:cNvPr id="2050" name="Picture 2" descr="Traffic signal on a white background Royalty Free Vector">
                <a:extLst>
                  <a:ext uri="{FF2B5EF4-FFF2-40B4-BE49-F238E27FC236}">
                    <a16:creationId xmlns:a16="http://schemas.microsoft.com/office/drawing/2014/main" id="{BAB6426F-F138-451F-A233-F8BA4413FF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384" t="11427" r="33835" b="9849"/>
              <a:stretch/>
            </p:blipFill>
            <p:spPr bwMode="auto">
              <a:xfrm>
                <a:off x="5399776" y="3581200"/>
                <a:ext cx="421134" cy="1163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2" name="Picture 4" descr="Premium Vector | Set of blank road signs on white background">
                <a:extLst>
                  <a:ext uri="{FF2B5EF4-FFF2-40B4-BE49-F238E27FC236}">
                    <a16:creationId xmlns:a16="http://schemas.microsoft.com/office/drawing/2014/main" id="{1500A6E2-FC09-41BA-8C3F-1DA3AD1252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56546" y="4209636"/>
                <a:ext cx="929837" cy="5347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0" name="Shape 190">
              <a:extLst>
                <a:ext uri="{FF2B5EF4-FFF2-40B4-BE49-F238E27FC236}">
                  <a16:creationId xmlns:a16="http://schemas.microsoft.com/office/drawing/2014/main" id="{DEE0364B-DF7D-4903-8255-53BEEEFE86F9}"/>
                </a:ext>
              </a:extLst>
            </p:cNvPr>
            <p:cNvSpPr txBox="1"/>
            <p:nvPr/>
          </p:nvSpPr>
          <p:spPr>
            <a:xfrm>
              <a:off x="3413302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道路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设施</a:t>
              </a:r>
              <a:endParaRPr lang="en-US" altLang="zh-CN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CF4471A1-CCF4-4832-B8A1-CF7EFE8A22F8}"/>
              </a:ext>
            </a:extLst>
          </p:cNvPr>
          <p:cNvSpPr txBox="1"/>
          <p:nvPr/>
        </p:nvSpPr>
        <p:spPr>
          <a:xfrm>
            <a:off x="450056" y="782672"/>
            <a:ext cx="8101013" cy="369332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</a:rPr>
              <a:t>研究目标：设计并实现无源光学无线网络并发传输系统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25E87C3-668F-4B1E-9DF9-206755B9BE5D}"/>
              </a:ext>
            </a:extLst>
          </p:cNvPr>
          <p:cNvSpPr txBox="1"/>
          <p:nvPr/>
        </p:nvSpPr>
        <p:spPr>
          <a:xfrm>
            <a:off x="450055" y="1363672"/>
            <a:ext cx="3834483" cy="584775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挑战：如何在无源节点无法主动同步</a:t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zh-CN" altLang="en-US" dirty="0">
                <a:solidFill>
                  <a:schemeClr val="bg1"/>
                </a:solidFill>
              </a:rPr>
              <a:t>的限制下实现并发传输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B9C73CD-8BC4-4CA7-8C26-EB6A36BBC867}"/>
              </a:ext>
            </a:extLst>
          </p:cNvPr>
          <p:cNvSpPr txBox="1"/>
          <p:nvPr/>
        </p:nvSpPr>
        <p:spPr>
          <a:xfrm>
            <a:off x="4693915" y="1363672"/>
            <a:ext cx="3857154" cy="584775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挑战：如何发现并利用光学无线网络</a:t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zh-CN" altLang="en-US" dirty="0">
                <a:solidFill>
                  <a:schemeClr val="bg1"/>
                </a:solidFill>
              </a:rPr>
              <a:t>的信道多样性实现并发传输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A7E1331-F1CE-4D44-B960-8E1D2DB8337D}"/>
              </a:ext>
            </a:extLst>
          </p:cNvPr>
          <p:cNvSpPr txBox="1"/>
          <p:nvPr/>
        </p:nvSpPr>
        <p:spPr>
          <a:xfrm>
            <a:off x="455043" y="2160116"/>
            <a:ext cx="2520000" cy="830997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solidFill>
                  <a:schemeClr val="bg1"/>
                </a:solidFill>
              </a:rPr>
              <a:t>RetroMUMIMO</a:t>
            </a:r>
            <a:r>
              <a:rPr lang="zh-CN" altLang="en-US" dirty="0">
                <a:solidFill>
                  <a:schemeClr val="bg1"/>
                </a:solidFill>
              </a:rPr>
              <a:t>：物联网场景下基于光电二极管接收机的并发传输系统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6A6AA88-A251-4676-8646-5B6AE5EB6053}"/>
              </a:ext>
            </a:extLst>
          </p:cNvPr>
          <p:cNvSpPr txBox="1"/>
          <p:nvPr/>
        </p:nvSpPr>
        <p:spPr>
          <a:xfrm>
            <a:off x="3240563" y="2160116"/>
            <a:ext cx="2520000" cy="830997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NC-VLC</a:t>
            </a:r>
            <a:r>
              <a:rPr lang="zh-CN" altLang="en-US" dirty="0">
                <a:solidFill>
                  <a:schemeClr val="bg1"/>
                </a:solidFill>
              </a:rPr>
              <a:t>：车路协同场景下基于仿生脉冲相机的并发传输系统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4B1140-75F8-4DA7-868B-8BBD6A2B6AF2}"/>
              </a:ext>
            </a:extLst>
          </p:cNvPr>
          <p:cNvSpPr/>
          <p:nvPr/>
        </p:nvSpPr>
        <p:spPr>
          <a:xfrm>
            <a:off x="324098" y="719956"/>
            <a:ext cx="2826624" cy="396044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264BDF3-138C-4435-845A-06DD72F9FA54}"/>
              </a:ext>
            </a:extLst>
          </p:cNvPr>
          <p:cNvSpPr/>
          <p:nvPr/>
        </p:nvSpPr>
        <p:spPr>
          <a:xfrm>
            <a:off x="5747868" y="779125"/>
            <a:ext cx="2826624" cy="396044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00C9775-DDAA-45A0-963D-8BA2806A7477}"/>
              </a:ext>
            </a:extLst>
          </p:cNvPr>
          <p:cNvSpPr/>
          <p:nvPr/>
        </p:nvSpPr>
        <p:spPr>
          <a:xfrm>
            <a:off x="3150722" y="779125"/>
            <a:ext cx="2609841" cy="1236975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60FC477F-D0A0-49E4-8B55-397B8B6BA19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632" y="850660"/>
            <a:ext cx="2695639" cy="589376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E83D01F9-5166-4690-AC20-2162B53F7BC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632" y="1647454"/>
            <a:ext cx="2695639" cy="1160734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C2515044-B999-413A-84D4-061D80B8C97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6632" y="3041667"/>
            <a:ext cx="2695639" cy="1320489"/>
          </a:xfrm>
          <a:prstGeom prst="rect">
            <a:avLst/>
          </a:prstGeom>
        </p:spPr>
      </p:pic>
      <p:sp>
        <p:nvSpPr>
          <p:cNvPr id="35" name="内容占位符 2">
            <a:extLst>
              <a:ext uri="{FF2B5EF4-FFF2-40B4-BE49-F238E27FC236}">
                <a16:creationId xmlns:a16="http://schemas.microsoft.com/office/drawing/2014/main" id="{B3CAF880-147E-476C-A97A-BC2AA9060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279" y="737884"/>
            <a:ext cx="5397789" cy="1356122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核心思想：车路协同场景需要接收器具有高空间分辨率（以排除环境光干扰）和时间采样率（以保持追踪）</a:t>
            </a:r>
            <a:endParaRPr lang="en-US" altLang="zh-CN" sz="1600" dirty="0"/>
          </a:p>
          <a:p>
            <a:r>
              <a:rPr lang="zh-CN" altLang="en-US" sz="1600" dirty="0"/>
              <a:t>基于仿生脉冲相机这一光学接收器，设计了完整的脉冲光通信信号处理流水线，包括灰度图像重建与量化、并发信号解调、关键点追踪等算法</a:t>
            </a:r>
            <a:endParaRPr lang="en-US" altLang="zh-CN" sz="1600" dirty="0"/>
          </a:p>
        </p:txBody>
      </p:sp>
      <p:sp>
        <p:nvSpPr>
          <p:cNvPr id="37" name="内容占位符 2">
            <a:extLst>
              <a:ext uri="{FF2B5EF4-FFF2-40B4-BE49-F238E27FC236}">
                <a16:creationId xmlns:a16="http://schemas.microsoft.com/office/drawing/2014/main" id="{F21D48D7-28FB-4831-B320-9C70C7B7A3B4}"/>
              </a:ext>
            </a:extLst>
          </p:cNvPr>
          <p:cNvSpPr txBox="1">
            <a:spLocks/>
          </p:cNvSpPr>
          <p:nvPr/>
        </p:nvSpPr>
        <p:spPr>
          <a:xfrm>
            <a:off x="5850404" y="2160114"/>
            <a:ext cx="2695678" cy="2520281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860" indent="-300860" algn="l" defTabSz="802295" rtl="0" eaLnBrk="1" latinLnBrk="0" hangingPunct="1">
              <a:spcBef>
                <a:spcPct val="20000"/>
              </a:spcBef>
              <a:buClr>
                <a:srgbClr val="8B0012"/>
              </a:buClr>
              <a:buFont typeface="Arial" pitchFamily="34" charset="0"/>
              <a:buChar char="•"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651864" indent="-250717" algn="l" defTabSz="802295" rtl="0" eaLnBrk="1" latinLnBrk="0" hangingPunct="1">
              <a:spcBef>
                <a:spcPct val="20000"/>
              </a:spcBef>
              <a:buClr>
                <a:srgbClr val="8C0000"/>
              </a:buClr>
              <a:buFont typeface="Arial" pitchFamily="34" charset="0"/>
              <a:buChar char="–"/>
              <a:defRPr sz="2000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2pPr>
            <a:lvl3pPr marL="1002868" indent="-200574" algn="l" defTabSz="802295" rtl="0" eaLnBrk="1" latinLnBrk="0" hangingPunct="1">
              <a:spcBef>
                <a:spcPct val="20000"/>
              </a:spcBef>
              <a:buClr>
                <a:srgbClr val="8C0000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3pPr>
            <a:lvl4pPr marL="1404015" indent="-200574" algn="l" defTabSz="802295" rtl="0" eaLnBrk="1" latinLnBrk="0" hangingPunct="1">
              <a:spcBef>
                <a:spcPct val="20000"/>
              </a:spcBef>
              <a:buClr>
                <a:srgbClr val="8C0000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4pPr>
            <a:lvl5pPr marL="1805163" indent="-200574" algn="l" defTabSz="802295" rtl="0" eaLnBrk="1" latinLnBrk="0" hangingPunct="1">
              <a:spcBef>
                <a:spcPct val="20000"/>
              </a:spcBef>
              <a:buClr>
                <a:srgbClr val="8C0000"/>
              </a:buClr>
              <a:buFont typeface="Arial" pitchFamily="34" charset="0"/>
              <a:buChar char="»"/>
              <a:defRPr sz="1600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5pPr>
            <a:lvl6pPr marL="2206310" indent="-200574" algn="l" defTabSz="80229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457" indent="-200574" algn="l" defTabSz="80229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05" indent="-200574" algn="l" defTabSz="80229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752" indent="-200574" algn="l" defTabSz="80229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/>
              <a:t>主要结果：实现了单链路速率</a:t>
            </a:r>
            <a:r>
              <a:rPr lang="en-US" altLang="zh-CN" sz="1600" dirty="0"/>
              <a:t>600 bps</a:t>
            </a:r>
            <a:r>
              <a:rPr lang="zh-CN" altLang="en-US" sz="1600" dirty="0"/>
              <a:t>、</a:t>
            </a:r>
            <a:r>
              <a:rPr lang="en-US" altLang="zh-CN" sz="1600" dirty="0"/>
              <a:t>8</a:t>
            </a:r>
            <a:r>
              <a:rPr lang="zh-CN" altLang="en-US" sz="1600" dirty="0"/>
              <a:t>链路并发传输的无源光学无线网络上行链路</a:t>
            </a:r>
            <a:endParaRPr lang="en-US" altLang="zh-CN" sz="16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8A5ADE5-06E8-4443-96D0-87AE36DE35F2}"/>
              </a:ext>
            </a:extLst>
          </p:cNvPr>
          <p:cNvSpPr/>
          <p:nvPr/>
        </p:nvSpPr>
        <p:spPr>
          <a:xfrm>
            <a:off x="450056" y="4680396"/>
            <a:ext cx="810101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/>
              <a:t>Xu, </a:t>
            </a:r>
            <a:r>
              <a:rPr lang="en-US" altLang="zh-CN" sz="1050" dirty="0" err="1"/>
              <a:t>Kenuo</a:t>
            </a:r>
            <a:r>
              <a:rPr lang="en-US" altLang="zh-CN" sz="1050" dirty="0"/>
              <a:t>, et al. "When Visible Light (Backscatter) Communication Meets Neuromorphic Cameras in V2X." </a:t>
            </a:r>
            <a:r>
              <a:rPr lang="en-US" altLang="zh-CN" sz="1050" i="1" dirty="0"/>
              <a:t>ACM </a:t>
            </a:r>
            <a:r>
              <a:rPr lang="en-US" altLang="zh-CN" sz="1050" i="1" dirty="0" err="1"/>
              <a:t>HotMobile</a:t>
            </a:r>
            <a:r>
              <a:rPr lang="en-US" altLang="zh-CN" sz="1050" dirty="0"/>
              <a:t>. 2023.</a:t>
            </a:r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152752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5" grpId="0" uiExpand="1" build="p"/>
      <p:bldP spid="37" grpId="0" uiExpand="1" build="p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1E88B-92A3-465D-BC4C-7837EF20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本文工作</a:t>
            </a: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CDCD4FA-9E83-4ECF-9F12-92BB4E1ECC9F}"/>
              </a:ext>
            </a:extLst>
          </p:cNvPr>
          <p:cNvGrpSpPr/>
          <p:nvPr/>
        </p:nvGrpSpPr>
        <p:grpSpPr>
          <a:xfrm>
            <a:off x="702196" y="3373213"/>
            <a:ext cx="2212313" cy="1163167"/>
            <a:chOff x="653217" y="3581200"/>
            <a:chExt cx="2212313" cy="1163167"/>
          </a:xfrm>
        </p:grpSpPr>
        <p:sp>
          <p:nvSpPr>
            <p:cNvPr id="73" name="Shape 188">
              <a:extLst>
                <a:ext uri="{FF2B5EF4-FFF2-40B4-BE49-F238E27FC236}">
                  <a16:creationId xmlns:a16="http://schemas.microsoft.com/office/drawing/2014/main" id="{B7C77777-F9A6-4B3D-B571-85CC155BF536}"/>
                </a:ext>
              </a:extLst>
            </p:cNvPr>
            <p:cNvSpPr txBox="1"/>
            <p:nvPr/>
          </p:nvSpPr>
          <p:spPr>
            <a:xfrm>
              <a:off x="653217" y="3877037"/>
              <a:ext cx="858057" cy="60887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物联网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A10DC0A9-C9F0-40BA-A3CC-04A5B68321C9}"/>
                </a:ext>
              </a:extLst>
            </p:cNvPr>
            <p:cNvGrpSpPr/>
            <p:nvPr/>
          </p:nvGrpSpPr>
          <p:grpSpPr>
            <a:xfrm>
              <a:off x="1666064" y="3581200"/>
              <a:ext cx="1199466" cy="1163167"/>
              <a:chOff x="1666064" y="3581200"/>
              <a:chExt cx="1199466" cy="1163167"/>
            </a:xfrm>
          </p:grpSpPr>
          <p:pic>
            <p:nvPicPr>
              <p:cNvPr id="70" name="Shape 155">
                <a:extLst>
                  <a:ext uri="{FF2B5EF4-FFF2-40B4-BE49-F238E27FC236}">
                    <a16:creationId xmlns:a16="http://schemas.microsoft.com/office/drawing/2014/main" id="{5252672F-C2C4-4B3D-8DD7-075B6A16918E}"/>
                  </a:ext>
                </a:extLst>
              </p:cNvPr>
              <p:cNvPicPr preferRelativeResize="0"/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66064" y="4252669"/>
                <a:ext cx="491698" cy="4916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" name="Shape 183">
                <a:extLst>
                  <a:ext uri="{FF2B5EF4-FFF2-40B4-BE49-F238E27FC236}">
                    <a16:creationId xmlns:a16="http://schemas.microsoft.com/office/drawing/2014/main" id="{AEE794D1-32D2-45C7-BD06-C67A31132945}"/>
                  </a:ext>
                </a:extLst>
              </p:cNvPr>
              <p:cNvPicPr preferRelativeResize="0"/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3001" y="4274276"/>
                <a:ext cx="452529" cy="4700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" name="Shape 185">
                <a:extLst>
                  <a:ext uri="{FF2B5EF4-FFF2-40B4-BE49-F238E27FC236}">
                    <a16:creationId xmlns:a16="http://schemas.microsoft.com/office/drawing/2014/main" id="{6541684C-37BF-4216-AF2E-0B358436E906}"/>
                  </a:ext>
                </a:extLst>
              </p:cNvPr>
              <p:cNvPicPr preferRelativeResize="0"/>
              <p:nvPr/>
            </p:nvPicPr>
            <p:blipFill>
              <a:blip r:embed="rId4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96868" y="3581200"/>
                <a:ext cx="425116" cy="5106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" name="Picture 158">
                <a:extLst>
                  <a:ext uri="{FF2B5EF4-FFF2-40B4-BE49-F238E27FC236}">
                    <a16:creationId xmlns:a16="http://schemas.microsoft.com/office/drawing/2014/main" id="{DA9F376E-4B6D-4F2B-83FC-45DC057678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74419" y="3581200"/>
                <a:ext cx="684144" cy="448114"/>
              </a:xfrm>
              <a:prstGeom prst="rect">
                <a:avLst/>
              </a:prstGeom>
            </p:spPr>
          </p:pic>
        </p:grp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C213362-D4C9-4EBD-8AC2-7ADA6ADA4A8D}"/>
              </a:ext>
            </a:extLst>
          </p:cNvPr>
          <p:cNvGrpSpPr/>
          <p:nvPr/>
        </p:nvGrpSpPr>
        <p:grpSpPr>
          <a:xfrm>
            <a:off x="5742756" y="3373213"/>
            <a:ext cx="2268209" cy="1163167"/>
            <a:chOff x="6048777" y="3581200"/>
            <a:chExt cx="2268209" cy="1163167"/>
          </a:xfrm>
        </p:grpSpPr>
        <p:sp>
          <p:nvSpPr>
            <p:cNvPr id="60" name="Shape 190">
              <a:extLst>
                <a:ext uri="{FF2B5EF4-FFF2-40B4-BE49-F238E27FC236}">
                  <a16:creationId xmlns:a16="http://schemas.microsoft.com/office/drawing/2014/main" id="{30F22D1D-79EE-4ABA-A320-C3BD58561E6F}"/>
                </a:ext>
              </a:extLst>
            </p:cNvPr>
            <p:cNvSpPr txBox="1"/>
            <p:nvPr/>
          </p:nvSpPr>
          <p:spPr>
            <a:xfrm>
              <a:off x="6048777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移动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设备</a:t>
              </a:r>
              <a:endParaRPr lang="en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7EC2F674-3C72-49EA-993B-C4BBE8F53B70}"/>
                </a:ext>
              </a:extLst>
            </p:cNvPr>
            <p:cNvGrpSpPr/>
            <p:nvPr/>
          </p:nvGrpSpPr>
          <p:grpSpPr>
            <a:xfrm>
              <a:off x="6920466" y="3581200"/>
              <a:ext cx="1396520" cy="1163167"/>
              <a:chOff x="6920466" y="3581200"/>
              <a:chExt cx="1396520" cy="1163167"/>
            </a:xfrm>
          </p:grpSpPr>
          <p:pic>
            <p:nvPicPr>
              <p:cNvPr id="62" name="Picture 133">
                <a:extLst>
                  <a:ext uri="{FF2B5EF4-FFF2-40B4-BE49-F238E27FC236}">
                    <a16:creationId xmlns:a16="http://schemas.microsoft.com/office/drawing/2014/main" id="{4202EB84-4797-4F47-A239-3C270D23C3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0466" y="3581200"/>
                <a:ext cx="460416" cy="623791"/>
              </a:xfrm>
              <a:prstGeom prst="rect">
                <a:avLst/>
              </a:prstGeom>
            </p:spPr>
          </p:pic>
          <p:pic>
            <p:nvPicPr>
              <p:cNvPr id="63" name="Picture 135">
                <a:extLst>
                  <a:ext uri="{FF2B5EF4-FFF2-40B4-BE49-F238E27FC236}">
                    <a16:creationId xmlns:a16="http://schemas.microsoft.com/office/drawing/2014/main" id="{9ED241D1-5C3A-45E5-BB8E-2497A90C89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865775" y="4215483"/>
                <a:ext cx="432980" cy="528884"/>
              </a:xfrm>
              <a:prstGeom prst="rect">
                <a:avLst/>
              </a:prstGeom>
            </p:spPr>
          </p:pic>
          <p:pic>
            <p:nvPicPr>
              <p:cNvPr id="64" name="Picture 136">
                <a:extLst>
                  <a:ext uri="{FF2B5EF4-FFF2-40B4-BE49-F238E27FC236}">
                    <a16:creationId xmlns:a16="http://schemas.microsoft.com/office/drawing/2014/main" id="{583047E8-0512-430C-881E-B742D23B22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03096" y="3581200"/>
                <a:ext cx="813890" cy="360109"/>
              </a:xfrm>
              <a:prstGeom prst="rect">
                <a:avLst/>
              </a:prstGeom>
            </p:spPr>
          </p:pic>
          <p:pic>
            <p:nvPicPr>
              <p:cNvPr id="65" name="Picture 137">
                <a:extLst>
                  <a:ext uri="{FF2B5EF4-FFF2-40B4-BE49-F238E27FC236}">
                    <a16:creationId xmlns:a16="http://schemas.microsoft.com/office/drawing/2014/main" id="{8FC51046-5E59-4BB0-A79C-9A9C5A5799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25806" y="4237991"/>
                <a:ext cx="712101" cy="506376"/>
              </a:xfrm>
              <a:prstGeom prst="rect">
                <a:avLst/>
              </a:prstGeom>
            </p:spPr>
          </p:pic>
        </p:grp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DC6CFA3-6AD4-4C1E-B657-F1BA31189135}"/>
              </a:ext>
            </a:extLst>
          </p:cNvPr>
          <p:cNvGrpSpPr/>
          <p:nvPr/>
        </p:nvGrpSpPr>
        <p:grpSpPr>
          <a:xfrm>
            <a:off x="3124828" y="3373213"/>
            <a:ext cx="2407608" cy="1163167"/>
            <a:chOff x="3413302" y="3581200"/>
            <a:chExt cx="2407608" cy="1163167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FB28A1E6-44AF-4754-9681-A71266DAE77F}"/>
                </a:ext>
              </a:extLst>
            </p:cNvPr>
            <p:cNvGrpSpPr/>
            <p:nvPr/>
          </p:nvGrpSpPr>
          <p:grpSpPr>
            <a:xfrm>
              <a:off x="4356137" y="3581200"/>
              <a:ext cx="1464773" cy="1163167"/>
              <a:chOff x="4356137" y="3581200"/>
              <a:chExt cx="1464773" cy="1163167"/>
            </a:xfrm>
          </p:grpSpPr>
          <p:pic>
            <p:nvPicPr>
              <p:cNvPr id="67" name="Picture 166">
                <a:extLst>
                  <a:ext uri="{FF2B5EF4-FFF2-40B4-BE49-F238E27FC236}">
                    <a16:creationId xmlns:a16="http://schemas.microsoft.com/office/drawing/2014/main" id="{255890DD-BF3C-4453-848F-D818761B1F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56137" y="3581200"/>
                <a:ext cx="929705" cy="562326"/>
              </a:xfrm>
              <a:prstGeom prst="rect">
                <a:avLst/>
              </a:prstGeom>
            </p:spPr>
          </p:pic>
          <p:pic>
            <p:nvPicPr>
              <p:cNvPr id="2050" name="Picture 2" descr="Traffic signal on a white background Royalty Free Vector">
                <a:extLst>
                  <a:ext uri="{FF2B5EF4-FFF2-40B4-BE49-F238E27FC236}">
                    <a16:creationId xmlns:a16="http://schemas.microsoft.com/office/drawing/2014/main" id="{BAB6426F-F138-451F-A233-F8BA4413FF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384" t="11427" r="33835" b="9849"/>
              <a:stretch/>
            </p:blipFill>
            <p:spPr bwMode="auto">
              <a:xfrm>
                <a:off x="5399776" y="3581200"/>
                <a:ext cx="421134" cy="1163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2" name="Picture 4" descr="Premium Vector | Set of blank road signs on white background">
                <a:extLst>
                  <a:ext uri="{FF2B5EF4-FFF2-40B4-BE49-F238E27FC236}">
                    <a16:creationId xmlns:a16="http://schemas.microsoft.com/office/drawing/2014/main" id="{1500A6E2-FC09-41BA-8C3F-1DA3AD1252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56546" y="4209636"/>
                <a:ext cx="929837" cy="5347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0" name="Shape 190">
              <a:extLst>
                <a:ext uri="{FF2B5EF4-FFF2-40B4-BE49-F238E27FC236}">
                  <a16:creationId xmlns:a16="http://schemas.microsoft.com/office/drawing/2014/main" id="{DEE0364B-DF7D-4903-8255-53BEEEFE86F9}"/>
                </a:ext>
              </a:extLst>
            </p:cNvPr>
            <p:cNvSpPr txBox="1"/>
            <p:nvPr/>
          </p:nvSpPr>
          <p:spPr>
            <a:xfrm>
              <a:off x="3413302" y="3852528"/>
              <a:ext cx="900057" cy="6578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道路</a:t>
              </a:r>
              <a:br>
                <a:rPr lang="en-US" altLang="zh-CN" dirty="0">
                  <a:latin typeface="Arial" charset="0"/>
                  <a:ea typeface="Arial" charset="0"/>
                  <a:cs typeface="Arial" charset="0"/>
                </a:rPr>
              </a:br>
              <a:r>
                <a:rPr lang="zh-CN" altLang="en-US" dirty="0">
                  <a:latin typeface="Arial" charset="0"/>
                  <a:ea typeface="Arial" charset="0"/>
                  <a:cs typeface="Arial" charset="0"/>
                </a:rPr>
                <a:t>设施</a:t>
              </a:r>
              <a:endParaRPr lang="en-US" altLang="zh-CN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CF4471A1-CCF4-4832-B8A1-CF7EFE8A22F8}"/>
              </a:ext>
            </a:extLst>
          </p:cNvPr>
          <p:cNvSpPr txBox="1"/>
          <p:nvPr/>
        </p:nvSpPr>
        <p:spPr>
          <a:xfrm>
            <a:off x="450056" y="782672"/>
            <a:ext cx="8101013" cy="369332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</a:rPr>
              <a:t>研究目标：设计并实现无源光学无线网络并发传输系统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25E87C3-668F-4B1E-9DF9-206755B9BE5D}"/>
              </a:ext>
            </a:extLst>
          </p:cNvPr>
          <p:cNvSpPr txBox="1"/>
          <p:nvPr/>
        </p:nvSpPr>
        <p:spPr>
          <a:xfrm>
            <a:off x="450055" y="1363672"/>
            <a:ext cx="3834483" cy="584775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挑战：如何在无源节点无法主动同步</a:t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zh-CN" altLang="en-US" dirty="0">
                <a:solidFill>
                  <a:schemeClr val="bg1"/>
                </a:solidFill>
              </a:rPr>
              <a:t>的限制下实现并发传输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B9C73CD-8BC4-4CA7-8C26-EB6A36BBC867}"/>
              </a:ext>
            </a:extLst>
          </p:cNvPr>
          <p:cNvSpPr txBox="1"/>
          <p:nvPr/>
        </p:nvSpPr>
        <p:spPr>
          <a:xfrm>
            <a:off x="4693915" y="1363672"/>
            <a:ext cx="3857154" cy="584775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挑战：如何发现并利用光学无线网络</a:t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zh-CN" altLang="en-US" dirty="0">
                <a:solidFill>
                  <a:schemeClr val="bg1"/>
                </a:solidFill>
              </a:rPr>
              <a:t>的信道多样性实现并发传输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A7E1331-F1CE-4D44-B960-8E1D2DB8337D}"/>
              </a:ext>
            </a:extLst>
          </p:cNvPr>
          <p:cNvSpPr txBox="1"/>
          <p:nvPr/>
        </p:nvSpPr>
        <p:spPr>
          <a:xfrm>
            <a:off x="455043" y="2160116"/>
            <a:ext cx="2520000" cy="830997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solidFill>
                  <a:schemeClr val="bg1"/>
                </a:solidFill>
              </a:rPr>
              <a:t>RetroMUMIMO</a:t>
            </a:r>
            <a:r>
              <a:rPr lang="zh-CN" altLang="en-US" dirty="0">
                <a:solidFill>
                  <a:schemeClr val="bg1"/>
                </a:solidFill>
              </a:rPr>
              <a:t>：物联网场景下基于光电二极管接收机的并发传输系统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6A6AA88-A251-4676-8646-5B6AE5EB6053}"/>
              </a:ext>
            </a:extLst>
          </p:cNvPr>
          <p:cNvSpPr txBox="1"/>
          <p:nvPr/>
        </p:nvSpPr>
        <p:spPr>
          <a:xfrm>
            <a:off x="3240563" y="2160116"/>
            <a:ext cx="2520000" cy="830997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NC-VLC</a:t>
            </a:r>
            <a:r>
              <a:rPr lang="zh-CN" altLang="en-US" dirty="0">
                <a:solidFill>
                  <a:schemeClr val="bg1"/>
                </a:solidFill>
              </a:rPr>
              <a:t>：车路协同场景下基于仿生脉冲相机的并发传输系统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88E655F-A697-4A5B-AE46-BD62F79B85BB}"/>
              </a:ext>
            </a:extLst>
          </p:cNvPr>
          <p:cNvSpPr txBox="1"/>
          <p:nvPr/>
        </p:nvSpPr>
        <p:spPr>
          <a:xfrm>
            <a:off x="6026082" y="2160116"/>
            <a:ext cx="2520000" cy="830997"/>
          </a:xfrm>
          <a:prstGeom prst="rect">
            <a:avLst/>
          </a:prstGeom>
          <a:solidFill>
            <a:srgbClr val="8C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solidFill>
                  <a:schemeClr val="bg1"/>
                </a:solidFill>
              </a:rPr>
              <a:t>RetroLiDAR</a:t>
            </a:r>
            <a:r>
              <a:rPr lang="zh-CN" altLang="en-US" dirty="0">
                <a:solidFill>
                  <a:schemeClr val="bg1"/>
                </a:solidFill>
              </a:rPr>
              <a:t>：人机交互场景下基于固态激光雷达的并发传输系统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8978F1E-7BBE-416A-A988-13521CC78D4D}"/>
              </a:ext>
            </a:extLst>
          </p:cNvPr>
          <p:cNvSpPr/>
          <p:nvPr/>
        </p:nvSpPr>
        <p:spPr>
          <a:xfrm>
            <a:off x="450056" y="779125"/>
            <a:ext cx="5310508" cy="396044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694539E-D2F0-4573-A365-9B362324D319}"/>
              </a:ext>
            </a:extLst>
          </p:cNvPr>
          <p:cNvSpPr/>
          <p:nvPr/>
        </p:nvSpPr>
        <p:spPr>
          <a:xfrm>
            <a:off x="5760563" y="779125"/>
            <a:ext cx="2844456" cy="116932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E0F4C2-0D89-4E9D-9453-6E63D8CD9F58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93"/>
          <a:stretch/>
        </p:blipFill>
        <p:spPr>
          <a:xfrm>
            <a:off x="7383289" y="748696"/>
            <a:ext cx="1187548" cy="1350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00ED96C-2256-4269-8092-E8E30006EB23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940"/>
          <a:stretch/>
        </p:blipFill>
        <p:spPr>
          <a:xfrm>
            <a:off x="5481116" y="771494"/>
            <a:ext cx="1187719" cy="135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4F7EE11-CFBB-44B8-851F-0584E69C1C52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06" y="784066"/>
            <a:ext cx="1800000" cy="135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8387BFA-4040-439D-84FD-253CF98329E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191661" y="566964"/>
            <a:ext cx="1350000" cy="1800000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BD4CA76-A774-4E0E-BCB9-96AF9670A214}"/>
              </a:ext>
            </a:extLst>
          </p:cNvPr>
          <p:cNvCxnSpPr/>
          <p:nvPr/>
        </p:nvCxnSpPr>
        <p:spPr>
          <a:xfrm>
            <a:off x="6668835" y="1584052"/>
            <a:ext cx="935185" cy="0"/>
          </a:xfrm>
          <a:prstGeom prst="straightConnector1">
            <a:avLst/>
          </a:prstGeom>
          <a:ln w="28575">
            <a:solidFill>
              <a:srgbClr val="8C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FBBADD3A-18EF-463D-93C7-991089DE2EED}"/>
              </a:ext>
            </a:extLst>
          </p:cNvPr>
          <p:cNvCxnSpPr/>
          <p:nvPr/>
        </p:nvCxnSpPr>
        <p:spPr>
          <a:xfrm>
            <a:off x="6668835" y="1728068"/>
            <a:ext cx="935185" cy="0"/>
          </a:xfrm>
          <a:prstGeom prst="straightConnector1">
            <a:avLst/>
          </a:prstGeom>
          <a:ln w="28575">
            <a:solidFill>
              <a:srgbClr val="8C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内容占位符 2">
            <a:extLst>
              <a:ext uri="{FF2B5EF4-FFF2-40B4-BE49-F238E27FC236}">
                <a16:creationId xmlns:a16="http://schemas.microsoft.com/office/drawing/2014/main" id="{4EBC3720-672C-44DE-A5D3-C766101E7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055" y="2376140"/>
            <a:ext cx="5290742" cy="2160240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挑战：用户使用移动设备读取标签时，用户手持的读写器需要满足移动设备的低功耗小体积要求</a:t>
            </a:r>
            <a:endParaRPr lang="en-US" altLang="zh-CN" sz="1600" dirty="0"/>
          </a:p>
          <a:p>
            <a:r>
              <a:rPr lang="zh-CN" altLang="en-US" sz="1600" dirty="0"/>
              <a:t>基于固态激光雷达这一新型平台（包括光学发射与接收），设计了基于接收到的光强度侧信道提取标签调制信息的方案</a:t>
            </a:r>
            <a:endParaRPr lang="en-US" altLang="zh-CN" sz="1600" dirty="0"/>
          </a:p>
          <a:p>
            <a:r>
              <a:rPr lang="zh-CN" altLang="en-US" sz="1600" dirty="0"/>
              <a:t>初步结果：实现了信号读取平台开发，满足后续物理层和链路层设计要求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53480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E0141-70A6-4B4A-8FFD-861A2B3C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33C8C3-D1CB-4AD3-B268-5163ECE57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研究背景与挑战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研究现状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本文工作及当前进展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/>
              <a:t>研究计划</a:t>
            </a:r>
          </a:p>
        </p:txBody>
      </p:sp>
    </p:spTree>
    <p:extLst>
      <p:ext uri="{BB962C8B-B14F-4D97-AF65-F5344CB8AC3E}">
        <p14:creationId xmlns:p14="http://schemas.microsoft.com/office/powerpoint/2010/main" val="1898986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5109F5-9DA4-4FA8-87E1-7E1788350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论文提纲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EFEE55-1067-46AB-B517-ABCF1DD35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056" y="791964"/>
            <a:ext cx="8101013" cy="371048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第一章（引言）：提出“设计并实现无源光学无线网络并发传输系统”这一研究问题</a:t>
            </a:r>
            <a:endParaRPr lang="en-US" altLang="zh-CN" sz="2000" dirty="0"/>
          </a:p>
          <a:p>
            <a:r>
              <a:rPr lang="zh-CN" altLang="en-US" sz="2000" dirty="0"/>
              <a:t>第二章：物联网场景下基于光电二极管接收机的并发传输系统</a:t>
            </a:r>
            <a:endParaRPr lang="en-US" altLang="zh-CN" sz="2000" dirty="0"/>
          </a:p>
          <a:p>
            <a:r>
              <a:rPr lang="zh-CN" altLang="en-US" sz="2000" dirty="0"/>
              <a:t>第三章：车路协同场景下基于仿生脉冲相机的并发传输系统</a:t>
            </a:r>
          </a:p>
          <a:p>
            <a:r>
              <a:rPr lang="zh-CN" altLang="en-US" sz="2000" dirty="0"/>
              <a:t>第四章：人机交互场景下基于固态激光雷达的并发传输系统</a:t>
            </a:r>
            <a:endParaRPr lang="en-US" altLang="zh-CN" sz="2000" dirty="0"/>
          </a:p>
          <a:p>
            <a:r>
              <a:rPr lang="zh-CN" altLang="en-US" sz="2000" dirty="0"/>
              <a:t>第五章：系统实现与效果评估</a:t>
            </a:r>
            <a:endParaRPr lang="en-US" altLang="zh-CN" sz="2000" dirty="0"/>
          </a:p>
          <a:p>
            <a:r>
              <a:rPr lang="zh-CN" altLang="en-US" sz="2000" dirty="0"/>
              <a:t>第六章：总结与展望</a:t>
            </a:r>
          </a:p>
        </p:txBody>
      </p:sp>
    </p:spTree>
    <p:extLst>
      <p:ext uri="{BB962C8B-B14F-4D97-AF65-F5344CB8AC3E}">
        <p14:creationId xmlns:p14="http://schemas.microsoft.com/office/powerpoint/2010/main" val="956468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05E3BA-5A65-4AFC-988D-E48E3954F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时间进度安排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19F5E6-F0CB-4E5D-A74D-18D038494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2024.7 ~ 2025.1</a:t>
            </a:r>
            <a:r>
              <a:rPr lang="zh-CN" altLang="en-US" dirty="0"/>
              <a:t>：完成</a:t>
            </a:r>
            <a:r>
              <a:rPr lang="en-US" altLang="zh-CN" dirty="0" err="1"/>
              <a:t>RetroLiDAR</a:t>
            </a:r>
            <a:r>
              <a:rPr lang="zh-CN" altLang="en-US" dirty="0"/>
              <a:t>工作，进行投稿</a:t>
            </a:r>
            <a:endParaRPr lang="en-US" altLang="zh-CN" dirty="0"/>
          </a:p>
          <a:p>
            <a:r>
              <a:rPr lang="en-US" altLang="zh-CN" dirty="0"/>
              <a:t>2025.1 ~ 2025.4</a:t>
            </a:r>
            <a:r>
              <a:rPr lang="zh-CN" altLang="en-US" dirty="0"/>
              <a:t>：完成学位论文撰写</a:t>
            </a:r>
            <a:endParaRPr lang="en-US" altLang="zh-CN" dirty="0"/>
          </a:p>
          <a:p>
            <a:r>
              <a:rPr lang="en-US" altLang="zh-CN" dirty="0"/>
              <a:t>2025.4 ~ 2025.6</a:t>
            </a:r>
            <a:r>
              <a:rPr lang="zh-CN" altLang="en-US" dirty="0"/>
              <a:t>：准备毕业答辩</a:t>
            </a:r>
          </a:p>
        </p:txBody>
      </p:sp>
    </p:spTree>
    <p:extLst>
      <p:ext uri="{BB962C8B-B14F-4D97-AF65-F5344CB8AC3E}">
        <p14:creationId xmlns:p14="http://schemas.microsoft.com/office/powerpoint/2010/main" val="1009693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41E34260-07E5-44C8-9CAE-CD8CC4695527}"/>
              </a:ext>
            </a:extLst>
          </p:cNvPr>
          <p:cNvGrpSpPr/>
          <p:nvPr/>
        </p:nvGrpSpPr>
        <p:grpSpPr>
          <a:xfrm>
            <a:off x="0" y="1799760"/>
            <a:ext cx="8994924" cy="1440792"/>
            <a:chOff x="0" y="1872084"/>
            <a:chExt cx="8994924" cy="1440792"/>
          </a:xfrm>
        </p:grpSpPr>
        <p:sp>
          <p:nvSpPr>
            <p:cNvPr id="3" name="矩形 2"/>
            <p:cNvSpPr/>
            <p:nvPr/>
          </p:nvSpPr>
          <p:spPr>
            <a:xfrm>
              <a:off x="0" y="1872084"/>
              <a:ext cx="8994924" cy="144079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858" tIns="44929" rIns="89858" bIns="44929" rtlCol="0" anchor="ctr"/>
            <a:lstStyle/>
            <a:p>
              <a:pPr algn="ctr"/>
              <a:endParaRPr lang="zh-CN" altLang="en-US" dirty="0">
                <a:solidFill>
                  <a:srgbClr val="8C0000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753281" y="2085172"/>
              <a:ext cx="5462333" cy="644733"/>
            </a:xfrm>
            <a:prstGeom prst="rect">
              <a:avLst/>
            </a:prstGeom>
          </p:spPr>
          <p:txBody>
            <a:bodyPr wrap="square" lIns="89858" tIns="44929" rIns="89858" bIns="44929">
              <a:spAutoFit/>
            </a:bodyPr>
            <a:lstStyle/>
            <a:p>
              <a:pPr algn="ctr"/>
              <a:r>
                <a:rPr lang="zh-CN" altLang="en-US" sz="3600" b="1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Lantinghei SC Demibold"/>
                </a:rPr>
                <a:t>感谢评审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FDD74A4-022B-4382-B46B-7EBFDB9E38AF}"/>
                </a:ext>
              </a:extLst>
            </p:cNvPr>
            <p:cNvSpPr/>
            <p:nvPr/>
          </p:nvSpPr>
          <p:spPr>
            <a:xfrm>
              <a:off x="3348434" y="2791357"/>
              <a:ext cx="2232248" cy="367734"/>
            </a:xfrm>
            <a:prstGeom prst="rect">
              <a:avLst/>
            </a:prstGeom>
          </p:spPr>
          <p:txBody>
            <a:bodyPr wrap="square" lIns="89858" tIns="44929" rIns="89858" bIns="44929">
              <a:spAutoFit/>
            </a:bodyPr>
            <a:lstStyle/>
            <a:p>
              <a:pPr algn="dist"/>
              <a:r>
                <a:rPr lang="zh-CN" altLang="en-US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Lantinghei SC Demibold"/>
                </a:rPr>
                <a:t>敬请批评指正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90393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OK6.pptx1231212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1895</Words>
  <Application>Microsoft Office PowerPoint</Application>
  <PresentationFormat>自定义</PresentationFormat>
  <Paragraphs>332</Paragraphs>
  <Slides>26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3" baseType="lpstr">
      <vt:lpstr>Lantinghei SC Demibold</vt:lpstr>
      <vt:lpstr>等线</vt:lpstr>
      <vt:lpstr>黑体</vt:lpstr>
      <vt:lpstr>微软雅黑</vt:lpstr>
      <vt:lpstr>Arial</vt:lpstr>
      <vt:lpstr>Times New Roman</vt:lpstr>
      <vt:lpstr>Office 主题</vt:lpstr>
      <vt:lpstr>无源光学无线网络并发传输技术研究 博士研究生学位论文开题报告</vt:lpstr>
      <vt:lpstr>提纲</vt:lpstr>
      <vt:lpstr>万物互联已经成为经济社会的重要引擎</vt:lpstr>
      <vt:lpstr>物联网产业规模：预期与现实</vt:lpstr>
      <vt:lpstr>如何连接1万亿设备？</vt:lpstr>
      <vt:lpstr>如何连接1万亿设备？</vt:lpstr>
      <vt:lpstr>如何连接1万亿设备？</vt:lpstr>
      <vt:lpstr>如何连接1万亿设备？</vt:lpstr>
      <vt:lpstr>光学无线网络的发展</vt:lpstr>
      <vt:lpstr>光学无线网络的发展</vt:lpstr>
      <vt:lpstr>有源光学无线网络存在的问题</vt:lpstr>
      <vt:lpstr>无源光学无线网络基本原理</vt:lpstr>
      <vt:lpstr>提纲</vt:lpstr>
      <vt:lpstr>无源光学无线通信/网络代表性工作</vt:lpstr>
      <vt:lpstr>有源光学无线网络并发传输研究代表性工作</vt:lpstr>
      <vt:lpstr>无源射频无线网络并发传输研究代表性工作</vt:lpstr>
      <vt:lpstr>提纲</vt:lpstr>
      <vt:lpstr>本文工作</vt:lpstr>
      <vt:lpstr>本文工作</vt:lpstr>
      <vt:lpstr>本文工作</vt:lpstr>
      <vt:lpstr>本文工作</vt:lpstr>
      <vt:lpstr>本文工作</vt:lpstr>
      <vt:lpstr>提纲</vt:lpstr>
      <vt:lpstr>论文提纲</vt:lpstr>
      <vt:lpstr>时间进度安排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http:/www.ypppt.com</cp:keywords>
  <cp:lastModifiedBy/>
  <cp:revision>1</cp:revision>
  <dcterms:modified xsi:type="dcterms:W3CDTF">2024-07-03T08:46:37Z</dcterms:modified>
</cp:coreProperties>
</file>